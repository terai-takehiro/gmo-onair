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2011680"/>
            <a:ext cx="5943600" cy="59436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3108960"/>
            <a:ext cx="4206240" cy="420624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1463040" y="4206240"/>
            <a:ext cx="3840480" cy="384048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371600"/>
            <a:ext cx="233172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GMO GLOBAL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233172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>
                <a:solidFill>
                  <a:srgbClr val="FFFFFF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2044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DECC8"/>
                </a:solidFill>
                <a:latin typeface="Noto Sans JP"/>
                <a:ea typeface="Noto Sans JP"/>
              </a:rPr>
              <a:t>制作のすべてをつなぐ、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FFFFFF"/>
                </a:solidFill>
                <a:latin typeface="Noto Sans JP"/>
                <a:ea typeface="Noto Sans JP"/>
              </a:rPr>
              <a:t>私たちの“会社OS”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68680" y="4892040"/>
            <a:ext cx="489204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社長プレゼン資料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E3EFFA"/>
                </a:solidFill>
                <a:latin typeface="Noto Sans JP"/>
                <a:ea typeface="Noto Sans JP"/>
              </a:rPr>
              <a:t>このアプリでできること ／ 対話（バイブコーディング）での作り方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30936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E3EFFA"/>
                </a:solidFill>
                <a:latin typeface="Noto Sans JP"/>
                <a:ea typeface="Noto Sans JP"/>
              </a:rPr>
              <a:t>v2.9.26  |  6つのブロックアプリを単一プラットフォームに統合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一言でいうと — 制作会社のための“会社OS”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783080"/>
            <a:ext cx="1051560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1993392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バラバラだった </a:t>
            </a:r>
            <a:r>
              <a:rPr sz="2000" b="1">
                <a:solidFill>
                  <a:srgbClr val="005BAC"/>
                </a:solidFill>
                <a:latin typeface="Noto Sans JP"/>
                <a:ea typeface="Noto Sans JP"/>
              </a:rPr>
              <a:t>見積・台本・機材・本番・CG </a:t>
            </a: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を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005BAC"/>
                </a:solidFill>
                <a:latin typeface="Noto Sans JP"/>
                <a:ea typeface="Noto Sans JP"/>
              </a:rPr>
              <a:t>1つの画面・1つの番号でつなぐ</a:t>
            </a:r>
            <a:r>
              <a:rPr sz="2000" b="1">
                <a:solidFill>
                  <a:srgbClr val="1F2A37"/>
                </a:solidFill>
                <a:latin typeface="Noto Sans JP"/>
                <a:ea typeface="Noto Sans JP"/>
              </a:rPr>
              <a:t> 統合プラットフォーム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520440"/>
            <a:ext cx="3310128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975104" y="3840480"/>
            <a:ext cx="1005840" cy="100584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20370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478024" y="4233672"/>
            <a:ext cx="274320" cy="219456"/>
          </a:xfrm>
          <a:prstGeom prst="ellipse">
            <a:avLst/>
          </a:prstGeom>
          <a:noFill/>
          <a:ln w="50800">
            <a:solidFill>
              <a:srgbClr val="005B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ひとつにつながる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GLS番号で全アプリのデータが自動連携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25696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425696" y="3520440"/>
            <a:ext cx="3310128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577840" y="3840480"/>
            <a:ext cx="1005840" cy="100584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5715000" y="4507992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5715000" y="4361688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5715000" y="4215384"/>
            <a:ext cx="731520" cy="201168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4296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6つの専用アプリ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案件・台本・機材・技術・本番・CGを網羅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1" y="3520440"/>
            <a:ext cx="3310128" cy="2560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28431" y="3520440"/>
            <a:ext cx="3310128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180576" y="3840480"/>
            <a:ext cx="1005840" cy="100584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ular Callout 27"/>
          <p:cNvSpPr/>
          <p:nvPr/>
        </p:nvSpPr>
        <p:spPr>
          <a:xfrm>
            <a:off x="9317736" y="4032504"/>
            <a:ext cx="731520" cy="548640"/>
          </a:xfrm>
          <a:prstGeom prst="wedgeRoundRectCallou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500616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646920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793224" y="4270248"/>
            <a:ext cx="73152" cy="7315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50292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対話で内製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5458968"/>
            <a:ext cx="276148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672"/>
                </a:solidFill>
                <a:latin typeface="Noto Sans JP"/>
                <a:ea typeface="Noto Sans JP"/>
              </a:rPr>
              <a:t>外注ゼロ・チャット指示でアプリを進化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課題：ツールが点在して情報が分断していた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Noto Sans JP"/>
                <a:ea typeface="Noto Sans JP"/>
              </a:rPr>
              <a:t>BEFORE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965960"/>
            <a:ext cx="4937760" cy="41148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14300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Excel 見積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331720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紙の台本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機材リスト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0" y="3410711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別々の進行表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手作業のCG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74720" y="4489704"/>
            <a:ext cx="205740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メール連絡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6235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Noto Sans JP"/>
                <a:ea typeface="Noto Sans JP"/>
              </a:rPr>
              <a:t>点在・二重入力・属人化・転記ミス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897880" y="3657600"/>
            <a:ext cx="777240" cy="8229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16002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Noto Sans JP"/>
                <a:ea typeface="Noto Sans JP"/>
              </a:rPr>
              <a:t>AFTER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1965960"/>
            <a:ext cx="4480560" cy="41148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41080" y="3246120"/>
            <a:ext cx="1005840" cy="1005840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GMO
ONAiR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24028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2EA06B"/>
                </a:solidFill>
                <a:latin typeface="Noto Sans JP"/>
                <a:ea typeface="Noto Sans JP"/>
              </a:rPr>
              <a:t>ひとつの画面に統合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F2A37"/>
                </a:solidFill>
                <a:latin typeface="Noto Sans JP"/>
                <a:ea typeface="Noto Sans JP"/>
              </a:rPr>
              <a:t>入力は1回。データは自動でつながる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95159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案件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台本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646920" y="2793491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機材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469880" y="3447287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技術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469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本番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4201668"/>
            <a:ext cx="86868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005BAC"/>
                </a:solidFill>
                <a:latin typeface="Noto Sans JP"/>
                <a:ea typeface="Noto Sans JP"/>
              </a:rPr>
              <a:t>CG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562356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Noto Sans JP"/>
                <a:ea typeface="Noto Sans JP"/>
              </a:rPr>
              <a:t>入力1回 / 自動連携 / リアルタイム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WHAT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全体像 — 6つの専用アプリ＋共通基盤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9933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38528"/>
            <a:ext cx="868680" cy="86868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0264" y="2402860"/>
            <a:ext cx="119969" cy="22494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82720" y="2282891"/>
            <a:ext cx="119969" cy="344911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55176" y="2162921"/>
            <a:ext cx="119969" cy="464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27632" y="2327879"/>
            <a:ext cx="119969" cy="299923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Up Arrow 14"/>
          <p:cNvSpPr/>
          <p:nvPr/>
        </p:nvSpPr>
        <p:spPr>
          <a:xfrm>
            <a:off x="1575145" y="2057948"/>
            <a:ext cx="179953" cy="314919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11680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9967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Arial"/>
                <a:ea typeface="Arial"/>
              </a:rPr>
              <a:t>Project &amp;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提案→受注→制作→請求に加え、タスク進行・予算・スタジオ予約まで一括管理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25696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627632"/>
            <a:ext cx="128016" cy="19933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718304" y="1938528"/>
            <a:ext cx="868680" cy="86868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27701" y="2072944"/>
            <a:ext cx="449884" cy="59984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02682" y="2207910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02682" y="2327879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2682" y="2447848"/>
            <a:ext cx="314919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02682" y="2567818"/>
            <a:ext cx="224942" cy="37490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76439" y="2196663"/>
            <a:ext cx="52486" cy="5248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24144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42431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Arial"/>
                <a:ea typeface="Arial"/>
              </a:rPr>
              <a:t>Rundown / OnAir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36592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進行台本（Qシート）の作成と本番のリアルタイム進行同期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59" y="1627632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59" y="1627632"/>
            <a:ext cx="128016" cy="19933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30767" y="1938528"/>
            <a:ext cx="868680" cy="86868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Gear 9 33"/>
          <p:cNvSpPr/>
          <p:nvPr/>
        </p:nvSpPr>
        <p:spPr>
          <a:xfrm>
            <a:off x="8550188" y="2057948"/>
            <a:ext cx="629838" cy="629838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760134" y="2267894"/>
            <a:ext cx="209946" cy="2099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36607" y="1938528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54895" y="2340864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Arial"/>
                <a:ea typeface="Arial"/>
              </a:rPr>
              <a:t>Equipment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49055" y="2889504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カメラ・ケーブル・コネクタまで機材台帳と貸出を一元管理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3895344"/>
            <a:ext cx="128016" cy="1993392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4206240"/>
            <a:ext cx="868680" cy="86868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1170249" y="4490618"/>
            <a:ext cx="539861" cy="344911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365199" y="4415637"/>
            <a:ext cx="164957" cy="8997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327708" y="4565599"/>
            <a:ext cx="224942" cy="22494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380195" y="4618085"/>
            <a:ext cx="119969" cy="119969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011680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29967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7C5CD6"/>
                </a:solidFill>
                <a:latin typeface="Arial"/>
                <a:ea typeface="Arial"/>
              </a:rPr>
              <a:t>Tech Sheet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カメラ・映像・音声・通信の技術仕様書をデジタル化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425696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3895344"/>
            <a:ext cx="128016" cy="199339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718304" y="4206240"/>
            <a:ext cx="868680" cy="86868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897709" y="4415637"/>
            <a:ext cx="509869" cy="509869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092659" y="4295668"/>
            <a:ext cx="119969" cy="74980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5152644" y="4535606"/>
            <a:ext cx="0" cy="134966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5152644" y="4670572"/>
            <a:ext cx="97475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5122651" y="4640579"/>
            <a:ext cx="59984" cy="59984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4144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42431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Arial"/>
                <a:ea typeface="Arial"/>
              </a:rPr>
              <a:t>Live Ops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36592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本番当日のオペレーション・進行・計時をサポート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138159" y="3895344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138159" y="3895344"/>
            <a:ext cx="128016" cy="1993392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206240"/>
            <a:ext cx="868680" cy="868680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8565184" y="4415637"/>
            <a:ext cx="599846" cy="389900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625169" y="4475622"/>
            <a:ext cx="479877" cy="2699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775131" y="4805537"/>
            <a:ext cx="179953" cy="52486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Lightning Bolt 65"/>
          <p:cNvSpPr/>
          <p:nvPr/>
        </p:nvSpPr>
        <p:spPr>
          <a:xfrm>
            <a:off x="8790127" y="4505614"/>
            <a:ext cx="149961" cy="209946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36607" y="4206240"/>
            <a:ext cx="199339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454895" y="4608576"/>
            <a:ext cx="1993391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D94B4B"/>
                </a:solidFill>
                <a:latin typeface="Arial"/>
                <a:ea typeface="Arial"/>
              </a:rPr>
              <a:t>Realtime CG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49055" y="5157216"/>
            <a:ext cx="290779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放送用CG（テロップ・ランキング・投票）をライブ送出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APP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案件管理（Project &amp; Finance）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3582" y="1951329"/>
            <a:ext cx="87782" cy="16459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99769" y="1863547"/>
            <a:ext cx="87782" cy="25237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5956" y="1775764"/>
            <a:ext cx="87782" cy="3401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52144" y="1896465"/>
            <a:ext cx="87782" cy="21945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Up Arrow 12"/>
          <p:cNvSpPr/>
          <p:nvPr/>
        </p:nvSpPr>
        <p:spPr>
          <a:xfrm>
            <a:off x="1113739" y="1698955"/>
            <a:ext cx="131673" cy="230428"/>
          </a:xfrm>
          <a:prstGeom prst="upArrow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提案→受注→制作→請求に加え、タスク進行・予算・スタジオ予約まで一括管理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売上・仕入・損益・予算をリアルタイム集計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カンバン/タスクリスト/ガントで進行管理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スタジオ予約・GLS自動発番・請求書PDF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見積から請求まで数字が一気通貫。損益が“今”わかる。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pic>
        <p:nvPicPr>
          <p:cNvPr id="36" name="Picture 35" descr="projects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実際の画面（案件管理）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69BA0"/>
                </a:solidFill>
                <a:latin typeface="Noto Sans JP"/>
                <a:ea typeface="Noto Sans JP"/>
              </a:rPr>
              <a:t>APP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Qシート（Rundown / OnAir）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709928"/>
            <a:ext cx="329184" cy="438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794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05256" y="1808683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05256" y="1896465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05256" y="1984248"/>
            <a:ext cx="230428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5256" y="2072030"/>
            <a:ext cx="164592" cy="2743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86053" y="1800453"/>
            <a:ext cx="38404" cy="384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進行台本（Qシート）の作成と本番のリアルタイム進行同期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台本・ランダウンを共同編集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OnAir↔ランダウンを即時同期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プロンプター・音声香盤に対応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本番中の進行変更も全員の画面に即反映。事故を防ぐ。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gmo-onair.jp/qsheet/rundown</a:t>
            </a:r>
          </a:p>
        </p:txBody>
      </p:sp>
      <p:pic>
        <p:nvPicPr>
          <p:cNvPr id="37" name="Picture 36" descr="qshee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実際の画面（Qシート）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9E0B"/>
                </a:solidFill>
                <a:latin typeface="Noto Sans JP"/>
                <a:ea typeface="Noto Sans JP"/>
              </a:rPr>
              <a:t>APP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機材管理（Equipment）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Gear 9 8"/>
          <p:cNvSpPr/>
          <p:nvPr/>
        </p:nvSpPr>
        <p:spPr>
          <a:xfrm>
            <a:off x="784555" y="1698955"/>
            <a:ext cx="460857" cy="46085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38174" y="1852574"/>
            <a:ext cx="153619" cy="15361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カメラ・ケーブル・コネクタまで機材台帳と貸出を一元管理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機材台帳・在庫・メンテ履歴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QRスキャンで貸出/返却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Excel入出力・ラック図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“あの機材どこ？”が消える。貸出も返却もスマホで完結。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gmo-onair.jp/equipment</a:t>
            </a:r>
          </a:p>
        </p:txBody>
      </p:sp>
      <p:pic>
        <p:nvPicPr>
          <p:cNvPr id="33" name="Picture 32" descr="equipmen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実際の画面（機材管理）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7C5CD6"/>
                </a:solidFill>
                <a:latin typeface="Noto Sans JP"/>
                <a:ea typeface="Noto Sans JP"/>
              </a:rPr>
              <a:t>APP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技術資料（Tech Sheet）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17473" y="1819655"/>
            <a:ext cx="395020" cy="252374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0120" y="1764792"/>
            <a:ext cx="120700" cy="65836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2688" y="1874519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71092" y="1912924"/>
            <a:ext cx="87782" cy="87782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カメラ・映像・音声・通信の技術仕様書をデジタル化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7C5CD6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案件ごとの技術シート作成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A4印刷レイアウト対応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機材データと連携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7C5CD6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技術仕様の作成・共有・印刷が紙からデジタルへ。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gmo-onair.jp/techsheet</a:t>
            </a:r>
          </a:p>
        </p:txBody>
      </p:sp>
      <p:pic>
        <p:nvPicPr>
          <p:cNvPr id="35" name="Picture 34" descr="techsheet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実際の画面（技術資料）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2EA06B"/>
                </a:solidFill>
                <a:latin typeface="Noto Sans JP"/>
                <a:ea typeface="Noto Sans JP"/>
              </a:rPr>
              <a:t>APP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ライブ運用（Live Ops）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446" y="1764792"/>
            <a:ext cx="373075" cy="373075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EA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71092" y="1677009"/>
            <a:ext cx="87782" cy="54864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014984" y="1852574"/>
            <a:ext cx="0" cy="98755"/>
          </a:xfrm>
          <a:prstGeom prst="line">
            <a:avLst/>
          </a:prstGeom>
          <a:ln w="330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14984" y="1951329"/>
            <a:ext cx="71323" cy="0"/>
          </a:xfrm>
          <a:prstGeom prst="line">
            <a:avLst/>
          </a:prstGeom>
          <a:ln w="330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993038" y="1929384"/>
            <a:ext cx="43891" cy="43891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本番当日のオペレーション・進行・計時をサポート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番組進行・タイマー表示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視聴者数のリアルタイム計測</a:t>
            </a:r>
          </a:p>
        </p:txBody>
      </p:sp>
      <p:sp>
        <p:nvSpPr>
          <p:cNvPr id="22" name="Oval 21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Zoom/Teams 参加者連携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進行・計時・視聴者数を1画面で。当日オペが軽くなる。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gmo-onair.jp/live</a:t>
            </a:r>
          </a:p>
        </p:txBody>
      </p:sp>
      <p:pic>
        <p:nvPicPr>
          <p:cNvPr id="36" name="Picture 35" descr="live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実際の画面（ライブ運用）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D94B4B"/>
                </a:solidFill>
                <a:latin typeface="Noto Sans JP"/>
                <a:ea typeface="Noto Sans JP"/>
              </a:rPr>
              <a:t>APP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リアルタイムCG（Realtime CG）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  <p:sp>
        <p:nvSpPr>
          <p:cNvPr id="8" name="Oval 7"/>
          <p:cNvSpPr/>
          <p:nvPr/>
        </p:nvSpPr>
        <p:spPr>
          <a:xfrm>
            <a:off x="713232" y="1627632"/>
            <a:ext cx="603504" cy="603504"/>
          </a:xfrm>
          <a:prstGeom prst="ellipse">
            <a:avLst/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5528" y="1764792"/>
            <a:ext cx="438912" cy="285292"/>
          </a:xfrm>
          <a:prstGeom prst="roundRect">
            <a:avLst>
              <a:gd name="adj" fmla="val 8000"/>
            </a:avLst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39419" y="1808683"/>
            <a:ext cx="351129" cy="19751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9147" y="2050084"/>
            <a:ext cx="131673" cy="38404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Lightning Bolt 11"/>
          <p:cNvSpPr/>
          <p:nvPr/>
        </p:nvSpPr>
        <p:spPr>
          <a:xfrm>
            <a:off x="960120" y="1830628"/>
            <a:ext cx="109728" cy="153619"/>
          </a:xfrm>
          <a:prstGeom prst="lightningBol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63040" y="1645920"/>
            <a:ext cx="365760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放送用CG（テロップ・ランキング・投票）をライブ送出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9572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Noto Sans JP"/>
                <a:ea typeface="Noto Sans JP"/>
              </a:rPr>
              <a:t>できること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889504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285292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816352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下位置CG / 表彰CG 演出</a:t>
            </a:r>
          </a:p>
        </p:txBody>
      </p:sp>
      <p:sp>
        <p:nvSpPr>
          <p:cNvPr id="18" name="Oval 17"/>
          <p:cNvSpPr/>
          <p:nvPr/>
        </p:nvSpPr>
        <p:spPr>
          <a:xfrm>
            <a:off x="777240" y="3547872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5112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474720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アンケート・クイズの即時集計</a:t>
            </a:r>
          </a:p>
        </p:txBody>
      </p:sp>
      <p:sp>
        <p:nvSpPr>
          <p:cNvPr id="21" name="Oval 20"/>
          <p:cNvSpPr/>
          <p:nvPr/>
        </p:nvSpPr>
        <p:spPr>
          <a:xfrm>
            <a:off x="777240" y="4206240"/>
            <a:ext cx="274320" cy="274320"/>
          </a:xfrm>
          <a:prstGeom prst="ellips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169663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Noto Sans JP"/>
                <a:ea typeface="Noto Sans JP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33087"/>
            <a:ext cx="3749039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OBS向け透過HTML5出力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4901183"/>
            <a:ext cx="4224528" cy="109728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047488"/>
            <a:ext cx="384048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D94B4B"/>
                </a:solidFill>
                <a:latin typeface="Noto Sans JP"/>
                <a:ea typeface="Noto Sans JP"/>
              </a:rPr>
              <a:t>現場での効果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専門ソフト級のCG演出を、社内オペレーターだけで送出。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1627632"/>
            <a:ext cx="6263640" cy="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212080" y="1792224"/>
            <a:ext cx="6263640" cy="4160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12080" y="1792224"/>
            <a:ext cx="6263640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12080" y="2011679"/>
            <a:ext cx="6263640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340096" y="1897379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504688" y="1897379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669280" y="1897379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925312" y="1856231"/>
            <a:ext cx="5349240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53328" y="1860804"/>
            <a:ext cx="5166359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gmo-onair.jp/awards/output</a:t>
            </a:r>
          </a:p>
        </p:txBody>
      </p:sp>
      <p:pic>
        <p:nvPicPr>
          <p:cNvPr id="35" name="Picture 34" descr="cg.png"/>
          <p:cNvPicPr>
            <a:picLocks noChangeAspect="1"/>
          </p:cNvPicPr>
          <p:nvPr/>
        </p:nvPicPr>
        <p:blipFill>
          <a:blip r:embed="rId2"/>
          <a:srcRect t="832" b="832"/>
          <a:stretch>
            <a:fillRect/>
          </a:stretch>
        </p:blipFill>
        <p:spPr>
          <a:xfrm>
            <a:off x="5212080" y="2103120"/>
            <a:ext cx="6263640" cy="384962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212080" y="6007608"/>
            <a:ext cx="626364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8A939E"/>
                </a:solidFill>
                <a:latin typeface="Noto Sans JP"/>
                <a:ea typeface="Noto Sans JP"/>
              </a:rPr>
              <a:t>▲ 実際の画面（リアルタイムCG）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SCREEN GALLERY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実際の画面 — ひとつのデザインで6アプリ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41248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170432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426464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gmo-onair.jp</a:t>
            </a:r>
          </a:p>
        </p:txBody>
      </p:sp>
      <p:pic>
        <p:nvPicPr>
          <p:cNvPr id="16" name="Picture 15" descr="projects.png"/>
          <p:cNvPicPr>
            <a:picLocks noChangeAspect="1"/>
          </p:cNvPicPr>
          <p:nvPr/>
        </p:nvPicPr>
        <p:blipFill>
          <a:blip r:embed="rId2"/>
          <a:srcRect t="11058" b="11058"/>
          <a:stretch>
            <a:fillRect/>
          </a:stretch>
        </p:blipFill>
        <p:spPr>
          <a:xfrm>
            <a:off x="713232" y="1975104"/>
            <a:ext cx="3456432" cy="1682496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822960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5696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25696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53712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18303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82896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138928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66944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rundown</a:t>
            </a:r>
          </a:p>
        </p:txBody>
      </p:sp>
      <p:pic>
        <p:nvPicPr>
          <p:cNvPr id="26" name="Picture 25" descr="qsheet.png"/>
          <p:cNvPicPr>
            <a:picLocks noChangeAspect="1"/>
          </p:cNvPicPr>
          <p:nvPr/>
        </p:nvPicPr>
        <p:blipFill>
          <a:blip r:embed="rId3"/>
          <a:srcRect t="11058" b="11058"/>
          <a:stretch>
            <a:fillRect/>
          </a:stretch>
        </p:blipFill>
        <p:spPr>
          <a:xfrm>
            <a:off x="4425696" y="1975104"/>
            <a:ext cx="3456432" cy="1682496"/>
          </a:xfrm>
          <a:prstGeom prst="rect">
            <a:avLst/>
          </a:prstGeom>
        </p:spPr>
      </p:pic>
      <p:sp>
        <p:nvSpPr>
          <p:cNvPr id="27" name="Rounded Rectangle 26"/>
          <p:cNvSpPr/>
          <p:nvPr/>
        </p:nvSpPr>
        <p:spPr>
          <a:xfrm>
            <a:off x="4535424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59" y="166420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38159" y="166420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38159" y="188366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266175" y="176936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430767" y="176936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95359" y="176936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851391" y="172821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79407" y="173278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equipment</a:t>
            </a:r>
          </a:p>
        </p:txBody>
      </p:sp>
      <p:pic>
        <p:nvPicPr>
          <p:cNvPr id="36" name="Picture 35" descr="equipment.png"/>
          <p:cNvPicPr>
            <a:picLocks noChangeAspect="1"/>
          </p:cNvPicPr>
          <p:nvPr/>
        </p:nvPicPr>
        <p:blipFill>
          <a:blip r:embed="rId4"/>
          <a:srcRect t="11058" b="11058"/>
          <a:stretch>
            <a:fillRect/>
          </a:stretch>
        </p:blipFill>
        <p:spPr>
          <a:xfrm>
            <a:off x="8138159" y="1975104"/>
            <a:ext cx="3456432" cy="1682496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8247887" y="371246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13232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13232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1248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005840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170432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1426464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54480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techsheet</a:t>
            </a:r>
          </a:p>
        </p:txBody>
      </p:sp>
      <p:pic>
        <p:nvPicPr>
          <p:cNvPr id="46" name="Picture 45" descr="techsheet.png"/>
          <p:cNvPicPr>
            <a:picLocks noChangeAspect="1"/>
          </p:cNvPicPr>
          <p:nvPr/>
        </p:nvPicPr>
        <p:blipFill>
          <a:blip r:embed="rId5"/>
          <a:srcRect t="11058" b="11058"/>
          <a:stretch>
            <a:fillRect/>
          </a:stretch>
        </p:blipFill>
        <p:spPr>
          <a:xfrm>
            <a:off x="713232" y="4352544"/>
            <a:ext cx="3456432" cy="1682496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22960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7C5CD6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25696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4425696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25696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4553712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18303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882896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138928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266944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live</a:t>
            </a:r>
          </a:p>
        </p:txBody>
      </p:sp>
      <p:pic>
        <p:nvPicPr>
          <p:cNvPr id="56" name="Picture 55" descr="live.png"/>
          <p:cNvPicPr>
            <a:picLocks noChangeAspect="1"/>
          </p:cNvPicPr>
          <p:nvPr/>
        </p:nvPicPr>
        <p:blipFill>
          <a:blip r:embed="rId6"/>
          <a:srcRect t="11058" b="11058"/>
          <a:stretch>
            <a:fillRect/>
          </a:stretch>
        </p:blipFill>
        <p:spPr>
          <a:xfrm>
            <a:off x="4425696" y="4352544"/>
            <a:ext cx="3456432" cy="1682496"/>
          </a:xfrm>
          <a:prstGeom prst="rect">
            <a:avLst/>
          </a:prstGeom>
        </p:spPr>
      </p:pic>
      <p:sp>
        <p:nvSpPr>
          <p:cNvPr id="57" name="Rounded Rectangle 56"/>
          <p:cNvSpPr/>
          <p:nvPr/>
        </p:nvSpPr>
        <p:spPr>
          <a:xfrm>
            <a:off x="4535424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38159" y="4041648"/>
            <a:ext cx="3456432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8138159" y="4041648"/>
            <a:ext cx="3456432" cy="310896"/>
          </a:xfrm>
          <a:prstGeom prst="roundRect">
            <a:avLst>
              <a:gd name="adj" fmla="val 8000"/>
            </a:avLst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138159" y="4261104"/>
            <a:ext cx="3456432" cy="109728"/>
          </a:xfrm>
          <a:prstGeom prst="rect">
            <a:avLst/>
          </a:prstGeom>
          <a:solidFill>
            <a:srgbClr val="ECF0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8266175" y="4146804"/>
            <a:ext cx="100584" cy="100584"/>
          </a:xfrm>
          <a:prstGeom prst="ellipse">
            <a:avLst/>
          </a:prstGeom>
          <a:solidFill>
            <a:srgbClr val="F26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430767" y="4146804"/>
            <a:ext cx="100584" cy="100584"/>
          </a:xfrm>
          <a:prstGeom prst="ellipse">
            <a:avLst/>
          </a:prstGeom>
          <a:solidFill>
            <a:srgbClr val="F6C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595359" y="4146804"/>
            <a:ext cx="100584" cy="100584"/>
          </a:xfrm>
          <a:prstGeom prst="ellipse">
            <a:avLst/>
          </a:prstGeom>
          <a:solidFill>
            <a:srgbClr val="66C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851391" y="4105656"/>
            <a:ext cx="2542032" cy="182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7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79407" y="4110228"/>
            <a:ext cx="2359152" cy="1828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5B6672"/>
                </a:solidFill>
                <a:latin typeface="Arial"/>
                <a:ea typeface="Arial"/>
              </a:rPr>
              <a:t>🔒  output</a:t>
            </a:r>
          </a:p>
        </p:txBody>
      </p:sp>
      <p:pic>
        <p:nvPicPr>
          <p:cNvPr id="66" name="Picture 65" descr="cg.png"/>
          <p:cNvPicPr>
            <a:picLocks noChangeAspect="1"/>
          </p:cNvPicPr>
          <p:nvPr/>
        </p:nvPicPr>
        <p:blipFill>
          <a:blip r:embed="rId7"/>
          <a:srcRect t="11058" b="11058"/>
          <a:stretch>
            <a:fillRect/>
          </a:stretch>
        </p:blipFill>
        <p:spPr>
          <a:xfrm>
            <a:off x="8138159" y="4352544"/>
            <a:ext cx="3456432" cy="1682496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8247887" y="6089903"/>
            <a:ext cx="3236976" cy="256032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4B4B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HOW IT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GLS番号 — すべてのデータを束ねる“背番号”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  <p:sp>
        <p:nvSpPr>
          <p:cNvPr id="8" name="Oval 7"/>
          <p:cNvSpPr/>
          <p:nvPr/>
        </p:nvSpPr>
        <p:spPr>
          <a:xfrm>
            <a:off x="5038344" y="2834640"/>
            <a:ext cx="2103120" cy="21031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248656" y="3044952"/>
            <a:ext cx="1682496" cy="1682496"/>
          </a:xfrm>
          <a:prstGeom prst="ellipse">
            <a:avLst/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GLS-A001
案件の背番号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6089904" y="1802282"/>
            <a:ext cx="0" cy="208391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089904" y="2844241"/>
            <a:ext cx="2098518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9904" y="3886200"/>
            <a:ext cx="2098518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89904" y="3886200"/>
            <a:ext cx="0" cy="2083917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>
            <a:off x="3991385" y="3886200"/>
            <a:ext cx="2098519" cy="1041958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3991385" y="2844241"/>
            <a:ext cx="2098519" cy="1041959"/>
          </a:xfrm>
          <a:prstGeom prst="line">
            <a:avLst/>
          </a:prstGeom>
          <a:ln w="279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221224" y="1418234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9742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169BA0"/>
                </a:solidFill>
                <a:latin typeface="Noto Sans JP"/>
                <a:ea typeface="Noto Sans JP"/>
              </a:rPr>
              <a:t>Qシート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9742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59E0B"/>
                </a:solidFill>
                <a:latin typeface="Noto Sans JP"/>
                <a:ea typeface="Noto Sans JP"/>
              </a:rPr>
              <a:t>機材管理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21224" y="5586069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7C5CD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7C5CD6"/>
                </a:solidFill>
                <a:latin typeface="Noto Sans JP"/>
                <a:ea typeface="Noto Sans JP"/>
              </a:rPr>
              <a:t>技術資料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22705" y="4544110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ライブ運用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22705" y="2460193"/>
            <a:ext cx="1737360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D94B4B"/>
                </a:solidFill>
                <a:latin typeface="Noto Sans JP"/>
                <a:ea typeface="Noto Sans JP"/>
              </a:rPr>
              <a:t>リアルタイムCG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59893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1F2A37"/>
                </a:solidFill>
                <a:latin typeface="Noto Sans JP"/>
                <a:ea typeface="Noto Sans JP"/>
              </a:rPr>
              <a:t>受注時に1つの </a:t>
            </a:r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GLS番号</a:t>
            </a:r>
            <a:r>
              <a:rPr sz="1250" b="0">
                <a:solidFill>
                  <a:srgbClr val="1F2A37"/>
                </a:solidFill>
                <a:latin typeface="Noto Sans JP"/>
                <a:ea typeface="Noto Sans JP"/>
              </a:rPr>
              <a:t> を発番すると、見積・Qシート・機材・技術資料・本番・CGがすべて同じ案件として自動的に紐づきます。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案件のライフサイクルを1本の線でカバー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  <p:sp>
        <p:nvSpPr>
          <p:cNvPr id="8" name="Pentagon 7"/>
          <p:cNvSpPr/>
          <p:nvPr/>
        </p:nvSpPr>
        <p:spPr>
          <a:xfrm>
            <a:off x="77724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005BAC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①提案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ヨミ・見積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05BAC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2" name="Pentagon 11"/>
          <p:cNvSpPr/>
          <p:nvPr/>
        </p:nvSpPr>
        <p:spPr>
          <a:xfrm>
            <a:off x="297180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4A9DE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②受注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GLS発番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4A9DE0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16" name="Pentagon 15"/>
          <p:cNvSpPr/>
          <p:nvPr/>
        </p:nvSpPr>
        <p:spPr>
          <a:xfrm>
            <a:off x="516636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169BA0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7608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③制作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608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台本・機材・技術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169BA0"/>
                </a:solidFill>
                <a:latin typeface="Noto Sans JP"/>
                <a:ea typeface="Noto Sans JP"/>
              </a:rPr>
              <a:t>Qシート / 機材 / 技術</a:t>
            </a:r>
          </a:p>
        </p:txBody>
      </p:sp>
      <p:sp>
        <p:nvSpPr>
          <p:cNvPr id="20" name="Pentagon 19"/>
          <p:cNvSpPr/>
          <p:nvPr/>
        </p:nvSpPr>
        <p:spPr>
          <a:xfrm>
            <a:off x="736092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2EA06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7064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④本番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064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進行・CG送出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2EA06B"/>
                </a:solidFill>
                <a:latin typeface="Noto Sans JP"/>
                <a:ea typeface="Noto Sans JP"/>
              </a:rPr>
              <a:t>ライブ / CG</a:t>
            </a:r>
          </a:p>
        </p:txBody>
      </p:sp>
      <p:sp>
        <p:nvSpPr>
          <p:cNvPr id="24" name="Pentagon 23"/>
          <p:cNvSpPr/>
          <p:nvPr/>
        </p:nvSpPr>
        <p:spPr>
          <a:xfrm>
            <a:off x="9555480" y="2286000"/>
            <a:ext cx="2221992" cy="1920240"/>
          </a:xfrm>
          <a:prstGeom prst="homePlate">
            <a:avLst>
              <a:gd name="adj" fmla="val 45000"/>
            </a:avLst>
          </a:prstGeom>
          <a:solidFill>
            <a:srgbClr val="F59E0B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65208" y="2560320"/>
            <a:ext cx="190195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</a:rPr>
              <a:t>⑤請求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65208" y="3127248"/>
            <a:ext cx="1947672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Noto Sans JP"/>
                <a:ea typeface="Noto Sans JP"/>
              </a:rPr>
              <a:t>売上・損益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370831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F59E0B"/>
                </a:solidFill>
                <a:latin typeface="Noto Sans JP"/>
                <a:ea typeface="Noto Sans JP"/>
              </a:rPr>
              <a:t>案件管理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5074920"/>
            <a:ext cx="10771632" cy="4572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120640"/>
            <a:ext cx="10771632" cy="36576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ひとつのGLS番号でデータが流れ続ける — 転記ゼロ・抜け漏れゼロ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技術構成 — モダンで堅牢、運用は軽量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91640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691640"/>
            <a:ext cx="146304" cy="1060704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" y="1856232"/>
            <a:ext cx="731520" cy="73152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1161288" y="2337206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005BA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1161288" y="2234793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161288" y="2132380"/>
            <a:ext cx="512063" cy="140817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57400" y="185623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画面（フロント）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75688" y="22585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005BAC"/>
                </a:solidFill>
                <a:latin typeface="Arial"/>
                <a:ea typeface="Arial"/>
              </a:rPr>
              <a:t>React 19 + Vite + TailwindCSS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92240" y="1892808"/>
            <a:ext cx="0" cy="658367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766560" y="1856232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スマホ対応・高速・統一デザイン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2862072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" y="2862072"/>
            <a:ext cx="146304" cy="1060704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51560" y="3026664"/>
            <a:ext cx="731520" cy="73152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25296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417320" y="3315614"/>
            <a:ext cx="192024" cy="153619"/>
          </a:xfrm>
          <a:prstGeom prst="ellipse">
            <a:avLst/>
          </a:prstGeom>
          <a:noFill/>
          <a:ln w="50800">
            <a:solidFill>
              <a:srgbClr val="169B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57400" y="3026664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サーバー（API）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5688" y="342900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69BA0"/>
                </a:solidFill>
                <a:latin typeface="Arial"/>
                <a:ea typeface="Arial"/>
              </a:rPr>
              <a:t>Express + Socket.IO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92240" y="3063240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766560" y="3026664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リアルタイム同期・共通API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032504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032504"/>
            <a:ext cx="146304" cy="106070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1560" y="4197096"/>
            <a:ext cx="731520" cy="73152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Gear 9 29"/>
          <p:cNvSpPr/>
          <p:nvPr/>
        </p:nvSpPr>
        <p:spPr>
          <a:xfrm>
            <a:off x="1148486" y="4294022"/>
            <a:ext cx="537667" cy="537667"/>
          </a:xfrm>
          <a:prstGeom prst="gear9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7708" y="4473244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57400" y="4197096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データベース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75688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9E0B"/>
                </a:solidFill>
                <a:latin typeface="Arial"/>
                <a:ea typeface="Arial"/>
              </a:rPr>
              <a:t>PostgreSQL（単一DB）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92240" y="4233672"/>
            <a:ext cx="0" cy="658368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66560" y="4197096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本番/検証をDB名で安全に分離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7240" y="5202936"/>
            <a:ext cx="1060704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" y="5202936"/>
            <a:ext cx="146304" cy="1060704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51560" y="5367527"/>
            <a:ext cx="731520" cy="731520"/>
          </a:xfrm>
          <a:prstGeom prst="ellipse">
            <a:avLst/>
          </a:prstGeom>
          <a:solidFill>
            <a:srgbClr val="EAE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entagon 38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Pentagon 39"/>
          <p:cNvSpPr/>
          <p:nvPr/>
        </p:nvSpPr>
        <p:spPr>
          <a:xfrm>
            <a:off x="1199692" y="5477255"/>
            <a:ext cx="435254" cy="512063"/>
          </a:xfrm>
          <a:prstGeom prst="homePlat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327708" y="5630875"/>
            <a:ext cx="179222" cy="17922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57400" y="5367527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インフラ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5688" y="5769864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7C5CD6"/>
                </a:solidFill>
                <a:latin typeface="Arial"/>
                <a:ea typeface="Arial"/>
              </a:rPr>
              <a:t>Docker + Nginx（CoNoHa VPS）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492240" y="5404103"/>
            <a:ext cx="0" cy="658369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766560" y="5367527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5B6672"/>
                </a:solidFill>
                <a:latin typeface="Noto Sans JP"/>
                <a:ea typeface="Noto Sans JP"/>
              </a:rPr>
              <a:t>自動デプロイ・3時間ごと自動バックアップ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CONCLUSION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もし Claude を使わなかったら？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481328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FA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481328"/>
            <a:ext cx="146304" cy="914400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572768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D94B4B"/>
                </a:solidFill>
                <a:latin typeface="Noto Sans JP"/>
                <a:ea typeface="Noto Sans JP"/>
              </a:rPr>
              <a:t>従来型開発なら　</a:t>
            </a: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エンジニア 5〜7名 × 約12か月 ／ 費用 およそ 6,000万〜1億円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505456"/>
            <a:ext cx="10607040" cy="9144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505456"/>
            <a:ext cx="146304" cy="914400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596896"/>
            <a:ext cx="10058400" cy="7772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実際（Claude活用）　</a:t>
            </a:r>
            <a:r>
              <a:rPr sz="1700" b="1">
                <a:solidFill>
                  <a:srgbClr val="1F2A37"/>
                </a:solidFill>
                <a:latin typeface="Noto Sans JP"/>
                <a:ea typeface="Noto Sans JP"/>
              </a:rPr>
              <a:t>ほぼ 1名 の指揮 × 対話 ／ 外注費 ほぼ0円・数週間で土台→以後も毎日進化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724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期間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886200"/>
            <a:ext cx="2606040" cy="1097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約 12 か月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14300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8696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数週間で土台
以後も毎日改善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1188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1188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人数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11880" y="3886200"/>
            <a:ext cx="2606040" cy="1097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4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5〜7 名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97764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2160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1 名（社内）
＋ Claude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44652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費用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46520" y="3886200"/>
            <a:ext cx="260604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6,000万〜1億円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1228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5624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ほぼ 0 円
(AI+VPS 月数万円)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81160" y="3611880"/>
            <a:ext cx="2606040" cy="187451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281160" y="3611880"/>
            <a:ext cx="2606040" cy="38404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JP"/>
                <a:ea typeface="Noto Sans JP"/>
              </a:rPr>
              <a:t>速さ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281160" y="3886200"/>
            <a:ext cx="2606040" cy="1097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18320" y="4087368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D94B4B"/>
                </a:solidFill>
                <a:latin typeface="Noto Sans JP"/>
                <a:ea typeface="Noto Sans JP"/>
              </a:rPr>
              <a:t>従来 </a:t>
            </a: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仕様確定に数週間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646920" y="4544568"/>
            <a:ext cx="187452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390888" y="4617720"/>
            <a:ext cx="2386584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2EA06B"/>
                </a:solidFill>
                <a:latin typeface="Noto Sans JP"/>
                <a:ea typeface="Noto Sans JP"/>
              </a:rPr>
              <a:t>Claude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2EA06B"/>
                </a:solidFill>
                <a:latin typeface="Noto Sans JP"/>
                <a:ea typeface="Noto Sans JP"/>
              </a:rPr>
              <a:t>言ったその日に
動くものが出る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6692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A939E"/>
                </a:solidFill>
                <a:latin typeface="Noto Sans JP"/>
                <a:ea typeface="Noto Sans JP"/>
              </a:rPr>
              <a:t>※ 推計の前提：本体規模 約97,000行・6アプリ＋サーバー・DB世代99・リアルタイム/放送CG/財務/PDF/Excel/BOX連携/2FA/自動デプロイを含む。人月単価100万円・受託相場で試算。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THE PROCESS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開発プロセスの実際 — 積み上げの記録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27632"/>
            <a:ext cx="128016" cy="14813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1901952"/>
            <a:ext cx="566928" cy="566928"/>
          </a:xfrm>
          <a:prstGeom prst="ellips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基盤づくり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PostgreSQL化・Docker/Nginx・VPSデプロイ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25696" y="1627632"/>
            <a:ext cx="128016" cy="1481328"/>
          </a:xfrm>
          <a:prstGeom prst="rect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18304" y="1901952"/>
            <a:ext cx="566928" cy="566928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3アプリ並走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案件管理＋Qシート＋演出を同居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627632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59" y="1627632"/>
            <a:ext cx="128016" cy="148132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30767" y="1901952"/>
            <a:ext cx="566928" cy="566928"/>
          </a:xfrm>
          <a:prstGeom prst="ellips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62288" y="1865376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サブアプリ統合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340864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機材・技術資料・ライブ運用を統合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13232" y="3383280"/>
            <a:ext cx="128016" cy="148132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05840" y="3657600"/>
            <a:ext cx="566928" cy="566928"/>
          </a:xfrm>
          <a:prstGeom prst="ellips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デザイン全面刷新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55648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デジタル庁準拠(DADS)で全アプリ統一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5696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25696" y="3383280"/>
            <a:ext cx="128016" cy="14813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18304" y="3657600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49824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放送CGの作り込み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8112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下位置CG・表彰CG・投票演出を実装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8159" y="3383280"/>
            <a:ext cx="3456432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59" y="3383280"/>
            <a:ext cx="128016" cy="148132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430767" y="3657600"/>
            <a:ext cx="566928" cy="566928"/>
          </a:xfrm>
          <a:prstGeom prst="ellips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Noto Sans JP"/>
                <a:ea typeface="Noto Sans JP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3621024"/>
            <a:ext cx="2267711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F2A37"/>
                </a:solidFill>
                <a:latin typeface="Noto Sans JP"/>
                <a:ea typeface="Noto Sans JP"/>
              </a:rPr>
              <a:t>外部連携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0576" y="4096512"/>
            <a:ext cx="2267711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インタラクティブ⇄CGをリアルタイム連携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40680"/>
            <a:ext cx="10771632" cy="86868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337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回のバージョンアップ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(v0.2 → v2.9.26)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303775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578095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99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世代のDB設計変更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(機能追加の積み重ね)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894320" y="5596128"/>
            <a:ext cx="0" cy="603504"/>
          </a:xfrm>
          <a:prstGeom prst="line">
            <a:avLst/>
          </a:prstGeom>
          <a:ln w="12700">
            <a:solidFill>
              <a:srgbClr val="C2D6E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8168640" y="5532120"/>
            <a:ext cx="3224783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005BAC"/>
                </a:solidFill>
                <a:latin typeface="Arial"/>
                <a:ea typeface="Arial"/>
              </a:rPr>
              <a:t>150+</a:t>
            </a:r>
            <a:r>
              <a:rPr sz="1100" b="1">
                <a:solidFill>
                  <a:srgbClr val="1F2A37"/>
                </a:solidFill>
                <a:latin typeface="Noto Sans JP"/>
                <a:ea typeface="Noto Sans JP"/>
              </a:rPr>
              <a:t>  直近1か月の改善デプロイ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5B6672"/>
                </a:solidFill>
                <a:latin typeface="Noto Sans JP"/>
                <a:ea typeface="Noto Sans JP"/>
              </a:rPr>
              <a:t>(1日 約4〜5回)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DIALOGUE-DRIVEN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対話で作る — チャットがそのまま設計図に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05BAC"/>
                </a:solidFill>
                <a:latin typeface="Noto Sans JP"/>
                <a:ea typeface="Noto Sans JP"/>
              </a:rPr>
              <a:t>実際のやり取り（イメージ）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057400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8640" y="2057400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148840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Noto Sans JP"/>
                <a:ea typeface="Noto Sans JP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表彰式のランキングCGを作りたい。1位を最後にドンと出したい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3044952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3136392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Noto Sans JP"/>
                <a:ea typeface="Noto Sans JP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演出ステップと送出UIを実装しました。検証環境でご確認ください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4032504"/>
            <a:ext cx="4937760" cy="841248"/>
          </a:xfrm>
          <a:prstGeom prst="roundRect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48640" y="4032504"/>
            <a:ext cx="274320" cy="27432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123944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59E0B"/>
                </a:solidFill>
                <a:latin typeface="Noto Sans JP"/>
                <a:ea typeface="Noto Sans JP"/>
              </a:rPr>
              <a:t>社長 / 現場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数字が動いてTAKEで確定する“あの演出”にして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020056"/>
            <a:ext cx="4937760" cy="841248"/>
          </a:xfrm>
          <a:prstGeom prst="roundRect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5111496"/>
            <a:ext cx="457200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05BAC"/>
                </a:solidFill>
                <a:latin typeface="Noto Sans JP"/>
                <a:ea typeface="Noto Sans JP"/>
              </a:rPr>
              <a:t>AI（Claude）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F2A37"/>
                </a:solidFill>
                <a:latin typeface="Noto Sans JP"/>
                <a:ea typeface="Noto Sans JP"/>
              </a:rPr>
              <a:t>カウントアップ→確定アニメに変更。複数正解の同期も対応しました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15544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69BA0"/>
                </a:solidFill>
                <a:latin typeface="Noto Sans JP"/>
                <a:ea typeface="Noto Sans JP"/>
              </a:rPr>
              <a:t>生まれるもの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75120" y="2057400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5120" y="2057400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0" y="2203704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動くアプリ機能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67728" y="2606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言葉で頼んだ演出が実際に放送で使える形に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0" y="3264408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75120" y="3264408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410712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バージョン履歴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7728" y="3813048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v2.8 → v2.9 と小刻みに改善が積み上がる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0" y="4471416"/>
            <a:ext cx="4754880" cy="1078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675120" y="4471416"/>
            <a:ext cx="128016" cy="107899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461772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1F2A37"/>
                </a:solidFill>
                <a:latin typeface="Noto Sans JP"/>
                <a:ea typeface="Noto Sans JP"/>
              </a:rPr>
              <a:t>ドキュメント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5020056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5B6672"/>
                </a:solidFill>
                <a:latin typeface="Noto Sans JP"/>
                <a:ea typeface="Noto Sans JP"/>
              </a:rPr>
              <a:t>やり取りが仕様書・記録として自動で残る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正直、ここは大変だった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591056"/>
            <a:ext cx="128016" cy="1389888"/>
          </a:xfrm>
          <a:prstGeom prst="rect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>
            <a:off x="1024128" y="1865376"/>
            <a:ext cx="457200" cy="411480"/>
          </a:xfrm>
          <a:prstGeom prst="triangle">
            <a:avLst/>
          </a:prstGeom>
          <a:solidFill>
            <a:srgbClr val="D9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放送CGの“なめらかさ”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アニメのカクつきを何度も作り直し。「After Effectsのような滑らかさを」の一言から数十回の調整 → 最終的に GPU で動く方式(FLIP)に到達。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1591056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4496" y="1591056"/>
            <a:ext cx="128016" cy="138988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sosceles Triangle 15"/>
          <p:cNvSpPr/>
          <p:nvPr/>
        </p:nvSpPr>
        <p:spPr>
          <a:xfrm>
            <a:off x="6565392" y="1865376"/>
            <a:ext cx="457200" cy="411480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197510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8896" y="1773936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画面クラッシュとの戦い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87184" y="2157984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React の落とし穴や iPhone Safari のメモリ落ちで真っ赤なエラー画面。原因特定→修正のループで一つずつ潰した。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182112"/>
            <a:ext cx="128016" cy="1389888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Isosceles Triangle 21"/>
          <p:cNvSpPr/>
          <p:nvPr/>
        </p:nvSpPr>
        <p:spPr>
          <a:xfrm>
            <a:off x="1024128" y="3456432"/>
            <a:ext cx="457200" cy="411480"/>
          </a:xfrm>
          <a:prstGeom prst="triangle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8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27632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入力のもたつき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Qシートで1打鍵ごとに数百セルが再描画され“3テンポ遅れ”。描画の最適化で体感ゼロまで改善。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54496" y="3182112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54496" y="3182112"/>
            <a:ext cx="128016" cy="1389888"/>
          </a:xfrm>
          <a:prstGeom prst="rect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Isosceles Triangle 27"/>
          <p:cNvSpPr/>
          <p:nvPr/>
        </p:nvSpPr>
        <p:spPr>
          <a:xfrm>
            <a:off x="6565392" y="3456432"/>
            <a:ext cx="457200" cy="411480"/>
          </a:xfrm>
          <a:prstGeom prst="triangle">
            <a:avLst/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65392" y="3566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3364992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“前に作ったやつで”問題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87184" y="3749039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言葉のニュアンスのズレ。過去バージョンの実装を特定し、当時の演出を完全に復元して解決。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13232" y="4773168"/>
            <a:ext cx="128016" cy="138988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Isosceles Triangle 33"/>
          <p:cNvSpPr/>
          <p:nvPr/>
        </p:nvSpPr>
        <p:spPr>
          <a:xfrm>
            <a:off x="1024128" y="5047488"/>
            <a:ext cx="457200" cy="411480"/>
          </a:xfrm>
          <a:prstGeom prst="triangle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27632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放送事故を絶対に出さない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本番と検証DBを完全分離。「本番に入れて」と明示するまで反映しないルール＋3時間ごと自動バックアップ。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54496" y="4773168"/>
            <a:ext cx="5285232" cy="13898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54496" y="4773168"/>
            <a:ext cx="128016" cy="1389888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Isosceles Triangle 39"/>
          <p:cNvSpPr/>
          <p:nvPr/>
        </p:nvSpPr>
        <p:spPr>
          <a:xfrm>
            <a:off x="6565392" y="5047488"/>
            <a:ext cx="457200" cy="411480"/>
          </a:xfrm>
          <a:prstGeom prst="triangle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65392" y="5157216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Noto Sans JP"/>
                <a:ea typeface="Noto Sans JP"/>
              </a:rPr>
              <a:t>!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68896" y="4956048"/>
            <a:ext cx="4233672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“現場で本当に使えるか”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87184" y="5340096"/>
            <a:ext cx="4187952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B6672"/>
                </a:solidFill>
                <a:latin typeface="Noto Sans JP"/>
                <a:ea typeface="Noto Sans JP"/>
              </a:rPr>
              <a:t>機能が動くだけでは不十分。現場の指摘を即反映する往復で、実運用に耐える形に磨き込んだ。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SAFE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安全な進め方 — 検証してから本番へ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011680"/>
            <a:ext cx="2468880" cy="118872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00200" y="2331720"/>
            <a:ext cx="914400" cy="914400"/>
          </a:xfrm>
          <a:prstGeom prst="ellipse">
            <a:avLst/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ular Callout 10"/>
          <p:cNvSpPr/>
          <p:nvPr/>
        </p:nvSpPr>
        <p:spPr>
          <a:xfrm>
            <a:off x="1728216" y="2509113"/>
            <a:ext cx="658368" cy="493776"/>
          </a:xfrm>
          <a:prstGeom prst="wedgeRoundRectCallou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92807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024481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56155" y="2723083"/>
            <a:ext cx="65836" cy="6583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対話で実装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AIがコードを生成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328416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75888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75888" y="2011680"/>
            <a:ext cx="2468880" cy="118872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453128" y="2331720"/>
            <a:ext cx="914400" cy="914400"/>
          </a:xfrm>
          <a:prstGeom prst="ellipse">
            <a:avLst/>
          </a:prstGeom>
          <a:solidFill>
            <a:srgbClr val="DB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4581144" y="2937052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169BA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4581144" y="2805379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4A9DE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4581144" y="2673705"/>
            <a:ext cx="658368" cy="181051"/>
          </a:xfrm>
          <a:prstGeom prst="parallelogram">
            <a:avLst>
              <a:gd name="adj" fmla="val 30000"/>
            </a:avLst>
          </a:prstGeom>
          <a:solidFill>
            <a:srgbClr val="E3EFF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8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検証環境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0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dev.gmo-onair.jp で自動デプロイ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181344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528816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28816" y="2011680"/>
            <a:ext cx="2468880" cy="11887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306056" y="2331720"/>
            <a:ext cx="914400" cy="914400"/>
          </a:xfrm>
          <a:prstGeom prst="ellipse">
            <a:avLst/>
          </a:prstGeom>
          <a:solidFill>
            <a:srgbClr val="FDE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Pentagon 29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Pentagon 30"/>
          <p:cNvSpPr/>
          <p:nvPr/>
        </p:nvSpPr>
        <p:spPr>
          <a:xfrm>
            <a:off x="7483449" y="2459736"/>
            <a:ext cx="559612" cy="658368"/>
          </a:xfrm>
          <a:prstGeom prst="homePlat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48041" y="2657246"/>
            <a:ext cx="230428" cy="2304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28816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動作確認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93408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現場でテスト・修正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9034272" y="2971800"/>
            <a:ext cx="310896" cy="365760"/>
          </a:xfrm>
          <a:prstGeom prst="rightArrow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381744" y="2011680"/>
            <a:ext cx="24688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381744" y="2011680"/>
            <a:ext cx="2468880" cy="118872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158984" y="2331720"/>
            <a:ext cx="914400" cy="914400"/>
          </a:xfrm>
          <a:prstGeom prst="ellipse">
            <a:avLst/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ardrop 38"/>
          <p:cNvSpPr/>
          <p:nvPr/>
        </p:nvSpPr>
        <p:spPr>
          <a:xfrm rot="8100000">
            <a:off x="10451592" y="2459736"/>
            <a:ext cx="329184" cy="510235"/>
          </a:xfrm>
          <a:prstGeom prst="teardrop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0542117" y="2640787"/>
            <a:ext cx="148132" cy="1481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Triangle 40"/>
          <p:cNvSpPr/>
          <p:nvPr/>
        </p:nvSpPr>
        <p:spPr>
          <a:xfrm>
            <a:off x="10369296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Triangle 41"/>
          <p:cNvSpPr/>
          <p:nvPr/>
        </p:nvSpPr>
        <p:spPr>
          <a:xfrm rot="5400000">
            <a:off x="10731398" y="2838297"/>
            <a:ext cx="131673" cy="148132"/>
          </a:xfrm>
          <a:prstGeom prst="rt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ardrop 42"/>
          <p:cNvSpPr/>
          <p:nvPr/>
        </p:nvSpPr>
        <p:spPr>
          <a:xfrm rot="10800000">
            <a:off x="10558576" y="2969971"/>
            <a:ext cx="115214" cy="181051"/>
          </a:xfrm>
          <a:prstGeom prst="teardrop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81744" y="3383280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>
                <a:solidFill>
                  <a:srgbClr val="1F2A37"/>
                </a:solidFill>
                <a:latin typeface="Noto Sans JP"/>
                <a:ea typeface="Noto Sans JP"/>
              </a:rPr>
              <a:t>本番公開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46336" y="3794760"/>
            <a:ext cx="2139696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80" b="0">
                <a:solidFill>
                  <a:srgbClr val="5B6672"/>
                </a:solidFill>
                <a:latin typeface="Noto Sans JP"/>
                <a:ea typeface="Noto Sans JP"/>
              </a:rPr>
              <a:t>承認後に gmo-onair.jp 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4800600"/>
            <a:ext cx="10561320" cy="1143000"/>
          </a:xfrm>
          <a:prstGeom prst="roundRect">
            <a:avLst>
              <a:gd name="adj" fmla="val 8000"/>
            </a:avLst>
          </a:prstGeom>
          <a:solidFill>
            <a:srgbClr val="DD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49560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2EA06B"/>
                </a:solidFill>
                <a:latin typeface="Noto Sans JP"/>
                <a:ea typeface="Noto Sans JP"/>
              </a:rPr>
              <a:t>ルールで守る本番環境・ガバナンス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532180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● 本番と検証のDBは完全分離   ● 「本番に入れて」の指示があるまで本番反映しない   ● 3時間ごと自動バックアップ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F2A37"/>
                </a:solidFill>
                <a:latin typeface="Noto Sans JP"/>
                <a:ea typeface="Noto Sans JP"/>
              </a:rPr>
              <a:t>● ユーザー権限管理・DBビューア・全データExcelバックアップを標準装備   ● いつでも以前のバージョンに戻せる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DEVELOPMENT CADENCE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改善の密度 — 止まらないアップデート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517904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v0.2 → v2.9.26 まで </a:t>
            </a:r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337 回のバージョンアップ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。直近の1か月だけで </a:t>
            </a:r>
            <a:r>
              <a:rPr sz="1400" b="1">
                <a:solidFill>
                  <a:srgbClr val="F59E0B"/>
                </a:solidFill>
                <a:latin typeface="Noto Sans JP"/>
                <a:ea typeface="Noto Sans JP"/>
              </a:rPr>
              <a:t>150 回以上（1日あたり約4〜5回）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を改善デプロイ。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4206240"/>
            <a:ext cx="10241280" cy="0"/>
          </a:xfrm>
          <a:prstGeom prst="line">
            <a:avLst/>
          </a:prstGeom>
          <a:ln w="381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316736" y="4059935"/>
            <a:ext cx="292608" cy="292608"/>
          </a:xfrm>
          <a:prstGeom prst="ellipse">
            <a:avLst/>
          </a:prstGeom>
          <a:solidFill>
            <a:srgbClr val="005BAC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1463040" y="3200399"/>
            <a:ext cx="0" cy="859536"/>
          </a:xfrm>
          <a:prstGeom prst="line">
            <a:avLst/>
          </a:prstGeom>
          <a:ln w="20320">
            <a:solidFill>
              <a:srgbClr val="005BA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292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005BAC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5BAC"/>
                </a:solidFill>
                <a:latin typeface="Arial"/>
                <a:ea typeface="Arial"/>
              </a:rPr>
              <a:t>v2.0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デザイン刷新</a:t>
            </a:r>
          </a:p>
        </p:txBody>
      </p:sp>
      <p:sp>
        <p:nvSpPr>
          <p:cNvPr id="15" name="Oval 14"/>
          <p:cNvSpPr/>
          <p:nvPr/>
        </p:nvSpPr>
        <p:spPr>
          <a:xfrm>
            <a:off x="3694176" y="4059935"/>
            <a:ext cx="292608" cy="292608"/>
          </a:xfrm>
          <a:prstGeom prst="ellipse">
            <a:avLst/>
          </a:prstGeom>
          <a:solidFill>
            <a:srgbClr val="169BA0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3840480" y="4352544"/>
            <a:ext cx="0" cy="448055"/>
          </a:xfrm>
          <a:prstGeom prst="line">
            <a:avLst/>
          </a:prstGeom>
          <a:ln w="20320">
            <a:solidFill>
              <a:srgbClr val="169BA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8036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69BA0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69BA0"/>
                </a:solidFill>
                <a:latin typeface="Arial"/>
                <a:ea typeface="Arial"/>
              </a:rPr>
              <a:t>v2.5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ブランチ運用整備</a:t>
            </a:r>
          </a:p>
        </p:txBody>
      </p:sp>
      <p:sp>
        <p:nvSpPr>
          <p:cNvPr id="20" name="Oval 19"/>
          <p:cNvSpPr/>
          <p:nvPr/>
        </p:nvSpPr>
        <p:spPr>
          <a:xfrm>
            <a:off x="6071616" y="4059935"/>
            <a:ext cx="292608" cy="292608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6217920" y="3200399"/>
            <a:ext cx="0" cy="859536"/>
          </a:xfrm>
          <a:prstGeom prst="line">
            <a:avLst/>
          </a:prstGeom>
          <a:ln w="2032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25780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F59E0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</a:rPr>
              <a:t>v2.8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リアルタイムCG
演出強化</a:t>
            </a:r>
          </a:p>
        </p:txBody>
      </p:sp>
      <p:sp>
        <p:nvSpPr>
          <p:cNvPr id="25" name="Oval 24"/>
          <p:cNvSpPr/>
          <p:nvPr/>
        </p:nvSpPr>
        <p:spPr>
          <a:xfrm>
            <a:off x="8449056" y="4059935"/>
            <a:ext cx="292608" cy="292608"/>
          </a:xfrm>
          <a:prstGeom prst="ellipse">
            <a:avLst/>
          </a:prstGeom>
          <a:solidFill>
            <a:srgbClr val="2EA06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8595360" y="4352544"/>
            <a:ext cx="0" cy="448055"/>
          </a:xfrm>
          <a:prstGeom prst="line">
            <a:avLst/>
          </a:prstGeom>
          <a:ln w="20320">
            <a:solidFill>
              <a:srgbClr val="2EA0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635240" y="4800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2EA06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0" y="4846319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EA06B"/>
                </a:solidFill>
                <a:latin typeface="Arial"/>
                <a:ea typeface="Arial"/>
              </a:rPr>
              <a:t>v2.9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5184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CG⇄インタラクティブ
連携</a:t>
            </a:r>
          </a:p>
        </p:txBody>
      </p:sp>
      <p:sp>
        <p:nvSpPr>
          <p:cNvPr id="30" name="Oval 29"/>
          <p:cNvSpPr/>
          <p:nvPr/>
        </p:nvSpPr>
        <p:spPr>
          <a:xfrm>
            <a:off x="10826496" y="4059935"/>
            <a:ext cx="292608" cy="292608"/>
          </a:xfrm>
          <a:prstGeom prst="ellipse">
            <a:avLst/>
          </a:prstGeom>
          <a:solidFill>
            <a:srgbClr val="D94B4B"/>
          </a:solidFill>
          <a:ln w="317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10972800" y="3200399"/>
            <a:ext cx="0" cy="859536"/>
          </a:xfrm>
          <a:prstGeom prst="line">
            <a:avLst/>
          </a:prstGeom>
          <a:ln w="20320">
            <a:solidFill>
              <a:srgbClr val="D94B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0012680" y="2514599"/>
            <a:ext cx="192024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D94B4B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560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D94B4B"/>
                </a:solidFill>
                <a:latin typeface="Arial"/>
                <a:ea typeface="Arial"/>
              </a:rPr>
              <a:t>v2.9.26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2898647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5B6672"/>
                </a:solidFill>
                <a:latin typeface="Noto Sans JP"/>
                <a:ea typeface="Noto Sans JP"/>
              </a:rPr>
              <a:t>出題システム
共通化（最新）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8A939E"/>
                </a:solidFill>
                <a:latin typeface="Noto Sans JP"/>
                <a:ea typeface="Noto Sans JP"/>
              </a:rPr>
              <a:t>※ バージョンは v1 → v2.9.26 まで小刻みに前進。大きな作り直しではなく、現場の声で日々アップデート。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数字で見る成果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828800"/>
            <a:ext cx="2606040" cy="128016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005BAC"/>
                </a:solidFill>
                <a:latin typeface="Arial"/>
                <a:ea typeface="Arial"/>
              </a:rPr>
              <a:t>6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ブロックアプリ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23444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012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1プラットフォームに統合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1188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80" y="1828800"/>
            <a:ext cx="2606040" cy="128016"/>
          </a:xfrm>
          <a:prstGeom prst="rect">
            <a:avLst/>
          </a:prstGeom>
          <a:solidFill>
            <a:srgbClr val="169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169BA0"/>
                </a:solidFill>
                <a:latin typeface="Arial"/>
                <a:ea typeface="Arial"/>
              </a:rPr>
              <a:t>1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つの背番号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6908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79476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GLS番号で全データ連携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1828800"/>
            <a:ext cx="2606040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F59E0B"/>
                </a:solidFill>
                <a:latin typeface="Arial"/>
                <a:ea typeface="Arial"/>
              </a:rPr>
              <a:t>0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外注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90372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62940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社内＋AI対話で内製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1828800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281160" y="1828800"/>
            <a:ext cx="2606040" cy="128016"/>
          </a:xfrm>
          <a:prstGeom prst="rect">
            <a:avLst/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2212848"/>
            <a:ext cx="260604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200" b="1">
                <a:solidFill>
                  <a:srgbClr val="2EA06B"/>
                </a:solidFill>
                <a:latin typeface="Arial"/>
                <a:ea typeface="Arial"/>
              </a:rPr>
              <a:t>3h</a:t>
            </a: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  ごと自動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738360" y="3310128"/>
            <a:ext cx="1691640" cy="0"/>
          </a:xfrm>
          <a:prstGeom prst="line">
            <a:avLst/>
          </a:prstGeom>
          <a:ln w="1270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64040" y="3429000"/>
            <a:ext cx="224028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5B6672"/>
                </a:solidFill>
                <a:latin typeface="Noto Sans JP"/>
                <a:ea typeface="Noto Sans JP"/>
              </a:rPr>
              <a:t>DBバックアップで安心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E3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681728"/>
            <a:ext cx="10058400" cy="11430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>
                <a:solidFill>
                  <a:srgbClr val="1F2A37"/>
                </a:solidFill>
                <a:latin typeface="Noto Sans JP"/>
                <a:ea typeface="Noto Sans JP"/>
              </a:rPr>
              <a:t>見積から本番・請求まで、</a:t>
            </a:r>
            <a:r>
              <a:rPr sz="1600" b="1">
                <a:solidFill>
                  <a:srgbClr val="005BAC"/>
                </a:solidFill>
                <a:latin typeface="Noto Sans JP"/>
                <a:ea typeface="Noto Sans JP"/>
              </a:rPr>
              <a:t>バラバラだった制作業務を“1つのOS”に。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F2A37"/>
                </a:solidFill>
                <a:latin typeface="Noto Sans JP"/>
                <a:ea typeface="Noto Sans JP"/>
              </a:rPr>
              <a:t>既に実データで稼働中 — 案件28・売上明細124・機材462・タスク81 を一元管理。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5B6672"/>
                </a:solidFill>
                <a:latin typeface="Noto Sans JP"/>
                <a:ea typeface="Noto Sans JP"/>
              </a:rPr>
              <a:t>しかもその進化は、社長や現場との対話そのものから生まれ続けています。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F6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46304" cy="566928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4572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05BAC"/>
                </a:solidFill>
                <a:latin typeface="Noto Sans JP"/>
                <a:ea typeface="Noto Sans JP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13232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>
                <a:solidFill>
                  <a:srgbClr val="1F2A37"/>
                </a:solidFill>
                <a:latin typeface="Noto Sans JP"/>
                <a:ea typeface="Noto Sans JP"/>
              </a:rPr>
              <a:t>これから — さらに“つながる”へ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371600"/>
            <a:ext cx="11057839" cy="0"/>
          </a:xfrm>
          <a:prstGeom prst="line">
            <a:avLst/>
          </a:prstGeom>
          <a:ln w="15240">
            <a:solidFill>
              <a:srgbClr val="D7DEE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1094415" y="4754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783080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783080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2EA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947672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6アプリ統合・DADSデザイン・自動デプロイ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947672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2EA06B"/>
                </a:solidFill>
                <a:latin typeface="Noto Sans JP"/>
                <a:ea typeface="Noto Sans JP"/>
              </a:rPr>
              <a:t>✓ 完了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35224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935224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3099816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リアルタイムCG ⇄ インタラクティブ連携の高度化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099816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005BAC"/>
                </a:solidFill>
                <a:latin typeface="Noto Sans JP"/>
                <a:ea typeface="Noto Sans JP"/>
              </a:rPr>
              <a:t>● 進行中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087368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087368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NEXT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251960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BOX連携（フォルダ自動生成・PDF自動保存・電子署名）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4251960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F59E0B"/>
                </a:solidFill>
                <a:latin typeface="Noto Sans JP"/>
                <a:ea typeface="Noto Sans JP"/>
              </a:rPr>
              <a:t>→ 次の一手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239512"/>
            <a:ext cx="10607040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6"/>
            </a:solidFill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5239512"/>
            <a:ext cx="1691640" cy="1024128"/>
          </a:xfrm>
          <a:prstGeom prst="roundRect">
            <a:avLst>
              <a:gd name="adj" fmla="val 8000"/>
            </a:avLst>
          </a:prstGeom>
          <a:solidFill>
            <a:srgbClr val="7C5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</a:rPr>
              <a:t>LATER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5404104"/>
            <a:ext cx="6583680" cy="7315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F2A37"/>
                </a:solidFill>
                <a:latin typeface="Noto Sans JP"/>
                <a:ea typeface="Noto Sans JP"/>
              </a:rPr>
              <a:t>認証統一・制作支援アプリ・マルチテナント化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5404104"/>
            <a:ext cx="1828800" cy="69494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7C5CD6"/>
                </a:solidFill>
                <a:latin typeface="Noto Sans JP"/>
                <a:ea typeface="Noto Sans JP"/>
              </a:rPr>
              <a:t>… 構想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Noto Sans JP"/>
                <a:ea typeface="Noto Sans JP"/>
              </a:rPr>
              <a:t>GMO ONAiR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62895" y="64739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8A939E"/>
                </a:solidFill>
                <a:latin typeface="Arial"/>
                <a:ea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4575" cy="7040880"/>
          </a:xfrm>
          <a:prstGeom prst="rect">
            <a:avLst/>
          </a:prstGeom>
          <a:solidFill>
            <a:srgbClr val="005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2286000"/>
            <a:ext cx="6400800" cy="6400800"/>
          </a:xfrm>
          <a:prstGeom prst="ellipse">
            <a:avLst/>
          </a:prstGeom>
          <a:solidFill>
            <a:srgbClr val="003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011680" y="3474720"/>
            <a:ext cx="5029200" cy="5029200"/>
          </a:xfrm>
          <a:prstGeom prst="ellipse">
            <a:avLst/>
          </a:prstGeom>
          <a:solidFill>
            <a:srgbClr val="4A9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Noto Sans JP"/>
                <a:ea typeface="Noto Sans JP"/>
              </a:rPr>
              <a:t>制作の“あたりまえ”を、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DECC8"/>
                </a:solidFill>
                <a:latin typeface="Noto Sans JP"/>
                <a:ea typeface="Noto Sans JP"/>
              </a:rPr>
              <a:t>私たちの手でアップデートする。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68680" y="3611880"/>
            <a:ext cx="5074920" cy="0"/>
          </a:xfrm>
          <a:prstGeom prst="line">
            <a:avLst/>
          </a:prstGeom>
          <a:ln w="25400">
            <a:solidFill>
              <a:srgbClr val="4A9D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41248" y="37947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Noto Sans JP"/>
                <a:ea typeface="Noto Sans JP"/>
              </a:rPr>
              <a:t>GMO ONAiR は、現場との対話から生まれ、対話で育ち続ける“会社OS”です。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3EFFA"/>
                </a:solidFill>
                <a:latin typeface="Noto Sans JP"/>
                <a:ea typeface="Noto Sans JP"/>
              </a:rPr>
              <a:t>外注に頼らず、私たちのペースで、必要な機能を必要なだけ。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521208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90000" dist="38100" dir="5400000" rotWithShape="0">
              <a:srgbClr val="1F2A37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005BAC"/>
                </a:solidFill>
                <a:latin typeface="Noto Sans JP"/>
                <a:ea typeface="Noto Sans JP"/>
              </a:rPr>
              <a:t>ご清聴ありがとうございました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E3EFFA"/>
                </a:solidFill>
                <a:latin typeface="Noto Sans JP"/>
                <a:ea typeface="Noto Sans JP"/>
              </a:rPr>
              <a:t>GMO GLOBAL STUDIO  |  GMO ONAiR  v2.9.26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