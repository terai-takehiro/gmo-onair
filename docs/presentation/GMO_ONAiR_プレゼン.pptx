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2011680"/>
            <a:ext cx="5943600" cy="59436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75520" y="3108960"/>
            <a:ext cx="4206240" cy="4206240"/>
          </a:xfrm>
          <a:prstGeom prst="ellipse">
            <a:avLst/>
          </a:prstGeom>
          <a:solidFill>
            <a:srgbClr val="4A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463040" y="4206240"/>
            <a:ext cx="3840480" cy="384048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371600"/>
            <a:ext cx="23317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005BAC"/>
                </a:solidFill>
                <a:latin typeface="Noto Sans JP"/>
                <a:ea typeface="Noto Sans JP"/>
              </a:rPr>
              <a:t>GMO GLOBAL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33172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>
                <a:solidFill>
                  <a:srgbClr val="FFFFFF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FDECC8"/>
                </a:solidFill>
                <a:latin typeface="Noto Sans JP"/>
                <a:ea typeface="Noto Sans JP"/>
              </a:rPr>
              <a:t>制作のすべてをつなぐ、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FFFFFF"/>
                </a:solidFill>
                <a:latin typeface="Noto Sans JP"/>
                <a:ea typeface="Noto Sans JP"/>
              </a:rPr>
              <a:t>私たちの“会社OS”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68680" y="4892040"/>
            <a:ext cx="4892040" cy="0"/>
          </a:xfrm>
          <a:prstGeom prst="line">
            <a:avLst/>
          </a:prstGeom>
          <a:ln w="25400">
            <a:solidFill>
              <a:srgbClr val="4A9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41248" y="50292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Noto Sans JP"/>
                <a:ea typeface="Noto Sans JP"/>
              </a:rPr>
              <a:t>社長プレゼン資料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E3EFFA"/>
                </a:solidFill>
                <a:latin typeface="Noto Sans JP"/>
                <a:ea typeface="Noto Sans JP"/>
              </a:rPr>
              <a:t>このアプリでできること ／ 対話（バイブコーディング）での作り方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63093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E3EFFA"/>
                </a:solidFill>
                <a:latin typeface="Noto Sans JP"/>
                <a:ea typeface="Noto Sans JP"/>
              </a:rPr>
              <a:t>v2.9.26  |  6つのブロックアプリを単一プラットフォームに統合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一言でいうと — 制作会社のための“会社OS”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783080"/>
            <a:ext cx="10515600" cy="1371600"/>
          </a:xfrm>
          <a:prstGeom prst="roundRect">
            <a:avLst>
              <a:gd name="adj" fmla="val 8000"/>
            </a:avLst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1993392"/>
            <a:ext cx="98755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F2A37"/>
                </a:solidFill>
                <a:latin typeface="Noto Sans JP"/>
                <a:ea typeface="Noto Sans JP"/>
              </a:rPr>
              <a:t>バラバラだった </a:t>
            </a:r>
            <a:r>
              <a:rPr sz="2000" b="1">
                <a:solidFill>
                  <a:srgbClr val="005BAC"/>
                </a:solidFill>
                <a:latin typeface="Noto Sans JP"/>
                <a:ea typeface="Noto Sans JP"/>
              </a:rPr>
              <a:t>見積・台本・機材・本番・CG </a:t>
            </a:r>
            <a:r>
              <a:rPr sz="2000" b="1">
                <a:solidFill>
                  <a:srgbClr val="1F2A37"/>
                </a:solidFill>
                <a:latin typeface="Noto Sans JP"/>
                <a:ea typeface="Noto Sans JP"/>
              </a:rPr>
              <a:t>を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005BAC"/>
                </a:solidFill>
                <a:latin typeface="Noto Sans JP"/>
                <a:ea typeface="Noto Sans JP"/>
              </a:rPr>
              <a:t>1つの画面・1つの番号でつなぐ</a:t>
            </a:r>
            <a:r>
              <a:rPr sz="2000" b="1">
                <a:solidFill>
                  <a:srgbClr val="1F2A37"/>
                </a:solidFill>
                <a:latin typeface="Noto Sans JP"/>
                <a:ea typeface="Noto Sans JP"/>
              </a:rPr>
              <a:t> 統合プラットフォーム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520440"/>
            <a:ext cx="3310128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520440"/>
            <a:ext cx="3310128" cy="1097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75104" y="3840480"/>
            <a:ext cx="1005840" cy="1005840"/>
          </a:xfrm>
          <a:prstGeom prst="ellipse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03704" y="4233672"/>
            <a:ext cx="274320" cy="219456"/>
          </a:xfrm>
          <a:prstGeom prst="ellipse">
            <a:avLst/>
          </a:prstGeom>
          <a:noFill/>
          <a:ln w="50800">
            <a:solidFill>
              <a:srgbClr val="005B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78024" y="4233672"/>
            <a:ext cx="274320" cy="219456"/>
          </a:xfrm>
          <a:prstGeom prst="ellipse">
            <a:avLst/>
          </a:prstGeom>
          <a:noFill/>
          <a:ln w="50800">
            <a:solidFill>
              <a:srgbClr val="005B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0292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F2A37"/>
                </a:solidFill>
                <a:latin typeface="Noto Sans JP"/>
                <a:ea typeface="Noto Sans JP"/>
              </a:rPr>
              <a:t>ひとつにつながる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458968"/>
            <a:ext cx="276148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B6672"/>
                </a:solidFill>
                <a:latin typeface="Noto Sans JP"/>
                <a:ea typeface="Noto Sans JP"/>
              </a:rPr>
              <a:t>GLS番号で全アプリのデータが自動連携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25696" y="3520440"/>
            <a:ext cx="3310128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25696" y="3520440"/>
            <a:ext cx="3310128" cy="109728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577840" y="3840480"/>
            <a:ext cx="1005840" cy="1005840"/>
          </a:xfrm>
          <a:prstGeom prst="ellipse">
            <a:avLst/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Parallelogram 19"/>
          <p:cNvSpPr/>
          <p:nvPr/>
        </p:nvSpPr>
        <p:spPr>
          <a:xfrm>
            <a:off x="5715000" y="4507992"/>
            <a:ext cx="731520" cy="201168"/>
          </a:xfrm>
          <a:prstGeom prst="parallelogram">
            <a:avLst>
              <a:gd name="adj" fmla="val 30000"/>
            </a:avLst>
          </a:prstGeom>
          <a:solidFill>
            <a:srgbClr val="169BA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arallelogram 20"/>
          <p:cNvSpPr/>
          <p:nvPr/>
        </p:nvSpPr>
        <p:spPr>
          <a:xfrm>
            <a:off x="5715000" y="4361688"/>
            <a:ext cx="731520" cy="201168"/>
          </a:xfrm>
          <a:prstGeom prst="parallelogram">
            <a:avLst>
              <a:gd name="adj" fmla="val 30000"/>
            </a:avLst>
          </a:prstGeom>
          <a:solidFill>
            <a:srgbClr val="4A9DE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Parallelogram 21"/>
          <p:cNvSpPr/>
          <p:nvPr/>
        </p:nvSpPr>
        <p:spPr>
          <a:xfrm>
            <a:off x="5715000" y="4215384"/>
            <a:ext cx="731520" cy="201168"/>
          </a:xfrm>
          <a:prstGeom prst="parallelogram">
            <a:avLst>
              <a:gd name="adj" fmla="val 30000"/>
            </a:avLst>
          </a:prstGeom>
          <a:solidFill>
            <a:srgbClr val="E3EF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54296" y="50292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F2A37"/>
                </a:solidFill>
                <a:latin typeface="Noto Sans JP"/>
                <a:ea typeface="Noto Sans JP"/>
              </a:rPr>
              <a:t>6つの専用アプリ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0016" y="5458968"/>
            <a:ext cx="276148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B6672"/>
                </a:solidFill>
                <a:latin typeface="Noto Sans JP"/>
                <a:ea typeface="Noto Sans JP"/>
              </a:rPr>
              <a:t>案件・台本・機材・技術・本番・CGを網羅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28431" y="3520440"/>
            <a:ext cx="3310128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28431" y="3520440"/>
            <a:ext cx="3310128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80576" y="3840480"/>
            <a:ext cx="1005840" cy="1005840"/>
          </a:xfrm>
          <a:prstGeom prst="ellipse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ular Callout 27"/>
          <p:cNvSpPr/>
          <p:nvPr/>
        </p:nvSpPr>
        <p:spPr>
          <a:xfrm>
            <a:off x="9317736" y="4032504"/>
            <a:ext cx="731520" cy="548640"/>
          </a:xfrm>
          <a:prstGeom prst="wedgeRoundRectCallou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500616" y="4270248"/>
            <a:ext cx="73152" cy="7315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46920" y="4270248"/>
            <a:ext cx="73152" cy="7315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793224" y="4270248"/>
            <a:ext cx="73152" cy="7315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7031" y="50292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F2A37"/>
                </a:solidFill>
                <a:latin typeface="Noto Sans JP"/>
                <a:ea typeface="Noto Sans JP"/>
              </a:rPr>
              <a:t>対話で内製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2752" y="5458968"/>
            <a:ext cx="276148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B6672"/>
                </a:solidFill>
                <a:latin typeface="Noto Sans JP"/>
                <a:ea typeface="Noto Sans JP"/>
              </a:rPr>
              <a:t>外注ゼロ・チャット指示でアプリを進化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課題：ツールが点在して情報が分断していた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D94B4B"/>
                </a:solidFill>
                <a:latin typeface="Noto Sans JP"/>
                <a:ea typeface="Noto Sans JP"/>
              </a:rPr>
              <a:t>BEFORE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65960"/>
            <a:ext cx="4937760" cy="4114800"/>
          </a:xfrm>
          <a:prstGeom prst="roundRect">
            <a:avLst>
              <a:gd name="adj" fmla="val 8000"/>
            </a:avLst>
          </a:prstGeom>
          <a:solidFill>
            <a:srgbClr val="FA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43000" y="2331720"/>
            <a:ext cx="205740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Excel 見積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2331720"/>
            <a:ext cx="205740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紙の台本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10711"/>
            <a:ext cx="205740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機材リスト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3410711"/>
            <a:ext cx="205740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別々の進行表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489704"/>
            <a:ext cx="205740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手作業のCG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4489704"/>
            <a:ext cx="205740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メール連絡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6235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D94B4B"/>
                </a:solidFill>
                <a:latin typeface="Noto Sans JP"/>
                <a:ea typeface="Noto Sans JP"/>
              </a:rPr>
              <a:t>点在・二重入力・属人化・転記ミス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897880" y="3657600"/>
            <a:ext cx="777240" cy="822960"/>
          </a:xfrm>
          <a:prstGeom prst="rightArrow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16002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EA06B"/>
                </a:solidFill>
                <a:latin typeface="Noto Sans JP"/>
                <a:ea typeface="Noto Sans JP"/>
              </a:rPr>
              <a:t>AFTER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03720" y="1965960"/>
            <a:ext cx="4480560" cy="4114800"/>
          </a:xfrm>
          <a:prstGeom prst="roundRect">
            <a:avLst>
              <a:gd name="adj" fmla="val 8000"/>
            </a:avLst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41080" y="3246120"/>
            <a:ext cx="1005840" cy="1005840"/>
          </a:xfrm>
          <a:prstGeom prst="ellipse">
            <a:avLst/>
          </a:prstGeom>
          <a:solidFill>
            <a:srgbClr val="005BAC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JP"/>
                <a:ea typeface="Noto Sans JP"/>
              </a:rPr>
              <a:t>GMO
ONAiR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224028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2EA06B"/>
                </a:solidFill>
                <a:latin typeface="Noto Sans JP"/>
                <a:ea typeface="Noto Sans JP"/>
              </a:rPr>
              <a:t>ひとつの画面に統合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37"/>
                </a:solidFill>
                <a:latin typeface="Noto Sans JP"/>
                <a:ea typeface="Noto Sans JP"/>
              </a:rPr>
              <a:t>入力は1回。データは自動でつながる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95159" y="3447287"/>
            <a:ext cx="86868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005BAC"/>
                </a:solidFill>
                <a:latin typeface="Noto Sans JP"/>
                <a:ea typeface="Noto Sans JP"/>
              </a:rPr>
              <a:t>案件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18120" y="2793491"/>
            <a:ext cx="86868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005BAC"/>
                </a:solidFill>
                <a:latin typeface="Noto Sans JP"/>
                <a:ea typeface="Noto Sans JP"/>
              </a:rPr>
              <a:t>台本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46920" y="2793491"/>
            <a:ext cx="86868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005BAC"/>
                </a:solidFill>
                <a:latin typeface="Noto Sans JP"/>
                <a:ea typeface="Noto Sans JP"/>
              </a:rPr>
              <a:t>機材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469880" y="3447287"/>
            <a:ext cx="86868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005BAC"/>
                </a:solidFill>
                <a:latin typeface="Noto Sans JP"/>
                <a:ea typeface="Noto Sans JP"/>
              </a:rPr>
              <a:t>技術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46920" y="4201668"/>
            <a:ext cx="86868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005BAC"/>
                </a:solidFill>
                <a:latin typeface="Noto Sans JP"/>
                <a:ea typeface="Noto Sans JP"/>
              </a:rPr>
              <a:t>本番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18120" y="4201668"/>
            <a:ext cx="86868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005BAC"/>
                </a:solidFill>
                <a:latin typeface="Noto Sans JP"/>
                <a:ea typeface="Noto Sans JP"/>
              </a:rPr>
              <a:t>CG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562356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EA06B"/>
                </a:solidFill>
                <a:latin typeface="Noto Sans JP"/>
                <a:ea typeface="Noto Sans JP"/>
              </a:rPr>
              <a:t>入力1回 / 自動連携 / リアルタイム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全体像 — 6つの専用アプリ＋共通基盤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27632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27632"/>
            <a:ext cx="128016" cy="1993392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1938528"/>
            <a:ext cx="868680" cy="868680"/>
          </a:xfrm>
          <a:prstGeom prst="ellipse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10264" y="2402860"/>
            <a:ext cx="119969" cy="224942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82720" y="2282891"/>
            <a:ext cx="119969" cy="344911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55176" y="2162921"/>
            <a:ext cx="119969" cy="464880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27632" y="2327879"/>
            <a:ext cx="119969" cy="299923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Up Arrow 14"/>
          <p:cNvSpPr/>
          <p:nvPr/>
        </p:nvSpPr>
        <p:spPr>
          <a:xfrm>
            <a:off x="1575145" y="2057948"/>
            <a:ext cx="179953" cy="314919"/>
          </a:xfrm>
          <a:prstGeom prst="up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1938528"/>
            <a:ext cx="199339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Noto Sans JP"/>
                <a:ea typeface="Noto Sans JP"/>
              </a:rPr>
              <a:t>案件管理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29967" y="2340864"/>
            <a:ext cx="199339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05BAC"/>
                </a:solidFill>
                <a:latin typeface="Arial"/>
                <a:ea typeface="Arial"/>
              </a:rPr>
              <a:t>Project &amp; Finance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2889504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提案→受注→制作→請求に加え、タスク進行・予算・スタジオ予約まで一括管理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25696" y="1627632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1627632"/>
            <a:ext cx="128016" cy="199339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718304" y="1938528"/>
            <a:ext cx="868680" cy="868680"/>
          </a:xfrm>
          <a:prstGeom prst="ellipse">
            <a:avLst/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927701" y="2072944"/>
            <a:ext cx="449884" cy="59984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7940">
            <a:solidFill>
              <a:srgbClr val="169B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02682" y="2207910"/>
            <a:ext cx="314919" cy="37490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02682" y="2327879"/>
            <a:ext cx="224942" cy="37490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02682" y="2447848"/>
            <a:ext cx="314919" cy="37490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02682" y="2567818"/>
            <a:ext cx="224942" cy="37490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976439" y="2196663"/>
            <a:ext cx="52486" cy="5248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24144" y="1938528"/>
            <a:ext cx="199339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Noto Sans JP"/>
                <a:ea typeface="Noto Sans JP"/>
              </a:rPr>
              <a:t>Qシート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42431" y="2340864"/>
            <a:ext cx="199339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69BA0"/>
                </a:solidFill>
                <a:latin typeface="Arial"/>
                <a:ea typeface="Arial"/>
              </a:rPr>
              <a:t>Rundown / OnAir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36592" y="2889504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進行台本（Qシート）の作成と本番のリアルタイム進行同期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59" y="1627632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38159" y="1627632"/>
            <a:ext cx="128016" cy="19933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30767" y="1938528"/>
            <a:ext cx="868680" cy="868680"/>
          </a:xfrm>
          <a:prstGeom prst="ellipse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ear 9 33"/>
          <p:cNvSpPr/>
          <p:nvPr/>
        </p:nvSpPr>
        <p:spPr>
          <a:xfrm>
            <a:off x="8550188" y="2057948"/>
            <a:ext cx="629838" cy="629838"/>
          </a:xfrm>
          <a:prstGeom prst="gear9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760134" y="2267894"/>
            <a:ext cx="209946" cy="20994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36607" y="1938528"/>
            <a:ext cx="199339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Noto Sans JP"/>
                <a:ea typeface="Noto Sans JP"/>
              </a:rPr>
              <a:t>機材管理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54895" y="2340864"/>
            <a:ext cx="199339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F59E0B"/>
                </a:solidFill>
                <a:latin typeface="Arial"/>
                <a:ea typeface="Arial"/>
              </a:rPr>
              <a:t>Equipment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49055" y="2889504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カメラ・ケーブル・コネクタまで機材台帳と貸出を一元管理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" y="3895344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13232" y="3895344"/>
            <a:ext cx="128016" cy="1993392"/>
          </a:xfrm>
          <a:prstGeom prst="rect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4206240"/>
            <a:ext cx="868680" cy="868680"/>
          </a:xfrm>
          <a:prstGeom prst="ellipse">
            <a:avLst/>
          </a:prstGeom>
          <a:solidFill>
            <a:srgbClr val="EA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170249" y="4490618"/>
            <a:ext cx="539861" cy="344911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365199" y="4415637"/>
            <a:ext cx="164957" cy="89976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327708" y="4565599"/>
            <a:ext cx="224942" cy="2249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380195" y="4618085"/>
            <a:ext cx="119969" cy="119969"/>
          </a:xfrm>
          <a:prstGeom prst="ellips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11680" y="4206240"/>
            <a:ext cx="199339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Noto Sans JP"/>
                <a:ea typeface="Noto Sans JP"/>
              </a:rPr>
              <a:t>技術資料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29967" y="4608576"/>
            <a:ext cx="199339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7C5CD6"/>
                </a:solidFill>
                <a:latin typeface="Arial"/>
                <a:ea typeface="Arial"/>
              </a:rPr>
              <a:t>Tech Sheet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4128" y="5157216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カメラ・映像・音声・通信の技術仕様書をデジタル化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425696" y="3895344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25696" y="3895344"/>
            <a:ext cx="128016" cy="1993392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718304" y="4206240"/>
            <a:ext cx="868680" cy="868680"/>
          </a:xfrm>
          <a:prstGeom prst="ellipse">
            <a:avLst/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897709" y="4415637"/>
            <a:ext cx="509869" cy="509869"/>
          </a:xfrm>
          <a:prstGeom prst="ellipse">
            <a:avLst/>
          </a:prstGeom>
          <a:solidFill>
            <a:srgbClr val="FFFFFF"/>
          </a:solidFill>
          <a:ln w="38100">
            <a:solidFill>
              <a:srgbClr val="2EA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092659" y="4295668"/>
            <a:ext cx="119969" cy="74980"/>
          </a:xfrm>
          <a:prstGeom prst="roundRect">
            <a:avLst>
              <a:gd name="adj" fmla="val 8000"/>
            </a:avLst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152644" y="4535606"/>
            <a:ext cx="0" cy="134966"/>
          </a:xfrm>
          <a:prstGeom prst="line">
            <a:avLst/>
          </a:prstGeom>
          <a:ln w="33020">
            <a:solidFill>
              <a:srgbClr val="2EA0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5152644" y="4670572"/>
            <a:ext cx="97475" cy="0"/>
          </a:xfrm>
          <a:prstGeom prst="line">
            <a:avLst/>
          </a:prstGeom>
          <a:ln w="33020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5122651" y="4640579"/>
            <a:ext cx="59984" cy="59984"/>
          </a:xfrm>
          <a:prstGeom prst="ellipse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4144" y="4206240"/>
            <a:ext cx="199339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Noto Sans JP"/>
                <a:ea typeface="Noto Sans JP"/>
              </a:rPr>
              <a:t>ライブ運用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42431" y="4608576"/>
            <a:ext cx="199339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EA06B"/>
                </a:solidFill>
                <a:latin typeface="Arial"/>
                <a:ea typeface="Arial"/>
              </a:rPr>
              <a:t>Live Ops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36592" y="5157216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本番当日のオペレーション・進行・計時をサポート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138159" y="3895344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138159" y="3895344"/>
            <a:ext cx="128016" cy="1993392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430767" y="4206240"/>
            <a:ext cx="868680" cy="868680"/>
          </a:xfrm>
          <a:prstGeom prst="ellipse">
            <a:avLst/>
          </a:prstGeom>
          <a:solidFill>
            <a:srgbClr val="FA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8565184" y="4415637"/>
            <a:ext cx="599846" cy="389900"/>
          </a:xfrm>
          <a:prstGeom prst="roundRect">
            <a:avLst>
              <a:gd name="adj" fmla="val 8000"/>
            </a:avLst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625169" y="4475622"/>
            <a:ext cx="479877" cy="26993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775131" y="4805537"/>
            <a:ext cx="179953" cy="52486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Lightning Bolt 65"/>
          <p:cNvSpPr/>
          <p:nvPr/>
        </p:nvSpPr>
        <p:spPr>
          <a:xfrm>
            <a:off x="8790127" y="4505614"/>
            <a:ext cx="149961" cy="209946"/>
          </a:xfrm>
          <a:prstGeom prst="lightningBol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436607" y="4206240"/>
            <a:ext cx="199339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Noto Sans JP"/>
                <a:ea typeface="Noto Sans JP"/>
              </a:rPr>
              <a:t>リアルタイムCG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54895" y="4608576"/>
            <a:ext cx="199339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D94B4B"/>
                </a:solidFill>
                <a:latin typeface="Arial"/>
                <a:ea typeface="Arial"/>
              </a:rPr>
              <a:t>Realtime CG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49055" y="5157216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放送用CG（テロップ・ランキング・投票）をライブ送出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APP 1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案件管理（Project &amp; Finance）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05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1627632"/>
            <a:ext cx="603504" cy="603504"/>
          </a:xfrm>
          <a:prstGeom prst="ellipse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3582" y="1951329"/>
            <a:ext cx="87782" cy="164592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99769" y="1863547"/>
            <a:ext cx="87782" cy="252374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25956" y="1775764"/>
            <a:ext cx="87782" cy="340156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52144" y="1896465"/>
            <a:ext cx="87782" cy="219456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Up Arrow 12"/>
          <p:cNvSpPr/>
          <p:nvPr/>
        </p:nvSpPr>
        <p:spPr>
          <a:xfrm>
            <a:off x="1113739" y="1698955"/>
            <a:ext cx="131673" cy="230428"/>
          </a:xfrm>
          <a:prstGeom prst="up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164592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提案→受注→制作→請求に加え、タスク進行・予算・スタジオ予約まで一括管理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05BAC"/>
                </a:solidFill>
                <a:latin typeface="Noto Sans JP"/>
                <a:ea typeface="Noto Sans JP"/>
              </a:rPr>
              <a:t>できること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2889504"/>
            <a:ext cx="274320" cy="274320"/>
          </a:xfrm>
          <a:prstGeom prst="ellipse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28529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816352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売上・仕入・損益・予算をリアルタイム集計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3547872"/>
            <a:ext cx="274320" cy="274320"/>
          </a:xfrm>
          <a:prstGeom prst="ellipse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5112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カンバン/タスクリスト/ガントで進行管理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" y="4206240"/>
            <a:ext cx="274320" cy="274320"/>
          </a:xfrm>
          <a:prstGeom prst="ellipse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169663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133087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スタジオ予約・GLS自動発番・請求書PDF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901183"/>
            <a:ext cx="4224528" cy="1097280"/>
          </a:xfrm>
          <a:prstGeom prst="roundRect">
            <a:avLst>
              <a:gd name="adj" fmla="val 8000"/>
            </a:avLst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047488"/>
            <a:ext cx="38404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05BAC"/>
                </a:solidFill>
                <a:latin typeface="Noto Sans JP"/>
                <a:ea typeface="Noto Sans JP"/>
              </a:rPr>
              <a:t>現場での効果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2A37"/>
                </a:solidFill>
                <a:latin typeface="Noto Sans JP"/>
                <a:ea typeface="Noto Sans JP"/>
              </a:rPr>
              <a:t>見積から請求まで数字が一気通貫。損益が“今”わかる。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1627632"/>
            <a:ext cx="6263640" cy="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5212080" y="1792224"/>
            <a:ext cx="626364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212080" y="1792224"/>
            <a:ext cx="6263640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12080" y="2011679"/>
            <a:ext cx="6263640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340096" y="1897379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504688" y="1897379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669280" y="1897379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925312" y="1856231"/>
            <a:ext cx="534924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53328" y="1860804"/>
            <a:ext cx="5166359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</a:t>
            </a:r>
          </a:p>
        </p:txBody>
      </p:sp>
      <p:pic>
        <p:nvPicPr>
          <p:cNvPr id="36" name="Picture 35" descr="projects.png"/>
          <p:cNvPicPr>
            <a:picLocks noChangeAspect="1"/>
          </p:cNvPicPr>
          <p:nvPr/>
        </p:nvPicPr>
        <p:blipFill>
          <a:blip r:embed="rId2"/>
          <a:srcRect t="832" b="832"/>
          <a:stretch>
            <a:fillRect/>
          </a:stretch>
        </p:blipFill>
        <p:spPr>
          <a:xfrm>
            <a:off x="5212080" y="2103120"/>
            <a:ext cx="6263640" cy="384962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212080" y="600760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A939E"/>
                </a:solidFill>
                <a:latin typeface="Noto Sans JP"/>
                <a:ea typeface="Noto Sans JP"/>
              </a:rPr>
              <a:t>▲ 実際の画面（案件管理）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9BA0"/>
                </a:solidFill>
                <a:latin typeface="Noto Sans JP"/>
                <a:ea typeface="Noto Sans JP"/>
              </a:rPr>
              <a:t>APP 2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Qシート（Rundown / OnAir）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06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1627632"/>
            <a:ext cx="603504" cy="603504"/>
          </a:xfrm>
          <a:prstGeom prst="ellipse">
            <a:avLst/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709928"/>
            <a:ext cx="329184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7940">
            <a:solidFill>
              <a:srgbClr val="169B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5256" y="1808683"/>
            <a:ext cx="230428" cy="2743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05256" y="1896465"/>
            <a:ext cx="164592" cy="2743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5256" y="1984248"/>
            <a:ext cx="230428" cy="2743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5256" y="2072030"/>
            <a:ext cx="164592" cy="2743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86053" y="1800453"/>
            <a:ext cx="38404" cy="384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164592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進行台本（Qシート）の作成と本番のリアルタイム進行同期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3957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69BA0"/>
                </a:solidFill>
                <a:latin typeface="Noto Sans JP"/>
                <a:ea typeface="Noto Sans JP"/>
              </a:rPr>
              <a:t>できること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2889504"/>
            <a:ext cx="274320" cy="274320"/>
          </a:xfrm>
          <a:prstGeom prst="ellipse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28529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2816352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台本・ランダウンを共同編集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3547872"/>
            <a:ext cx="274320" cy="274320"/>
          </a:xfrm>
          <a:prstGeom prst="ellipse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35112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474720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OnAir↔ランダウンを即時同期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4206240"/>
            <a:ext cx="274320" cy="274320"/>
          </a:xfrm>
          <a:prstGeom prst="ellipse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4169663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133087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プロンプター・音声香盤に対応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901183"/>
            <a:ext cx="4224528" cy="1097280"/>
          </a:xfrm>
          <a:prstGeom prst="roundRect">
            <a:avLst>
              <a:gd name="adj" fmla="val 8000"/>
            </a:avLst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047488"/>
            <a:ext cx="38404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69BA0"/>
                </a:solidFill>
                <a:latin typeface="Noto Sans JP"/>
                <a:ea typeface="Noto Sans JP"/>
              </a:rPr>
              <a:t>現場での効果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2A37"/>
                </a:solidFill>
                <a:latin typeface="Noto Sans JP"/>
                <a:ea typeface="Noto Sans JP"/>
              </a:rPr>
              <a:t>本番中の進行変更も全員の画面に即反映。事故を防ぐ。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1627632"/>
            <a:ext cx="6263640" cy="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5212080" y="1792224"/>
            <a:ext cx="626364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212080" y="1792224"/>
            <a:ext cx="6263640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12080" y="2011679"/>
            <a:ext cx="6263640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340096" y="1897379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504688" y="1897379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669280" y="1897379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925312" y="1856231"/>
            <a:ext cx="534924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53328" y="1860804"/>
            <a:ext cx="5166359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gmo-onair.jp/qsheet/rundown</a:t>
            </a:r>
          </a:p>
        </p:txBody>
      </p:sp>
      <p:pic>
        <p:nvPicPr>
          <p:cNvPr id="37" name="Picture 36" descr="qsheet.png"/>
          <p:cNvPicPr>
            <a:picLocks noChangeAspect="1"/>
          </p:cNvPicPr>
          <p:nvPr/>
        </p:nvPicPr>
        <p:blipFill>
          <a:blip r:embed="rId2"/>
          <a:srcRect t="832" b="832"/>
          <a:stretch>
            <a:fillRect/>
          </a:stretch>
        </p:blipFill>
        <p:spPr>
          <a:xfrm>
            <a:off x="5212080" y="2103120"/>
            <a:ext cx="6263640" cy="384962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212080" y="600760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A939E"/>
                </a:solidFill>
                <a:latin typeface="Noto Sans JP"/>
                <a:ea typeface="Noto Sans JP"/>
              </a:rPr>
              <a:t>▲ 実際の画面（Qシート）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9E0B"/>
                </a:solidFill>
                <a:latin typeface="Noto Sans JP"/>
                <a:ea typeface="Noto Sans JP"/>
              </a:rPr>
              <a:t>APP 3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機材管理（Equipment）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07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1627632"/>
            <a:ext cx="603504" cy="603504"/>
          </a:xfrm>
          <a:prstGeom prst="ellipse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ear 9 8"/>
          <p:cNvSpPr/>
          <p:nvPr/>
        </p:nvSpPr>
        <p:spPr>
          <a:xfrm>
            <a:off x="784555" y="1698955"/>
            <a:ext cx="460857" cy="460857"/>
          </a:xfrm>
          <a:prstGeom prst="gear9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8174" y="1852574"/>
            <a:ext cx="153619" cy="15361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164592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カメラ・ケーブル・コネクタまで機材台帳と貸出を一元管理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957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59E0B"/>
                </a:solidFill>
                <a:latin typeface="Noto Sans JP"/>
                <a:ea typeface="Noto Sans JP"/>
              </a:rPr>
              <a:t>できること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2889504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8529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816352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機材台帳・在庫・メンテ履歴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547872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5112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474720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QRスキャンで貸出/返却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206240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169663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133087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Excel入出力・ラック図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901183"/>
            <a:ext cx="4224528" cy="1097280"/>
          </a:xfrm>
          <a:prstGeom prst="roundRect">
            <a:avLst>
              <a:gd name="adj" fmla="val 8000"/>
            </a:avLst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047488"/>
            <a:ext cx="38404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F59E0B"/>
                </a:solidFill>
                <a:latin typeface="Noto Sans JP"/>
                <a:ea typeface="Noto Sans JP"/>
              </a:rPr>
              <a:t>現場での効果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2A37"/>
                </a:solidFill>
                <a:latin typeface="Noto Sans JP"/>
                <a:ea typeface="Noto Sans JP"/>
              </a:rPr>
              <a:t>“あの機材どこ？”が消える。貸出も返却もスマホで完結。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1627632"/>
            <a:ext cx="6263640" cy="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5212080" y="1792224"/>
            <a:ext cx="626364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212080" y="1792224"/>
            <a:ext cx="6263640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12080" y="2011679"/>
            <a:ext cx="6263640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40096" y="1897379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504688" y="1897379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669280" y="1897379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925312" y="1856231"/>
            <a:ext cx="534924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53328" y="1860804"/>
            <a:ext cx="5166359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gmo-onair.jp/equipment</a:t>
            </a:r>
          </a:p>
        </p:txBody>
      </p:sp>
      <p:pic>
        <p:nvPicPr>
          <p:cNvPr id="33" name="Picture 32" descr="equipment.png"/>
          <p:cNvPicPr>
            <a:picLocks noChangeAspect="1"/>
          </p:cNvPicPr>
          <p:nvPr/>
        </p:nvPicPr>
        <p:blipFill>
          <a:blip r:embed="rId2"/>
          <a:srcRect t="832" b="832"/>
          <a:stretch>
            <a:fillRect/>
          </a:stretch>
        </p:blipFill>
        <p:spPr>
          <a:xfrm>
            <a:off x="5212080" y="2103120"/>
            <a:ext cx="6263640" cy="384962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212080" y="600760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A939E"/>
                </a:solidFill>
                <a:latin typeface="Noto Sans JP"/>
                <a:ea typeface="Noto Sans JP"/>
              </a:rPr>
              <a:t>▲ 実際の画面（機材管理）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7C5CD6"/>
                </a:solidFill>
                <a:latin typeface="Noto Sans JP"/>
                <a:ea typeface="Noto Sans JP"/>
              </a:rPr>
              <a:t>APP 4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技術資料（Tech Sheet）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08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1627632"/>
            <a:ext cx="603504" cy="603504"/>
          </a:xfrm>
          <a:prstGeom prst="ellipse">
            <a:avLst/>
          </a:prstGeom>
          <a:solidFill>
            <a:srgbClr val="EA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7473" y="1819655"/>
            <a:ext cx="395020" cy="252374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0120" y="1764792"/>
            <a:ext cx="120700" cy="65836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2688" y="1874519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71092" y="1912924"/>
            <a:ext cx="87782" cy="87782"/>
          </a:xfrm>
          <a:prstGeom prst="ellips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164592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カメラ・映像・音声・通信の技術仕様書をデジタル化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957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7C5CD6"/>
                </a:solidFill>
                <a:latin typeface="Noto Sans JP"/>
                <a:ea typeface="Noto Sans JP"/>
              </a:rPr>
              <a:t>できること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2889504"/>
            <a:ext cx="274320" cy="274320"/>
          </a:xfrm>
          <a:prstGeom prst="ellips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28529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816352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案件ごとの技術シート作成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3547872"/>
            <a:ext cx="274320" cy="274320"/>
          </a:xfrm>
          <a:prstGeom prst="ellips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112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474720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A4印刷レイアウト対応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4206240"/>
            <a:ext cx="274320" cy="274320"/>
          </a:xfrm>
          <a:prstGeom prst="ellips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169663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133087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機材データと連携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901183"/>
            <a:ext cx="4224528" cy="1097280"/>
          </a:xfrm>
          <a:prstGeom prst="roundRect">
            <a:avLst>
              <a:gd name="adj" fmla="val 8000"/>
            </a:avLst>
          </a:prstGeom>
          <a:solidFill>
            <a:srgbClr val="EA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047488"/>
            <a:ext cx="38404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7C5CD6"/>
                </a:solidFill>
                <a:latin typeface="Noto Sans JP"/>
                <a:ea typeface="Noto Sans JP"/>
              </a:rPr>
              <a:t>現場での効果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2A37"/>
                </a:solidFill>
                <a:latin typeface="Noto Sans JP"/>
                <a:ea typeface="Noto Sans JP"/>
              </a:rPr>
              <a:t>技術仕様の作成・共有・印刷が紙からデジタルへ。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1627632"/>
            <a:ext cx="6263640" cy="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5212080" y="1792224"/>
            <a:ext cx="626364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212080" y="1792224"/>
            <a:ext cx="6263640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12080" y="2011679"/>
            <a:ext cx="6263640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340096" y="1897379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504688" y="1897379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669280" y="1897379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25312" y="1856231"/>
            <a:ext cx="534924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53328" y="1860804"/>
            <a:ext cx="5166359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gmo-onair.jp/techsheet</a:t>
            </a:r>
          </a:p>
        </p:txBody>
      </p:sp>
      <p:pic>
        <p:nvPicPr>
          <p:cNvPr id="35" name="Picture 34" descr="techsheet.png"/>
          <p:cNvPicPr>
            <a:picLocks noChangeAspect="1"/>
          </p:cNvPicPr>
          <p:nvPr/>
        </p:nvPicPr>
        <p:blipFill>
          <a:blip r:embed="rId2"/>
          <a:srcRect t="832" b="832"/>
          <a:stretch>
            <a:fillRect/>
          </a:stretch>
        </p:blipFill>
        <p:spPr>
          <a:xfrm>
            <a:off x="5212080" y="2103120"/>
            <a:ext cx="6263640" cy="384962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212080" y="600760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A939E"/>
                </a:solidFill>
                <a:latin typeface="Noto Sans JP"/>
                <a:ea typeface="Noto Sans JP"/>
              </a:rPr>
              <a:t>▲ 実際の画面（技術資料）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EA06B"/>
                </a:solidFill>
                <a:latin typeface="Noto Sans JP"/>
                <a:ea typeface="Noto Sans JP"/>
              </a:rPr>
              <a:t>APP 5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ライブ運用（Live Ops）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09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1627632"/>
            <a:ext cx="603504" cy="603504"/>
          </a:xfrm>
          <a:prstGeom prst="ellipse">
            <a:avLst/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8446" y="1764792"/>
            <a:ext cx="373075" cy="373075"/>
          </a:xfrm>
          <a:prstGeom prst="ellipse">
            <a:avLst/>
          </a:prstGeom>
          <a:solidFill>
            <a:srgbClr val="FFFFFF"/>
          </a:solidFill>
          <a:ln w="38100">
            <a:solidFill>
              <a:srgbClr val="2EA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1092" y="1677009"/>
            <a:ext cx="87782" cy="54864"/>
          </a:xfrm>
          <a:prstGeom prst="roundRect">
            <a:avLst>
              <a:gd name="adj" fmla="val 8000"/>
            </a:avLst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1014984" y="1852574"/>
            <a:ext cx="0" cy="98755"/>
          </a:xfrm>
          <a:prstGeom prst="line">
            <a:avLst/>
          </a:prstGeom>
          <a:ln w="33020">
            <a:solidFill>
              <a:srgbClr val="2EA0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14984" y="1951329"/>
            <a:ext cx="71323" cy="0"/>
          </a:xfrm>
          <a:prstGeom prst="line">
            <a:avLst/>
          </a:prstGeom>
          <a:ln w="33020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993038" y="1929384"/>
            <a:ext cx="43891" cy="43891"/>
          </a:xfrm>
          <a:prstGeom prst="ellipse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164592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本番当日のオペレーション・進行・計時をサポート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EA06B"/>
                </a:solidFill>
                <a:latin typeface="Noto Sans JP"/>
                <a:ea typeface="Noto Sans JP"/>
              </a:rPr>
              <a:t>できること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2889504"/>
            <a:ext cx="274320" cy="274320"/>
          </a:xfrm>
          <a:prstGeom prst="ellipse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28529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816352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番組進行・タイマー表示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3547872"/>
            <a:ext cx="274320" cy="274320"/>
          </a:xfrm>
          <a:prstGeom prst="ellipse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5112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視聴者数のリアルタイム計測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" y="4206240"/>
            <a:ext cx="274320" cy="274320"/>
          </a:xfrm>
          <a:prstGeom prst="ellipse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169663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133087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Zoom/Teams 参加者連携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901183"/>
            <a:ext cx="4224528" cy="1097280"/>
          </a:xfrm>
          <a:prstGeom prst="roundRect">
            <a:avLst>
              <a:gd name="adj" fmla="val 8000"/>
            </a:avLst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047488"/>
            <a:ext cx="38404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2EA06B"/>
                </a:solidFill>
                <a:latin typeface="Noto Sans JP"/>
                <a:ea typeface="Noto Sans JP"/>
              </a:rPr>
              <a:t>現場での効果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2A37"/>
                </a:solidFill>
                <a:latin typeface="Noto Sans JP"/>
                <a:ea typeface="Noto Sans JP"/>
              </a:rPr>
              <a:t>進行・計時・視聴者数を1画面で。当日オペが軽くなる。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1627632"/>
            <a:ext cx="6263640" cy="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5212080" y="1792224"/>
            <a:ext cx="626364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212080" y="1792224"/>
            <a:ext cx="6263640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12080" y="2011679"/>
            <a:ext cx="6263640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340096" y="1897379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504688" y="1897379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669280" y="1897379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925312" y="1856231"/>
            <a:ext cx="534924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53328" y="1860804"/>
            <a:ext cx="5166359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gmo-onair.jp/live</a:t>
            </a:r>
          </a:p>
        </p:txBody>
      </p:sp>
      <p:pic>
        <p:nvPicPr>
          <p:cNvPr id="36" name="Picture 35" descr="live.png"/>
          <p:cNvPicPr>
            <a:picLocks noChangeAspect="1"/>
          </p:cNvPicPr>
          <p:nvPr/>
        </p:nvPicPr>
        <p:blipFill>
          <a:blip r:embed="rId2"/>
          <a:srcRect t="832" b="832"/>
          <a:stretch>
            <a:fillRect/>
          </a:stretch>
        </p:blipFill>
        <p:spPr>
          <a:xfrm>
            <a:off x="5212080" y="2103120"/>
            <a:ext cx="6263640" cy="384962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212080" y="600760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A939E"/>
                </a:solidFill>
                <a:latin typeface="Noto Sans JP"/>
                <a:ea typeface="Noto Sans JP"/>
              </a:rPr>
              <a:t>▲ 実際の画面（ライブ運用）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D94B4B"/>
                </a:solidFill>
                <a:latin typeface="Noto Sans JP"/>
                <a:ea typeface="Noto Sans JP"/>
              </a:rPr>
              <a:t>APP 6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リアルタイムCG（Realtime CG）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10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1627632"/>
            <a:ext cx="603504" cy="603504"/>
          </a:xfrm>
          <a:prstGeom prst="ellipse">
            <a:avLst/>
          </a:prstGeom>
          <a:solidFill>
            <a:srgbClr val="FA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5528" y="1764792"/>
            <a:ext cx="438912" cy="285292"/>
          </a:xfrm>
          <a:prstGeom prst="roundRect">
            <a:avLst>
              <a:gd name="adj" fmla="val 8000"/>
            </a:avLst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39419" y="1808683"/>
            <a:ext cx="351129" cy="19751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9147" y="2050084"/>
            <a:ext cx="131673" cy="38404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ightning Bolt 11"/>
          <p:cNvSpPr/>
          <p:nvPr/>
        </p:nvSpPr>
        <p:spPr>
          <a:xfrm>
            <a:off x="960120" y="1830628"/>
            <a:ext cx="109728" cy="153619"/>
          </a:xfrm>
          <a:prstGeom prst="lightningBol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164592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放送用CG（テロップ・ランキング・投票）をライブ送出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957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D94B4B"/>
                </a:solidFill>
                <a:latin typeface="Noto Sans JP"/>
                <a:ea typeface="Noto Sans JP"/>
              </a:rPr>
              <a:t>できること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2889504"/>
            <a:ext cx="274320" cy="274320"/>
          </a:xfrm>
          <a:prstGeom prst="ellipse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28529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816352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下位置CG / 表彰CG 演出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3547872"/>
            <a:ext cx="274320" cy="274320"/>
          </a:xfrm>
          <a:prstGeom prst="ellipse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112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474720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アンケート・クイズの即時集計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4206240"/>
            <a:ext cx="274320" cy="274320"/>
          </a:xfrm>
          <a:prstGeom prst="ellipse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169663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133087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OBS向け透過HTML5出力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901183"/>
            <a:ext cx="4224528" cy="1097280"/>
          </a:xfrm>
          <a:prstGeom prst="roundRect">
            <a:avLst>
              <a:gd name="adj" fmla="val 8000"/>
            </a:avLst>
          </a:prstGeom>
          <a:solidFill>
            <a:srgbClr val="FA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047488"/>
            <a:ext cx="38404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D94B4B"/>
                </a:solidFill>
                <a:latin typeface="Noto Sans JP"/>
                <a:ea typeface="Noto Sans JP"/>
              </a:rPr>
              <a:t>現場での効果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2A37"/>
                </a:solidFill>
                <a:latin typeface="Noto Sans JP"/>
                <a:ea typeface="Noto Sans JP"/>
              </a:rPr>
              <a:t>専門ソフト級のCG演出を、社内オペレーターだけで送出。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1627632"/>
            <a:ext cx="6263640" cy="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5212080" y="1792224"/>
            <a:ext cx="626364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212080" y="1792224"/>
            <a:ext cx="6263640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12080" y="2011679"/>
            <a:ext cx="6263640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340096" y="1897379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504688" y="1897379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669280" y="1897379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25312" y="1856231"/>
            <a:ext cx="534924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53328" y="1860804"/>
            <a:ext cx="5166359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gmo-onair.jp/awards/output</a:t>
            </a:r>
          </a:p>
        </p:txBody>
      </p:sp>
      <p:pic>
        <p:nvPicPr>
          <p:cNvPr id="35" name="Picture 34" descr="cg.png"/>
          <p:cNvPicPr>
            <a:picLocks noChangeAspect="1"/>
          </p:cNvPicPr>
          <p:nvPr/>
        </p:nvPicPr>
        <p:blipFill>
          <a:blip r:embed="rId2"/>
          <a:srcRect t="832" b="832"/>
          <a:stretch>
            <a:fillRect/>
          </a:stretch>
        </p:blipFill>
        <p:spPr>
          <a:xfrm>
            <a:off x="5212080" y="2103120"/>
            <a:ext cx="6263640" cy="384962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212080" y="600760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A939E"/>
                </a:solidFill>
                <a:latin typeface="Noto Sans JP"/>
                <a:ea typeface="Noto Sans JP"/>
              </a:rPr>
              <a:t>▲ 実際の画面（リアルタイムCG）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SCREEN GALLERY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実際の画面 — ひとつのデザインで6アプリ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664208"/>
            <a:ext cx="3456432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883664"/>
            <a:ext cx="3456432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8" y="1769364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5840" y="1769364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70432" y="1769364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426464" y="1728216"/>
            <a:ext cx="2542032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54480" y="1732788"/>
            <a:ext cx="23591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</a:t>
            </a:r>
          </a:p>
        </p:txBody>
      </p:sp>
      <p:pic>
        <p:nvPicPr>
          <p:cNvPr id="16" name="Picture 15" descr="projects.png"/>
          <p:cNvPicPr>
            <a:picLocks noChangeAspect="1"/>
          </p:cNvPicPr>
          <p:nvPr/>
        </p:nvPicPr>
        <p:blipFill>
          <a:blip r:embed="rId2"/>
          <a:srcRect t="11058" b="11058"/>
          <a:stretch>
            <a:fillRect/>
          </a:stretch>
        </p:blipFill>
        <p:spPr>
          <a:xfrm>
            <a:off x="713232" y="1975104"/>
            <a:ext cx="3456432" cy="1682496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22960" y="3712463"/>
            <a:ext cx="3236976" cy="256032"/>
          </a:xfrm>
          <a:prstGeom prst="roundRect">
            <a:avLst>
              <a:gd name="adj" fmla="val 8000"/>
            </a:avLst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005BAC"/>
                </a:solidFill>
                <a:latin typeface="Noto Sans JP"/>
                <a:ea typeface="Noto Sans JP"/>
              </a:rPr>
              <a:t>案件管理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5696" y="1664208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25696" y="1664208"/>
            <a:ext cx="3456432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1883664"/>
            <a:ext cx="3456432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53712" y="1769364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718303" y="1769364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82896" y="1769364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138928" y="1728216"/>
            <a:ext cx="2542032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66944" y="1732788"/>
            <a:ext cx="23591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rundown</a:t>
            </a:r>
          </a:p>
        </p:txBody>
      </p:sp>
      <p:pic>
        <p:nvPicPr>
          <p:cNvPr id="26" name="Picture 25" descr="qsheet.png"/>
          <p:cNvPicPr>
            <a:picLocks noChangeAspect="1"/>
          </p:cNvPicPr>
          <p:nvPr/>
        </p:nvPicPr>
        <p:blipFill>
          <a:blip r:embed="rId3"/>
          <a:srcRect t="11058" b="11058"/>
          <a:stretch>
            <a:fillRect/>
          </a:stretch>
        </p:blipFill>
        <p:spPr>
          <a:xfrm>
            <a:off x="4425696" y="1975104"/>
            <a:ext cx="3456432" cy="1682496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4535424" y="3712463"/>
            <a:ext cx="3236976" cy="256032"/>
          </a:xfrm>
          <a:prstGeom prst="roundRect">
            <a:avLst>
              <a:gd name="adj" fmla="val 8000"/>
            </a:avLst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169BA0"/>
                </a:solidFill>
                <a:latin typeface="Noto Sans JP"/>
                <a:ea typeface="Noto Sans JP"/>
              </a:rPr>
              <a:t>Qシート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59" y="1664208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38159" y="1664208"/>
            <a:ext cx="3456432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38159" y="1883664"/>
            <a:ext cx="3456432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66175" y="1769364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430767" y="1769364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595359" y="1769364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851391" y="1728216"/>
            <a:ext cx="2542032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79407" y="1732788"/>
            <a:ext cx="23591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equipment</a:t>
            </a:r>
          </a:p>
        </p:txBody>
      </p:sp>
      <p:pic>
        <p:nvPicPr>
          <p:cNvPr id="36" name="Picture 35" descr="equipment.png"/>
          <p:cNvPicPr>
            <a:picLocks noChangeAspect="1"/>
          </p:cNvPicPr>
          <p:nvPr/>
        </p:nvPicPr>
        <p:blipFill>
          <a:blip r:embed="rId4"/>
          <a:srcRect t="11058" b="11058"/>
          <a:stretch>
            <a:fillRect/>
          </a:stretch>
        </p:blipFill>
        <p:spPr>
          <a:xfrm>
            <a:off x="8138159" y="1975104"/>
            <a:ext cx="3456432" cy="1682496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8247887" y="3712463"/>
            <a:ext cx="3236976" cy="256032"/>
          </a:xfrm>
          <a:prstGeom prst="roundRect">
            <a:avLst>
              <a:gd name="adj" fmla="val 8000"/>
            </a:avLst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F59E0B"/>
                </a:solidFill>
                <a:latin typeface="Noto Sans JP"/>
                <a:ea typeface="Noto Sans JP"/>
              </a:rPr>
              <a:t>機材管理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4041648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13232" y="4041648"/>
            <a:ext cx="3456432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13232" y="4261104"/>
            <a:ext cx="3456432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41248" y="4146804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05840" y="4146804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70432" y="4146804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426464" y="4105656"/>
            <a:ext cx="2542032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54480" y="4110228"/>
            <a:ext cx="23591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techsheet</a:t>
            </a:r>
          </a:p>
        </p:txBody>
      </p:sp>
      <p:pic>
        <p:nvPicPr>
          <p:cNvPr id="46" name="Picture 45" descr="techsheet.png"/>
          <p:cNvPicPr>
            <a:picLocks noChangeAspect="1"/>
          </p:cNvPicPr>
          <p:nvPr/>
        </p:nvPicPr>
        <p:blipFill>
          <a:blip r:embed="rId5"/>
          <a:srcRect t="11058" b="11058"/>
          <a:stretch>
            <a:fillRect/>
          </a:stretch>
        </p:blipFill>
        <p:spPr>
          <a:xfrm>
            <a:off x="713232" y="4352544"/>
            <a:ext cx="3456432" cy="1682496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822960" y="6089903"/>
            <a:ext cx="3236976" cy="256032"/>
          </a:xfrm>
          <a:prstGeom prst="roundRect">
            <a:avLst>
              <a:gd name="adj" fmla="val 8000"/>
            </a:avLst>
          </a:prstGeom>
          <a:solidFill>
            <a:srgbClr val="EA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7C5CD6"/>
                </a:solidFill>
                <a:latin typeface="Noto Sans JP"/>
                <a:ea typeface="Noto Sans JP"/>
              </a:rPr>
              <a:t>技術資料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425696" y="4041648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425696" y="4041648"/>
            <a:ext cx="3456432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25696" y="4261104"/>
            <a:ext cx="3456432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553712" y="4146804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718303" y="4146804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882896" y="4146804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138928" y="4105656"/>
            <a:ext cx="2542032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66944" y="4110228"/>
            <a:ext cx="23591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live</a:t>
            </a:r>
          </a:p>
        </p:txBody>
      </p:sp>
      <p:pic>
        <p:nvPicPr>
          <p:cNvPr id="56" name="Picture 55" descr="live.png"/>
          <p:cNvPicPr>
            <a:picLocks noChangeAspect="1"/>
          </p:cNvPicPr>
          <p:nvPr/>
        </p:nvPicPr>
        <p:blipFill>
          <a:blip r:embed="rId6"/>
          <a:srcRect t="11058" b="11058"/>
          <a:stretch>
            <a:fillRect/>
          </a:stretch>
        </p:blipFill>
        <p:spPr>
          <a:xfrm>
            <a:off x="4425696" y="4352544"/>
            <a:ext cx="3456432" cy="1682496"/>
          </a:xfrm>
          <a:prstGeom prst="rect">
            <a:avLst/>
          </a:prstGeom>
        </p:spPr>
      </p:pic>
      <p:sp>
        <p:nvSpPr>
          <p:cNvPr id="57" name="Rounded Rectangle 56"/>
          <p:cNvSpPr/>
          <p:nvPr/>
        </p:nvSpPr>
        <p:spPr>
          <a:xfrm>
            <a:off x="4535424" y="6089903"/>
            <a:ext cx="3236976" cy="256032"/>
          </a:xfrm>
          <a:prstGeom prst="roundRect">
            <a:avLst>
              <a:gd name="adj" fmla="val 8000"/>
            </a:avLst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2EA06B"/>
                </a:solidFill>
                <a:latin typeface="Noto Sans JP"/>
                <a:ea typeface="Noto Sans JP"/>
              </a:rPr>
              <a:t>ライブ運用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138159" y="4041648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8138159" y="4041648"/>
            <a:ext cx="3456432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38159" y="4261104"/>
            <a:ext cx="3456432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266175" y="4146804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430767" y="4146804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595359" y="4146804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851391" y="4105656"/>
            <a:ext cx="2542032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79407" y="4110228"/>
            <a:ext cx="23591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output</a:t>
            </a:r>
          </a:p>
        </p:txBody>
      </p:sp>
      <p:pic>
        <p:nvPicPr>
          <p:cNvPr id="66" name="Picture 65" descr="cg.png"/>
          <p:cNvPicPr>
            <a:picLocks noChangeAspect="1"/>
          </p:cNvPicPr>
          <p:nvPr/>
        </p:nvPicPr>
        <p:blipFill>
          <a:blip r:embed="rId7"/>
          <a:srcRect t="11058" b="11058"/>
          <a:stretch>
            <a:fillRect/>
          </a:stretch>
        </p:blipFill>
        <p:spPr>
          <a:xfrm>
            <a:off x="8138159" y="4352544"/>
            <a:ext cx="3456432" cy="1682496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8247887" y="6089903"/>
            <a:ext cx="3236976" cy="256032"/>
          </a:xfrm>
          <a:prstGeom prst="roundRect">
            <a:avLst>
              <a:gd name="adj" fmla="val 8000"/>
            </a:avLst>
          </a:prstGeom>
          <a:solidFill>
            <a:srgbClr val="FA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D94B4B"/>
                </a:solidFill>
                <a:latin typeface="Noto Sans JP"/>
                <a:ea typeface="Noto Sans JP"/>
              </a:rPr>
              <a:t>リアルタイムCG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DEEP DIVE — 案件管理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“管理”だけじゃない — 進行・お金・場所まで一気通貫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52852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664208"/>
            <a:ext cx="5285232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883664"/>
            <a:ext cx="5285232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8" y="1769364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5840" y="1769364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70432" y="1769364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426464" y="1728216"/>
            <a:ext cx="4370832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54480" y="1732788"/>
            <a:ext cx="41879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gmo-onair.jp/budget</a:t>
            </a:r>
          </a:p>
        </p:txBody>
      </p:sp>
      <p:pic>
        <p:nvPicPr>
          <p:cNvPr id="16" name="Picture 15" descr="budget.png"/>
          <p:cNvPicPr>
            <a:picLocks noChangeAspect="1"/>
          </p:cNvPicPr>
          <p:nvPr/>
        </p:nvPicPr>
        <p:blipFill>
          <a:blip r:embed="rId2"/>
          <a:srcRect t="24533" b="24533"/>
          <a:stretch>
            <a:fillRect/>
          </a:stretch>
        </p:blipFill>
        <p:spPr>
          <a:xfrm>
            <a:off x="713232" y="1975104"/>
            <a:ext cx="5285232" cy="1682496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22960" y="3712463"/>
            <a:ext cx="5065776" cy="274320"/>
          </a:xfrm>
          <a:prstGeom prst="roundRect">
            <a:avLst>
              <a:gd name="adj" fmla="val 8000"/>
            </a:avLst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005BAC"/>
                </a:solidFill>
                <a:latin typeface="Noto Sans JP"/>
                <a:ea typeface="Noto Sans JP"/>
              </a:rPr>
              <a:t>予算・損益ダッシュボード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1664208"/>
            <a:ext cx="52852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54496" y="1664208"/>
            <a:ext cx="5285232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4496" y="1883664"/>
            <a:ext cx="5285232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82512" y="1769364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47104" y="1769364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711696" y="1769364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67728" y="1728216"/>
            <a:ext cx="4370832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95744" y="1732788"/>
            <a:ext cx="41879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gmo-onair.jp/tasks</a:t>
            </a:r>
          </a:p>
        </p:txBody>
      </p:sp>
      <p:pic>
        <p:nvPicPr>
          <p:cNvPr id="26" name="Picture 25" descr="kanban.png"/>
          <p:cNvPicPr>
            <a:picLocks noChangeAspect="1"/>
          </p:cNvPicPr>
          <p:nvPr/>
        </p:nvPicPr>
        <p:blipFill>
          <a:blip r:embed="rId3"/>
          <a:srcRect t="24533" b="24533"/>
          <a:stretch>
            <a:fillRect/>
          </a:stretch>
        </p:blipFill>
        <p:spPr>
          <a:xfrm>
            <a:off x="6254496" y="1975104"/>
            <a:ext cx="5285232" cy="1682496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364224" y="3712463"/>
            <a:ext cx="5065776" cy="274320"/>
          </a:xfrm>
          <a:prstGeom prst="roundRect">
            <a:avLst>
              <a:gd name="adj" fmla="val 8000"/>
            </a:avLst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169BA0"/>
                </a:solidFill>
                <a:latin typeface="Noto Sans JP"/>
                <a:ea typeface="Noto Sans JP"/>
              </a:rPr>
              <a:t>タスク管理（カンバン）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4114800"/>
            <a:ext cx="52852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13232" y="4114800"/>
            <a:ext cx="5285232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3232" y="4334256"/>
            <a:ext cx="5285232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41248" y="4219956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219956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70432" y="4219956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426464" y="4178808"/>
            <a:ext cx="4370832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54480" y="4183380"/>
            <a:ext cx="41879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gmo-onair.jp/gantt</a:t>
            </a:r>
          </a:p>
        </p:txBody>
      </p:sp>
      <p:pic>
        <p:nvPicPr>
          <p:cNvPr id="36" name="Picture 35" descr="gantt.png"/>
          <p:cNvPicPr>
            <a:picLocks noChangeAspect="1"/>
          </p:cNvPicPr>
          <p:nvPr/>
        </p:nvPicPr>
        <p:blipFill>
          <a:blip r:embed="rId4"/>
          <a:srcRect t="24533" b="24533"/>
          <a:stretch>
            <a:fillRect/>
          </a:stretch>
        </p:blipFill>
        <p:spPr>
          <a:xfrm>
            <a:off x="713232" y="4425696"/>
            <a:ext cx="5285232" cy="1682496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822960" y="6163055"/>
            <a:ext cx="5065776" cy="274320"/>
          </a:xfrm>
          <a:prstGeom prst="roundRect">
            <a:avLst>
              <a:gd name="adj" fmla="val 8000"/>
            </a:avLst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59E0B"/>
                </a:solidFill>
                <a:latin typeface="Noto Sans JP"/>
                <a:ea typeface="Noto Sans JP"/>
              </a:rPr>
              <a:t>タスク管理（ガント）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54496" y="4114800"/>
            <a:ext cx="52852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254496" y="4114800"/>
            <a:ext cx="5285232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54496" y="4334256"/>
            <a:ext cx="5285232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82512" y="4219956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547104" y="4219956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711696" y="4219956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967728" y="4178808"/>
            <a:ext cx="4370832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95744" y="4183380"/>
            <a:ext cx="41879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gmo-onair.jp/studio</a:t>
            </a:r>
          </a:p>
        </p:txBody>
      </p:sp>
      <p:pic>
        <p:nvPicPr>
          <p:cNvPr id="46" name="Picture 45" descr="studio.png"/>
          <p:cNvPicPr>
            <a:picLocks noChangeAspect="1"/>
          </p:cNvPicPr>
          <p:nvPr/>
        </p:nvPicPr>
        <p:blipFill>
          <a:blip r:embed="rId5"/>
          <a:srcRect t="24533" b="24533"/>
          <a:stretch>
            <a:fillRect/>
          </a:stretch>
        </p:blipFill>
        <p:spPr>
          <a:xfrm>
            <a:off x="6254496" y="4425696"/>
            <a:ext cx="5285232" cy="1682496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6364224" y="6163055"/>
            <a:ext cx="5065776" cy="274320"/>
          </a:xfrm>
          <a:prstGeom prst="roundRect">
            <a:avLst>
              <a:gd name="adj" fmla="val 8000"/>
            </a:avLst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2EA06B"/>
                </a:solidFill>
                <a:latin typeface="Noto Sans JP"/>
                <a:ea typeface="Noto Sans JP"/>
              </a:rPr>
              <a:t>スタジオ予約（カレンダー）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PLATFORM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プラットフォーム運営 — 権限・データを社内で掌握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737360"/>
            <a:ext cx="3291840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737360"/>
            <a:ext cx="3291840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956815"/>
            <a:ext cx="3291840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8" y="1842515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5840" y="1842515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70432" y="1842515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426464" y="1801368"/>
            <a:ext cx="237744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54480" y="1805939"/>
            <a:ext cx="219456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gmo-onair.jp/admin/users</a:t>
            </a:r>
          </a:p>
        </p:txBody>
      </p:sp>
      <p:pic>
        <p:nvPicPr>
          <p:cNvPr id="16" name="Picture 15" descr="users.png"/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713232" y="2048255"/>
            <a:ext cx="3291840" cy="1682496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713232" y="3785615"/>
            <a:ext cx="3291840" cy="274320"/>
          </a:xfrm>
          <a:prstGeom prst="roundRect">
            <a:avLst>
              <a:gd name="adj" fmla="val 8000"/>
            </a:avLst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005BAC"/>
                </a:solidFill>
                <a:latin typeface="Noto Sans JP"/>
                <a:ea typeface="Noto Sans JP"/>
              </a:rPr>
              <a:t>ユーザー権限管理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87952" y="1737360"/>
            <a:ext cx="3291840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187952" y="1737360"/>
            <a:ext cx="3291840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87952" y="1956815"/>
            <a:ext cx="3291840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315968" y="1842515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80559" y="1842515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645152" y="1842515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901184" y="1801368"/>
            <a:ext cx="237744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0" y="1805939"/>
            <a:ext cx="219456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gmo-onair.jp/admin/db</a:t>
            </a:r>
          </a:p>
        </p:txBody>
      </p:sp>
      <p:pic>
        <p:nvPicPr>
          <p:cNvPr id="26" name="Picture 25" descr="dbviewer.png"/>
          <p:cNvPicPr>
            <a:picLocks noChangeAspect="1"/>
          </p:cNvPicPr>
          <p:nvPr/>
        </p:nvPicPr>
        <p:blipFill>
          <a:blip r:embed="rId3"/>
          <a:srcRect t="9111" b="9111"/>
          <a:stretch>
            <a:fillRect/>
          </a:stretch>
        </p:blipFill>
        <p:spPr>
          <a:xfrm>
            <a:off x="4187952" y="2048255"/>
            <a:ext cx="3291840" cy="1682496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4187952" y="3785615"/>
            <a:ext cx="3291840" cy="274320"/>
          </a:xfrm>
          <a:prstGeom prst="roundRect">
            <a:avLst>
              <a:gd name="adj" fmla="val 8000"/>
            </a:avLst>
          </a:prstGeom>
          <a:solidFill>
            <a:srgbClr val="EA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7C5CD6"/>
                </a:solidFill>
                <a:latin typeface="Noto Sans JP"/>
                <a:ea typeface="Noto Sans JP"/>
              </a:rPr>
              <a:t>DBビューア（全テーブル）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4325112"/>
            <a:ext cx="67665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13232" y="4325112"/>
            <a:ext cx="6766560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3232" y="4544568"/>
            <a:ext cx="6766560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41248" y="4430268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430268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70432" y="4430268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426464" y="4389120"/>
            <a:ext cx="585216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54480" y="4393692"/>
            <a:ext cx="5669280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gmo-onair.jp/admin/settings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3232" y="4636008"/>
            <a:ext cx="6766560" cy="1472184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552" y="4818888"/>
            <a:ext cx="6217920" cy="11064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2A37"/>
                </a:solidFill>
                <a:latin typeface="Noto Sans JP"/>
                <a:ea typeface="Noto Sans JP"/>
              </a:rPr>
              <a:t>システム設定 — 全データバックアップ（管理者専用）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ユーザー・顧客・案件・売上・仕入・販管費・機材・スタジオ予約など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主要13テーブルを 日本語ヘッダー付きの単一 xlsx で出力（バックアップ・監査用）。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A06B"/>
                </a:solidFill>
                <a:latin typeface="Noto Sans JP"/>
                <a:ea typeface="Noto Sans JP"/>
              </a:rPr>
              <a:t>アプリ情報：GMO ONAiR  v2.9.26　／　パスワード変更も同画面で。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6163056"/>
            <a:ext cx="6766560" cy="274320"/>
          </a:xfrm>
          <a:prstGeom prst="roundRect">
            <a:avLst>
              <a:gd name="adj" fmla="val 8000"/>
            </a:avLst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2EA06B"/>
                </a:solidFill>
                <a:latin typeface="Noto Sans JP"/>
                <a:ea typeface="Noto Sans JP"/>
              </a:rPr>
              <a:t>システム設定（全データExcelバックアップ）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1783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05BAC"/>
                </a:solidFill>
                <a:latin typeface="Noto Sans JP"/>
                <a:ea typeface="Noto Sans JP"/>
              </a:rPr>
              <a:t>社内で完結するガバナンス</a:t>
            </a:r>
          </a:p>
        </p:txBody>
      </p:sp>
      <p:sp>
        <p:nvSpPr>
          <p:cNvPr id="40" name="Oval 39"/>
          <p:cNvSpPr/>
          <p:nvPr/>
        </p:nvSpPr>
        <p:spPr>
          <a:xfrm>
            <a:off x="7772400" y="2313432"/>
            <a:ext cx="256032" cy="256032"/>
          </a:xfrm>
          <a:prstGeom prst="ellipse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99831" y="2276856"/>
            <a:ext cx="25603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2249424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権限は2ロール＋アプリ別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0" y="2542032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B6672"/>
                </a:solidFill>
                <a:latin typeface="Noto Sans JP"/>
                <a:ea typeface="Noto Sans JP"/>
              </a:rPr>
              <a:t>管理者/スタッフ＋アプリ単位の権限で過不足なく付与</a:t>
            </a:r>
          </a:p>
        </p:txBody>
      </p:sp>
      <p:sp>
        <p:nvSpPr>
          <p:cNvPr id="44" name="Oval 43"/>
          <p:cNvSpPr/>
          <p:nvPr/>
        </p:nvSpPr>
        <p:spPr>
          <a:xfrm>
            <a:off x="7772400" y="3154679"/>
            <a:ext cx="256032" cy="256032"/>
          </a:xfrm>
          <a:prstGeom prst="ellipse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99831" y="3118104"/>
            <a:ext cx="25603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0" y="3090672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全テーブルを可視化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338328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B6672"/>
                </a:solidFill>
                <a:latin typeface="Noto Sans JP"/>
                <a:ea typeface="Noto Sans JP"/>
              </a:rPr>
              <a:t>案件28・売上明細124など全データをCSVで確認・抽出</a:t>
            </a:r>
          </a:p>
        </p:txBody>
      </p:sp>
      <p:sp>
        <p:nvSpPr>
          <p:cNvPr id="48" name="Oval 47"/>
          <p:cNvSpPr/>
          <p:nvPr/>
        </p:nvSpPr>
        <p:spPr>
          <a:xfrm>
            <a:off x="7772400" y="3995928"/>
            <a:ext cx="256032" cy="256032"/>
          </a:xfrm>
          <a:prstGeom prst="ellipse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99831" y="3959352"/>
            <a:ext cx="25603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8160" y="39319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ワンクリック退避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38160" y="422452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B6672"/>
                </a:solidFill>
                <a:latin typeface="Noto Sans JP"/>
                <a:ea typeface="Noto Sans JP"/>
              </a:rPr>
              <a:t>主要13テーブルをExcel一括バックアップ（監査対応）</a:t>
            </a:r>
          </a:p>
        </p:txBody>
      </p:sp>
      <p:sp>
        <p:nvSpPr>
          <p:cNvPr id="52" name="Oval 51"/>
          <p:cNvSpPr/>
          <p:nvPr/>
        </p:nvSpPr>
        <p:spPr>
          <a:xfrm>
            <a:off x="7772400" y="4837176"/>
            <a:ext cx="256032" cy="256032"/>
          </a:xfrm>
          <a:prstGeom prst="ellipse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99831" y="4800600"/>
            <a:ext cx="256032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0" y="477316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外注に渡さない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38160" y="5065776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5B6672"/>
                </a:solidFill>
                <a:latin typeface="Noto Sans JP"/>
                <a:ea typeface="Noto Sans JP"/>
              </a:rPr>
              <a:t>データもアクセス権も社内に閉じて掌握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HOW IT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GLS番号 — すべてのデータを束ねる“背番号”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14</a:t>
            </a:r>
          </a:p>
        </p:txBody>
      </p:sp>
      <p:sp>
        <p:nvSpPr>
          <p:cNvPr id="8" name="Oval 7"/>
          <p:cNvSpPr/>
          <p:nvPr/>
        </p:nvSpPr>
        <p:spPr>
          <a:xfrm>
            <a:off x="5038344" y="2834640"/>
            <a:ext cx="2103120" cy="2103120"/>
          </a:xfrm>
          <a:prstGeom prst="ellipse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248656" y="3044952"/>
            <a:ext cx="1682496" cy="1682496"/>
          </a:xfrm>
          <a:prstGeom prst="ellipse">
            <a:avLst/>
          </a:prstGeom>
          <a:solidFill>
            <a:srgbClr val="005BAC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  <a:ea typeface="Noto Sans JP"/>
              </a:rPr>
              <a:t>GLS-A001
案件の背番号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6089904" y="1802282"/>
            <a:ext cx="0" cy="2083918"/>
          </a:xfrm>
          <a:prstGeom prst="line">
            <a:avLst/>
          </a:prstGeom>
          <a:ln w="279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089904" y="2844241"/>
            <a:ext cx="2098518" cy="1041959"/>
          </a:xfrm>
          <a:prstGeom prst="line">
            <a:avLst/>
          </a:prstGeom>
          <a:ln w="279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89904" y="3886200"/>
            <a:ext cx="2098518" cy="1041958"/>
          </a:xfrm>
          <a:prstGeom prst="line">
            <a:avLst/>
          </a:prstGeom>
          <a:ln w="279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89904" y="3886200"/>
            <a:ext cx="0" cy="2083917"/>
          </a:xfrm>
          <a:prstGeom prst="line">
            <a:avLst/>
          </a:prstGeom>
          <a:ln w="279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3991385" y="3886200"/>
            <a:ext cx="2098519" cy="1041958"/>
          </a:xfrm>
          <a:prstGeom prst="line">
            <a:avLst/>
          </a:prstGeom>
          <a:ln w="279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3991385" y="2844241"/>
            <a:ext cx="2098519" cy="1041959"/>
          </a:xfrm>
          <a:prstGeom prst="line">
            <a:avLst/>
          </a:prstGeom>
          <a:ln w="279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221224" y="1418234"/>
            <a:ext cx="17373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005BAC"/>
                </a:solidFill>
                <a:latin typeface="Noto Sans JP"/>
                <a:ea typeface="Noto Sans JP"/>
              </a:rPr>
              <a:t>案件管理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9742" y="2460193"/>
            <a:ext cx="17373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169BA0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169BA0"/>
                </a:solidFill>
                <a:latin typeface="Noto Sans JP"/>
                <a:ea typeface="Noto Sans JP"/>
              </a:rPr>
              <a:t>Qシート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9742" y="4544110"/>
            <a:ext cx="17373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F59E0B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59E0B"/>
                </a:solidFill>
                <a:latin typeface="Noto Sans JP"/>
                <a:ea typeface="Noto Sans JP"/>
              </a:rPr>
              <a:t>機材管理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21224" y="5586069"/>
            <a:ext cx="17373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7C5CD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7C5CD6"/>
                </a:solidFill>
                <a:latin typeface="Noto Sans JP"/>
                <a:ea typeface="Noto Sans JP"/>
              </a:rPr>
              <a:t>技術資料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22705" y="4544110"/>
            <a:ext cx="17373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2EA06B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2EA06B"/>
                </a:solidFill>
                <a:latin typeface="Noto Sans JP"/>
                <a:ea typeface="Noto Sans JP"/>
              </a:rPr>
              <a:t>ライブ運用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22705" y="2460193"/>
            <a:ext cx="17373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94B4B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D94B4B"/>
                </a:solidFill>
                <a:latin typeface="Noto Sans JP"/>
                <a:ea typeface="Noto Sans JP"/>
              </a:rPr>
              <a:t>リアルタイムCG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989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F2A37"/>
                </a:solidFill>
                <a:latin typeface="Noto Sans JP"/>
                <a:ea typeface="Noto Sans JP"/>
              </a:rPr>
              <a:t>受注時に1つの </a:t>
            </a:r>
            <a:r>
              <a:rPr sz="1250" b="1">
                <a:solidFill>
                  <a:srgbClr val="005BAC"/>
                </a:solidFill>
                <a:latin typeface="Noto Sans JP"/>
                <a:ea typeface="Noto Sans JP"/>
              </a:rPr>
              <a:t>GLS番号</a:t>
            </a:r>
            <a:r>
              <a:rPr sz="1250" b="0">
                <a:solidFill>
                  <a:srgbClr val="1F2A37"/>
                </a:solidFill>
                <a:latin typeface="Noto Sans JP"/>
                <a:ea typeface="Noto Sans JP"/>
              </a:rPr>
              <a:t> を発番すると、見積・Qシート・機材・技術資料・本番・CGがすべて同じ案件として自動的に紐づきます。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案件のライフサイクルを1本の線でカバー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15</a:t>
            </a:r>
          </a:p>
        </p:txBody>
      </p:sp>
      <p:sp>
        <p:nvSpPr>
          <p:cNvPr id="8" name="Pentagon 7"/>
          <p:cNvSpPr/>
          <p:nvPr/>
        </p:nvSpPr>
        <p:spPr>
          <a:xfrm>
            <a:off x="777240" y="2286000"/>
            <a:ext cx="2221992" cy="1920240"/>
          </a:xfrm>
          <a:prstGeom prst="homePlate">
            <a:avLst>
              <a:gd name="adj" fmla="val 45000"/>
            </a:avLst>
          </a:prstGeom>
          <a:solidFill>
            <a:srgbClr val="005BAC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56032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</a:rPr>
              <a:t>①提案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127248"/>
            <a:ext cx="194767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JP"/>
                <a:ea typeface="Noto Sans JP"/>
              </a:rPr>
              <a:t>ヨミ・見積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70831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05BAC"/>
                </a:solidFill>
                <a:latin typeface="Noto Sans JP"/>
                <a:ea typeface="Noto Sans JP"/>
              </a:rPr>
              <a:t>案件管理</a:t>
            </a:r>
          </a:p>
        </p:txBody>
      </p:sp>
      <p:sp>
        <p:nvSpPr>
          <p:cNvPr id="12" name="Pentagon 11"/>
          <p:cNvSpPr/>
          <p:nvPr/>
        </p:nvSpPr>
        <p:spPr>
          <a:xfrm>
            <a:off x="2971800" y="2286000"/>
            <a:ext cx="2221992" cy="1920240"/>
          </a:xfrm>
          <a:prstGeom prst="homePlate">
            <a:avLst>
              <a:gd name="adj" fmla="val 45000"/>
            </a:avLst>
          </a:prstGeom>
          <a:solidFill>
            <a:srgbClr val="4A9DE0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81528" y="256032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</a:rPr>
              <a:t>②受注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81528" y="3127248"/>
            <a:ext cx="194767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JP"/>
                <a:ea typeface="Noto Sans JP"/>
              </a:rPr>
              <a:t>GLS発番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4370831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4A9DE0"/>
                </a:solidFill>
                <a:latin typeface="Noto Sans JP"/>
                <a:ea typeface="Noto Sans JP"/>
              </a:rPr>
              <a:t>案件管理</a:t>
            </a:r>
          </a:p>
        </p:txBody>
      </p:sp>
      <p:sp>
        <p:nvSpPr>
          <p:cNvPr id="16" name="Pentagon 15"/>
          <p:cNvSpPr/>
          <p:nvPr/>
        </p:nvSpPr>
        <p:spPr>
          <a:xfrm>
            <a:off x="5166360" y="2286000"/>
            <a:ext cx="2221992" cy="1920240"/>
          </a:xfrm>
          <a:prstGeom prst="homePlate">
            <a:avLst>
              <a:gd name="adj" fmla="val 45000"/>
            </a:avLst>
          </a:prstGeom>
          <a:solidFill>
            <a:srgbClr val="169BA0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76088" y="256032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</a:rPr>
              <a:t>③制作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6088" y="3127248"/>
            <a:ext cx="194767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JP"/>
                <a:ea typeface="Noto Sans JP"/>
              </a:rPr>
              <a:t>台本・機材・技術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4370831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69BA0"/>
                </a:solidFill>
                <a:latin typeface="Noto Sans JP"/>
                <a:ea typeface="Noto Sans JP"/>
              </a:rPr>
              <a:t>Qシート / 機材 / 技術</a:t>
            </a:r>
          </a:p>
        </p:txBody>
      </p:sp>
      <p:sp>
        <p:nvSpPr>
          <p:cNvPr id="20" name="Pentagon 19"/>
          <p:cNvSpPr/>
          <p:nvPr/>
        </p:nvSpPr>
        <p:spPr>
          <a:xfrm>
            <a:off x="7360920" y="2286000"/>
            <a:ext cx="2221992" cy="1920240"/>
          </a:xfrm>
          <a:prstGeom prst="homePlate">
            <a:avLst>
              <a:gd name="adj" fmla="val 45000"/>
            </a:avLst>
          </a:prstGeom>
          <a:solidFill>
            <a:srgbClr val="2EA06B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0648" y="256032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</a:rPr>
              <a:t>④本番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0648" y="3127248"/>
            <a:ext cx="194767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JP"/>
                <a:ea typeface="Noto Sans JP"/>
              </a:rPr>
              <a:t>進行・CG送出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4370831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EA06B"/>
                </a:solidFill>
                <a:latin typeface="Noto Sans JP"/>
                <a:ea typeface="Noto Sans JP"/>
              </a:rPr>
              <a:t>ライブ / CG</a:t>
            </a:r>
          </a:p>
        </p:txBody>
      </p:sp>
      <p:sp>
        <p:nvSpPr>
          <p:cNvPr id="24" name="Pentagon 23"/>
          <p:cNvSpPr/>
          <p:nvPr/>
        </p:nvSpPr>
        <p:spPr>
          <a:xfrm>
            <a:off x="9555480" y="2286000"/>
            <a:ext cx="2221992" cy="1920240"/>
          </a:xfrm>
          <a:prstGeom prst="homePlate">
            <a:avLst>
              <a:gd name="adj" fmla="val 45000"/>
            </a:avLst>
          </a:prstGeom>
          <a:solidFill>
            <a:srgbClr val="F59E0B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65208" y="256032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</a:rPr>
              <a:t>⑤請求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65208" y="3127248"/>
            <a:ext cx="194767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JP"/>
                <a:ea typeface="Noto Sans JP"/>
              </a:rPr>
              <a:t>売上・損益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4370831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F59E0B"/>
                </a:solidFill>
                <a:latin typeface="Noto Sans JP"/>
                <a:ea typeface="Noto Sans JP"/>
              </a:rPr>
              <a:t>案件管理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074920"/>
            <a:ext cx="10771632" cy="457200"/>
          </a:xfrm>
          <a:prstGeom prst="roundRect">
            <a:avLst>
              <a:gd name="adj" fmla="val 8000"/>
            </a:avLst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120640"/>
            <a:ext cx="10771632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05BAC"/>
                </a:solidFill>
                <a:latin typeface="Noto Sans JP"/>
                <a:ea typeface="Noto Sans JP"/>
              </a:rPr>
              <a:t>ひとつのGLS番号でデータが流れ続ける — 転記ゼロ・抜け漏れゼロ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技術構成 — モダンで堅牢、運用は軽量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91640"/>
            <a:ext cx="1060704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691640"/>
            <a:ext cx="146304" cy="1060704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1856232"/>
            <a:ext cx="731520" cy="731520"/>
          </a:xfrm>
          <a:prstGeom prst="ellipse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arallelogram 10"/>
          <p:cNvSpPr/>
          <p:nvPr/>
        </p:nvSpPr>
        <p:spPr>
          <a:xfrm>
            <a:off x="1161288" y="2337206"/>
            <a:ext cx="512063" cy="140817"/>
          </a:xfrm>
          <a:prstGeom prst="parallelogram">
            <a:avLst>
              <a:gd name="adj" fmla="val 30000"/>
            </a:avLst>
          </a:prstGeom>
          <a:solidFill>
            <a:srgbClr val="005BA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rallelogram 11"/>
          <p:cNvSpPr/>
          <p:nvPr/>
        </p:nvSpPr>
        <p:spPr>
          <a:xfrm>
            <a:off x="1161288" y="2234793"/>
            <a:ext cx="512063" cy="140817"/>
          </a:xfrm>
          <a:prstGeom prst="parallelogram">
            <a:avLst>
              <a:gd name="adj" fmla="val 30000"/>
            </a:avLst>
          </a:prstGeom>
          <a:solidFill>
            <a:srgbClr val="4A9DE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arallelogram 12"/>
          <p:cNvSpPr/>
          <p:nvPr/>
        </p:nvSpPr>
        <p:spPr>
          <a:xfrm>
            <a:off x="1161288" y="2132380"/>
            <a:ext cx="512063" cy="140817"/>
          </a:xfrm>
          <a:prstGeom prst="parallelogram">
            <a:avLst>
              <a:gd name="adj" fmla="val 30000"/>
            </a:avLst>
          </a:prstGeom>
          <a:solidFill>
            <a:srgbClr val="E3EF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57400" y="185623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F2A37"/>
                </a:solidFill>
                <a:latin typeface="Noto Sans JP"/>
                <a:ea typeface="Noto Sans JP"/>
              </a:rPr>
              <a:t>画面（フロント）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75688" y="22585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05BAC"/>
                </a:solidFill>
                <a:latin typeface="Arial"/>
                <a:ea typeface="Arial"/>
              </a:rPr>
              <a:t>React 19 + Vite + TailwindCSS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92240" y="1892808"/>
            <a:ext cx="0" cy="658367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766560" y="1856232"/>
            <a:ext cx="457200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5B6672"/>
                </a:solidFill>
                <a:latin typeface="Noto Sans JP"/>
                <a:ea typeface="Noto Sans JP"/>
              </a:rPr>
              <a:t>スマホ対応・高速・統一デザイン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2862072"/>
            <a:ext cx="1060704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862072"/>
            <a:ext cx="146304" cy="1060704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" y="3026664"/>
            <a:ext cx="731520" cy="731520"/>
          </a:xfrm>
          <a:prstGeom prst="ellipse">
            <a:avLst/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225296" y="3315614"/>
            <a:ext cx="192024" cy="153619"/>
          </a:xfrm>
          <a:prstGeom prst="ellipse">
            <a:avLst/>
          </a:prstGeom>
          <a:noFill/>
          <a:ln w="50800">
            <a:solidFill>
              <a:srgbClr val="169B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17320" y="3315614"/>
            <a:ext cx="192024" cy="153619"/>
          </a:xfrm>
          <a:prstGeom prst="ellipse">
            <a:avLst/>
          </a:prstGeom>
          <a:noFill/>
          <a:ln w="50800">
            <a:solidFill>
              <a:srgbClr val="169B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57400" y="3026664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F2A37"/>
                </a:solidFill>
                <a:latin typeface="Noto Sans JP"/>
                <a:ea typeface="Noto Sans JP"/>
              </a:rPr>
              <a:t>サーバー（API）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75688" y="342900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9BA0"/>
                </a:solidFill>
                <a:latin typeface="Arial"/>
                <a:ea typeface="Arial"/>
              </a:rPr>
              <a:t>Express + Socket.IO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92240" y="3063240"/>
            <a:ext cx="0" cy="658368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766560" y="3026664"/>
            <a:ext cx="457200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5B6672"/>
                </a:solidFill>
                <a:latin typeface="Noto Sans JP"/>
                <a:ea typeface="Noto Sans JP"/>
              </a:rPr>
              <a:t>リアルタイム同期・共通API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032504"/>
            <a:ext cx="1060704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032504"/>
            <a:ext cx="146304" cy="10607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51560" y="4197096"/>
            <a:ext cx="731520" cy="731520"/>
          </a:xfrm>
          <a:prstGeom prst="ellipse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ear 9 29"/>
          <p:cNvSpPr/>
          <p:nvPr/>
        </p:nvSpPr>
        <p:spPr>
          <a:xfrm>
            <a:off x="1148486" y="4294022"/>
            <a:ext cx="537667" cy="537667"/>
          </a:xfrm>
          <a:prstGeom prst="gear9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327708" y="4473244"/>
            <a:ext cx="179222" cy="17922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57400" y="4197096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F2A37"/>
                </a:solidFill>
                <a:latin typeface="Noto Sans JP"/>
                <a:ea typeface="Noto Sans JP"/>
              </a:rPr>
              <a:t>データベース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75688" y="4599432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59E0B"/>
                </a:solidFill>
                <a:latin typeface="Arial"/>
                <a:ea typeface="Arial"/>
              </a:rPr>
              <a:t>PostgreSQL（単一DB）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492240" y="4233672"/>
            <a:ext cx="0" cy="658368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766560" y="4197096"/>
            <a:ext cx="457200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5B6672"/>
                </a:solidFill>
                <a:latin typeface="Noto Sans JP"/>
                <a:ea typeface="Noto Sans JP"/>
              </a:rPr>
              <a:t>本番/検証をDB名で安全に分離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202936"/>
            <a:ext cx="1060704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7240" y="5202936"/>
            <a:ext cx="146304" cy="1060704"/>
          </a:xfrm>
          <a:prstGeom prst="rect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51560" y="5367527"/>
            <a:ext cx="731520" cy="731520"/>
          </a:xfrm>
          <a:prstGeom prst="ellipse">
            <a:avLst/>
          </a:prstGeom>
          <a:solidFill>
            <a:srgbClr val="EA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entagon 38"/>
          <p:cNvSpPr/>
          <p:nvPr/>
        </p:nvSpPr>
        <p:spPr>
          <a:xfrm>
            <a:off x="1199692" y="5477255"/>
            <a:ext cx="435254" cy="512063"/>
          </a:xfrm>
          <a:prstGeom prst="homePlat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Pentagon 39"/>
          <p:cNvSpPr/>
          <p:nvPr/>
        </p:nvSpPr>
        <p:spPr>
          <a:xfrm>
            <a:off x="1199692" y="5477255"/>
            <a:ext cx="435254" cy="512063"/>
          </a:xfrm>
          <a:prstGeom prst="homePlat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327708" y="5630875"/>
            <a:ext cx="179222" cy="17922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57400" y="5367527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F2A37"/>
                </a:solidFill>
                <a:latin typeface="Noto Sans JP"/>
                <a:ea typeface="Noto Sans JP"/>
              </a:rPr>
              <a:t>インフラ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75688" y="5769864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7C5CD6"/>
                </a:solidFill>
                <a:latin typeface="Arial"/>
                <a:ea typeface="Arial"/>
              </a:rPr>
              <a:t>Docker + Nginx（CoNoHa VPS）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492240" y="5404103"/>
            <a:ext cx="0" cy="658369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766560" y="5367527"/>
            <a:ext cx="457200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5B6672"/>
                </a:solidFill>
                <a:latin typeface="Noto Sans JP"/>
                <a:ea typeface="Noto Sans JP"/>
              </a:rPr>
              <a:t>自動デプロイ・3時間ごと自動バックアップ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CONCLUSION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もし Claude を使わなかったら？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481328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FA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481328"/>
            <a:ext cx="146304" cy="914400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572768"/>
            <a:ext cx="1005840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D94B4B"/>
                </a:solidFill>
                <a:latin typeface="Noto Sans JP"/>
                <a:ea typeface="Noto Sans JP"/>
              </a:rPr>
              <a:t>従来型開発なら　</a:t>
            </a:r>
            <a:r>
              <a:rPr sz="1700" b="1">
                <a:solidFill>
                  <a:srgbClr val="1F2A37"/>
                </a:solidFill>
                <a:latin typeface="Noto Sans JP"/>
                <a:ea typeface="Noto Sans JP"/>
              </a:rPr>
              <a:t>エンジニア 5〜7名 × 約12か月 ／ 費用 およそ 6,000万〜1億円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505456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505456"/>
            <a:ext cx="146304" cy="914400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596896"/>
            <a:ext cx="1005840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2EA06B"/>
                </a:solidFill>
                <a:latin typeface="Noto Sans JP"/>
                <a:ea typeface="Noto Sans JP"/>
              </a:rPr>
              <a:t>実際（Claude活用）　</a:t>
            </a:r>
            <a:r>
              <a:rPr sz="1700" b="1">
                <a:solidFill>
                  <a:srgbClr val="1F2A37"/>
                </a:solidFill>
                <a:latin typeface="Noto Sans JP"/>
                <a:ea typeface="Noto Sans JP"/>
              </a:rPr>
              <a:t>ほぼ 1名 の指揮 × 対話 ／ 外注費 ほぼ0円・数週間で土台→以後も毎日進化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11880"/>
            <a:ext cx="260604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361188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  <a:ea typeface="Noto Sans JP"/>
              </a:rPr>
              <a:t>期間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886200"/>
            <a:ext cx="2606040" cy="1097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08736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D94B4B"/>
                </a:solidFill>
                <a:latin typeface="Noto Sans JP"/>
                <a:ea typeface="Noto Sans JP"/>
              </a:rPr>
              <a:t>従来 </a:t>
            </a: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約 12 か月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43000" y="4544568"/>
            <a:ext cx="1874520" cy="0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86968" y="4617720"/>
            <a:ext cx="2386584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2EA06B"/>
                </a:solidFill>
                <a:latin typeface="Noto Sans JP"/>
                <a:ea typeface="Noto Sans JP"/>
              </a:rPr>
              <a:t>Claude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2EA06B"/>
                </a:solidFill>
                <a:latin typeface="Noto Sans JP"/>
                <a:ea typeface="Noto Sans JP"/>
              </a:rPr>
              <a:t>数週間で土台
以後も毎日改善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11880" y="3611880"/>
            <a:ext cx="260604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11880" y="361188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  <a:ea typeface="Noto Sans JP"/>
              </a:rPr>
              <a:t>人数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11880" y="3886200"/>
            <a:ext cx="2606040" cy="109728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49040" y="408736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D94B4B"/>
                </a:solidFill>
                <a:latin typeface="Noto Sans JP"/>
                <a:ea typeface="Noto Sans JP"/>
              </a:rPr>
              <a:t>従来 </a:t>
            </a: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5〜7 名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977640" y="4544568"/>
            <a:ext cx="1874520" cy="0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721608" y="4617720"/>
            <a:ext cx="2386584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2EA06B"/>
                </a:solidFill>
                <a:latin typeface="Noto Sans JP"/>
                <a:ea typeface="Noto Sans JP"/>
              </a:rPr>
              <a:t>Claude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2EA06B"/>
                </a:solidFill>
                <a:latin typeface="Noto Sans JP"/>
                <a:ea typeface="Noto Sans JP"/>
              </a:rPr>
              <a:t>1 名（社内）
＋ Claude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46520" y="3611880"/>
            <a:ext cx="260604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46520" y="361188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  <a:ea typeface="Noto Sans JP"/>
              </a:rPr>
              <a:t>費用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3886200"/>
            <a:ext cx="260604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408736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D94B4B"/>
                </a:solidFill>
                <a:latin typeface="Noto Sans JP"/>
                <a:ea typeface="Noto Sans JP"/>
              </a:rPr>
              <a:t>従来 </a:t>
            </a: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6,000万〜1億円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12280" y="4544568"/>
            <a:ext cx="1874520" cy="0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56248" y="4617720"/>
            <a:ext cx="2386584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2EA06B"/>
                </a:solidFill>
                <a:latin typeface="Noto Sans JP"/>
                <a:ea typeface="Noto Sans JP"/>
              </a:rPr>
              <a:t>Claude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2EA06B"/>
                </a:solidFill>
                <a:latin typeface="Noto Sans JP"/>
                <a:ea typeface="Noto Sans JP"/>
              </a:rPr>
              <a:t>ほぼ 0 円
(AI+VPS 月数万円)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81160" y="3611880"/>
            <a:ext cx="260604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281160" y="361188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  <a:ea typeface="Noto Sans JP"/>
              </a:rPr>
              <a:t>速さ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81160" y="3886200"/>
            <a:ext cx="2606040" cy="109728"/>
          </a:xfrm>
          <a:prstGeom prst="rect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0" y="408736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D94B4B"/>
                </a:solidFill>
                <a:latin typeface="Noto Sans JP"/>
                <a:ea typeface="Noto Sans JP"/>
              </a:rPr>
              <a:t>従来 </a:t>
            </a: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仕様確定に数週間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646920" y="4544568"/>
            <a:ext cx="1874520" cy="0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9390888" y="4617720"/>
            <a:ext cx="2386584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2EA06B"/>
                </a:solidFill>
                <a:latin typeface="Noto Sans JP"/>
                <a:ea typeface="Noto Sans JP"/>
              </a:rPr>
              <a:t>Claude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2EA06B"/>
                </a:solidFill>
                <a:latin typeface="Noto Sans JP"/>
                <a:ea typeface="Noto Sans JP"/>
              </a:rPr>
              <a:t>言ったその日に
動くものが出る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66928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A939E"/>
                </a:solidFill>
                <a:latin typeface="Noto Sans JP"/>
                <a:ea typeface="Noto Sans JP"/>
              </a:rPr>
              <a:t>※ 推計の前提：本体規模 約97,000行・6アプリ＋サーバー・DB世代99・リアルタイム/放送CG/財務/PDF/Excel/BOX連携/2FA/自動デプロイを含む。人月単価100万円・受託相場で試算。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THE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開発プロセスの実際 — 積み上げの記録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27632"/>
            <a:ext cx="3456432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27632"/>
            <a:ext cx="128016" cy="14813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1901952"/>
            <a:ext cx="566928" cy="566928"/>
          </a:xfrm>
          <a:prstGeom prst="ellipse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  <a:ea typeface="Noto Sans JP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865376"/>
            <a:ext cx="226771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F2A37"/>
                </a:solidFill>
                <a:latin typeface="Noto Sans JP"/>
                <a:ea typeface="Noto Sans JP"/>
              </a:rPr>
              <a:t>基盤づくり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5648" y="2340864"/>
            <a:ext cx="226771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PostgreSQL化・Docker/Nginx・VPSデプロイ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1627632"/>
            <a:ext cx="3456432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25696" y="1627632"/>
            <a:ext cx="128016" cy="1481328"/>
          </a:xfrm>
          <a:prstGeom prst="rect">
            <a:avLst/>
          </a:prstGeom>
          <a:solidFill>
            <a:srgbClr val="4A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18304" y="1901952"/>
            <a:ext cx="566928" cy="566928"/>
          </a:xfrm>
          <a:prstGeom prst="ellipse">
            <a:avLst/>
          </a:prstGeom>
          <a:solidFill>
            <a:srgbClr val="4A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  <a:ea typeface="Noto Sans JP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4" y="1865376"/>
            <a:ext cx="226771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F2A37"/>
                </a:solidFill>
                <a:latin typeface="Noto Sans JP"/>
                <a:ea typeface="Noto Sans JP"/>
              </a:rPr>
              <a:t>3アプリ並走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8112" y="2340864"/>
            <a:ext cx="226771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案件管理＋Qシート＋演出を同居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627632"/>
            <a:ext cx="3456432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59" y="1627632"/>
            <a:ext cx="128016" cy="1481328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30767" y="1901952"/>
            <a:ext cx="566928" cy="566928"/>
          </a:xfrm>
          <a:prstGeom prst="ellipse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  <a:ea typeface="Noto Sans JP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288" y="1865376"/>
            <a:ext cx="226771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F2A37"/>
                </a:solidFill>
                <a:latin typeface="Noto Sans JP"/>
                <a:ea typeface="Noto Sans JP"/>
              </a:rPr>
              <a:t>サブアプリ統合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576" y="2340864"/>
            <a:ext cx="226771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機材・技術資料・ライブ運用を統合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383280"/>
            <a:ext cx="3456432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3383280"/>
            <a:ext cx="128016" cy="1481328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3657600"/>
            <a:ext cx="566928" cy="566928"/>
          </a:xfrm>
          <a:prstGeom prst="ellipse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  <a:ea typeface="Noto Sans JP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3621024"/>
            <a:ext cx="226771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F2A37"/>
                </a:solidFill>
                <a:latin typeface="Noto Sans JP"/>
                <a:ea typeface="Noto Sans JP"/>
              </a:rPr>
              <a:t>デザイン全面刷新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55648" y="4096512"/>
            <a:ext cx="226771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デジタル庁準拠(DADS)で全アプリ統一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25696" y="3383280"/>
            <a:ext cx="3456432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25696" y="3383280"/>
            <a:ext cx="128016" cy="14813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718304" y="3657600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  <a:ea typeface="Noto Sans JP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49824" y="3621024"/>
            <a:ext cx="226771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F2A37"/>
                </a:solidFill>
                <a:latin typeface="Noto Sans JP"/>
                <a:ea typeface="Noto Sans JP"/>
              </a:rPr>
              <a:t>放送CGの作り込み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68112" y="4096512"/>
            <a:ext cx="226771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下位置CG・表彰CG・投票演出を実装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8159" y="3383280"/>
            <a:ext cx="3456432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59" y="3383280"/>
            <a:ext cx="128016" cy="1481328"/>
          </a:xfrm>
          <a:prstGeom prst="rect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430767" y="3657600"/>
            <a:ext cx="566928" cy="566928"/>
          </a:xfrm>
          <a:prstGeom prst="ellips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  <a:ea typeface="Noto Sans JP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3621024"/>
            <a:ext cx="226771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F2A37"/>
                </a:solidFill>
                <a:latin typeface="Noto Sans JP"/>
                <a:ea typeface="Noto Sans JP"/>
              </a:rPr>
              <a:t>外部連携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0576" y="4096512"/>
            <a:ext cx="226771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インタラクティブ⇄CGをリアルタイム連携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5440680"/>
            <a:ext cx="10771632" cy="868680"/>
          </a:xfrm>
          <a:prstGeom prst="roundRect">
            <a:avLst>
              <a:gd name="adj" fmla="val 8000"/>
            </a:avLst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" y="5532120"/>
            <a:ext cx="3224783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005BAC"/>
                </a:solidFill>
                <a:latin typeface="Arial"/>
                <a:ea typeface="Arial"/>
              </a:rPr>
              <a:t>337</a:t>
            </a:r>
            <a:r>
              <a:rPr sz="1100" b="1">
                <a:solidFill>
                  <a:srgbClr val="1F2A37"/>
                </a:solidFill>
                <a:latin typeface="Noto Sans JP"/>
                <a:ea typeface="Noto Sans JP"/>
              </a:rPr>
              <a:t>  回のバージョンアップ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B6672"/>
                </a:solidFill>
                <a:latin typeface="Noto Sans JP"/>
                <a:ea typeface="Noto Sans JP"/>
              </a:rPr>
              <a:t>(v0.2 → v2.9.26)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303775" y="5596128"/>
            <a:ext cx="0" cy="603504"/>
          </a:xfrm>
          <a:prstGeom prst="line">
            <a:avLst/>
          </a:prstGeom>
          <a:ln w="12700">
            <a:solidFill>
              <a:srgbClr val="C2D6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578095" y="5532120"/>
            <a:ext cx="3224783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005BAC"/>
                </a:solidFill>
                <a:latin typeface="Arial"/>
                <a:ea typeface="Arial"/>
              </a:rPr>
              <a:t>99</a:t>
            </a:r>
            <a:r>
              <a:rPr sz="1100" b="1">
                <a:solidFill>
                  <a:srgbClr val="1F2A37"/>
                </a:solidFill>
                <a:latin typeface="Noto Sans JP"/>
                <a:ea typeface="Noto Sans JP"/>
              </a:rPr>
              <a:t>  世代のDB設計変更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B6672"/>
                </a:solidFill>
                <a:latin typeface="Noto Sans JP"/>
                <a:ea typeface="Noto Sans JP"/>
              </a:rPr>
              <a:t>(機能追加の積み重ね)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894320" y="5596128"/>
            <a:ext cx="0" cy="603504"/>
          </a:xfrm>
          <a:prstGeom prst="line">
            <a:avLst/>
          </a:prstGeom>
          <a:ln w="12700">
            <a:solidFill>
              <a:srgbClr val="C2D6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168640" y="5532120"/>
            <a:ext cx="3224783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005BAC"/>
                </a:solidFill>
                <a:latin typeface="Arial"/>
                <a:ea typeface="Arial"/>
              </a:rPr>
              <a:t>150+</a:t>
            </a:r>
            <a:r>
              <a:rPr sz="1100" b="1">
                <a:solidFill>
                  <a:srgbClr val="1F2A37"/>
                </a:solidFill>
                <a:latin typeface="Noto Sans JP"/>
                <a:ea typeface="Noto Sans JP"/>
              </a:rPr>
              <a:t>  直近1か月の改善デプロイ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B6672"/>
                </a:solidFill>
                <a:latin typeface="Noto Sans JP"/>
                <a:ea typeface="Noto Sans JP"/>
              </a:rPr>
              <a:t>(1日 約4〜5回)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DIALOGUE-DRIVEN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対話で作る — チャットがそのまま設計図に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5544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05BAC"/>
                </a:solidFill>
                <a:latin typeface="Noto Sans JP"/>
                <a:ea typeface="Noto Sans JP"/>
              </a:rPr>
              <a:t>実際のやり取り（イメージ）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057400"/>
            <a:ext cx="4937760" cy="841248"/>
          </a:xfrm>
          <a:prstGeom prst="roundRect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8640" y="2057400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148840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59E0B"/>
                </a:solidFill>
                <a:latin typeface="Noto Sans JP"/>
                <a:ea typeface="Noto Sans JP"/>
              </a:rPr>
              <a:t>社長 / 現場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F2A37"/>
                </a:solidFill>
                <a:latin typeface="Noto Sans JP"/>
                <a:ea typeface="Noto Sans JP"/>
              </a:rPr>
              <a:t>表彰式のランキングCGを作りたい。1位を最後にドンと出したい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34440" y="3044952"/>
            <a:ext cx="4937760" cy="841248"/>
          </a:xfrm>
          <a:prstGeom prst="roundRect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3136392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05BAC"/>
                </a:solidFill>
                <a:latin typeface="Noto Sans JP"/>
                <a:ea typeface="Noto Sans JP"/>
              </a:rPr>
              <a:t>AI（Claude）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F2A37"/>
                </a:solidFill>
                <a:latin typeface="Noto Sans JP"/>
                <a:ea typeface="Noto Sans JP"/>
              </a:rPr>
              <a:t>演出ステップと送出UIを実装しました。検証環境でご確認ください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032504"/>
            <a:ext cx="4937760" cy="841248"/>
          </a:xfrm>
          <a:prstGeom prst="roundRect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48640" y="4032504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123944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59E0B"/>
                </a:solidFill>
                <a:latin typeface="Noto Sans JP"/>
                <a:ea typeface="Noto Sans JP"/>
              </a:rPr>
              <a:t>社長 / 現場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F2A37"/>
                </a:solidFill>
                <a:latin typeface="Noto Sans JP"/>
                <a:ea typeface="Noto Sans JP"/>
              </a:rPr>
              <a:t>数字が動いてTAKEで確定する“あの演出”にして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5020056"/>
            <a:ext cx="4937760" cy="841248"/>
          </a:xfrm>
          <a:prstGeom prst="roundRect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17320" y="5111496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05BAC"/>
                </a:solidFill>
                <a:latin typeface="Noto Sans JP"/>
                <a:ea typeface="Noto Sans JP"/>
              </a:rPr>
              <a:t>AI（Claude）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F2A37"/>
                </a:solidFill>
                <a:latin typeface="Noto Sans JP"/>
                <a:ea typeface="Noto Sans JP"/>
              </a:rPr>
              <a:t>カウントアップ→確定アニメに変更。複数正解の同期も対応しました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5544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69BA0"/>
                </a:solidFill>
                <a:latin typeface="Noto Sans JP"/>
                <a:ea typeface="Noto Sans JP"/>
              </a:rPr>
              <a:t>生まれるもの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2057400"/>
            <a:ext cx="475488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75120" y="2057400"/>
            <a:ext cx="128016" cy="107899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0" y="2203704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F2A37"/>
                </a:solidFill>
                <a:latin typeface="Noto Sans JP"/>
                <a:ea typeface="Noto Sans JP"/>
              </a:rPr>
              <a:t>動くアプリ機能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67728" y="26060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言葉で頼んだ演出が実際に放送で使える形に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0" y="3264408"/>
            <a:ext cx="475488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75120" y="3264408"/>
            <a:ext cx="128016" cy="107899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3410712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F2A37"/>
                </a:solidFill>
                <a:latin typeface="Noto Sans JP"/>
                <a:ea typeface="Noto Sans JP"/>
              </a:rPr>
              <a:t>バージョン履歴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3813048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v2.8 → v2.9 と小刻みに改善が積み上がる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0" y="4471416"/>
            <a:ext cx="475488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675120" y="4471416"/>
            <a:ext cx="128016" cy="107899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461772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F2A37"/>
                </a:solidFill>
                <a:latin typeface="Noto Sans JP"/>
                <a:ea typeface="Noto Sans JP"/>
              </a:rPr>
              <a:t>ドキュメント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67728" y="5020056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やり取りが仕様書・記録として自動で残る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THE HARD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正直、ここは大変だった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91056"/>
            <a:ext cx="5285232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591056"/>
            <a:ext cx="128016" cy="1389888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1024128" y="1865376"/>
            <a:ext cx="457200" cy="411480"/>
          </a:xfrm>
          <a:prstGeom prst="triangle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19751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Noto Sans JP"/>
                <a:ea typeface="Noto Sans JP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2" y="1773936"/>
            <a:ext cx="4233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放送CGの“なめらかさ”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157984"/>
            <a:ext cx="4187952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672"/>
                </a:solidFill>
                <a:latin typeface="Noto Sans JP"/>
                <a:ea typeface="Noto Sans JP"/>
              </a:rPr>
              <a:t>アニメのカクつきを何度も作り直し。「After Effectsのような滑らかさを」の一言から数十回の調整 → 最終的に GPU で動く方式(FLIP)に到達。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1591056"/>
            <a:ext cx="5285232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54496" y="1591056"/>
            <a:ext cx="128016" cy="13898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6565392" y="1865376"/>
            <a:ext cx="457200" cy="411480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19751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Noto Sans JP"/>
                <a:ea typeface="Noto Sans JP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8896" y="1773936"/>
            <a:ext cx="4233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画面クラッシュとの戦い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87184" y="2157984"/>
            <a:ext cx="4187952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672"/>
                </a:solidFill>
                <a:latin typeface="Noto Sans JP"/>
                <a:ea typeface="Noto Sans JP"/>
              </a:rPr>
              <a:t>React の落とし穴や iPhone Safari のメモリ落ちで真っ赤なエラー画面。原因特定→修正のループで一つずつ潰した。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82112"/>
            <a:ext cx="5285232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182112"/>
            <a:ext cx="128016" cy="1389888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sosceles Triangle 21"/>
          <p:cNvSpPr/>
          <p:nvPr/>
        </p:nvSpPr>
        <p:spPr>
          <a:xfrm>
            <a:off x="1024128" y="3456432"/>
            <a:ext cx="457200" cy="411480"/>
          </a:xfrm>
          <a:prstGeom prst="triangle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35661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Noto Sans JP"/>
                <a:ea typeface="Noto Sans JP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27632" y="3364992"/>
            <a:ext cx="4233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入力のもたつき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3749039"/>
            <a:ext cx="4187952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672"/>
                </a:solidFill>
                <a:latin typeface="Noto Sans JP"/>
                <a:ea typeface="Noto Sans JP"/>
              </a:rPr>
              <a:t>Qシートで1打鍵ごとに数百セルが再描画され“3テンポ遅れ”。描画の最適化で体感ゼロまで改善。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54496" y="3182112"/>
            <a:ext cx="5285232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54496" y="3182112"/>
            <a:ext cx="128016" cy="1389888"/>
          </a:xfrm>
          <a:prstGeom prst="rect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Isosceles Triangle 27"/>
          <p:cNvSpPr/>
          <p:nvPr/>
        </p:nvSpPr>
        <p:spPr>
          <a:xfrm>
            <a:off x="6565392" y="3456432"/>
            <a:ext cx="457200" cy="411480"/>
          </a:xfrm>
          <a:prstGeom prst="triangl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65392" y="35661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Noto Sans JP"/>
                <a:ea typeface="Noto Sans JP"/>
              </a:rPr>
              <a:t>!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8896" y="3364992"/>
            <a:ext cx="4233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“前に作ったやつで”問題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87184" y="3749039"/>
            <a:ext cx="4187952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672"/>
                </a:solidFill>
                <a:latin typeface="Noto Sans JP"/>
                <a:ea typeface="Noto Sans JP"/>
              </a:rPr>
              <a:t>言葉のニュアンスのズレ。過去バージョンの実装を特定し、当時の演出を完全に復元して解決。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" y="4773168"/>
            <a:ext cx="5285232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3232" y="4773168"/>
            <a:ext cx="128016" cy="138988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Isosceles Triangle 33"/>
          <p:cNvSpPr/>
          <p:nvPr/>
        </p:nvSpPr>
        <p:spPr>
          <a:xfrm>
            <a:off x="1024128" y="5047488"/>
            <a:ext cx="457200" cy="411480"/>
          </a:xfrm>
          <a:prstGeom prst="triangle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4128" y="51572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Noto Sans JP"/>
                <a:ea typeface="Noto Sans JP"/>
              </a:rPr>
              <a:t>!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7632" y="4956048"/>
            <a:ext cx="4233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放送事故を絶対に出さない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40096"/>
            <a:ext cx="4187952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672"/>
                </a:solidFill>
                <a:latin typeface="Noto Sans JP"/>
                <a:ea typeface="Noto Sans JP"/>
              </a:rPr>
              <a:t>本番と検証DBを完全分離。「本番に入れて」と明示するまで反映しないルール＋3時間ごと自動バックアップ。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54496" y="4773168"/>
            <a:ext cx="5285232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54496" y="4773168"/>
            <a:ext cx="128016" cy="1389888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Isosceles Triangle 39"/>
          <p:cNvSpPr/>
          <p:nvPr/>
        </p:nvSpPr>
        <p:spPr>
          <a:xfrm>
            <a:off x="6565392" y="5047488"/>
            <a:ext cx="457200" cy="411480"/>
          </a:xfrm>
          <a:prstGeom prst="triangle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65392" y="51572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Noto Sans JP"/>
                <a:ea typeface="Noto Sans JP"/>
              </a:rPr>
              <a:t>!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68896" y="4956048"/>
            <a:ext cx="4233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“現場で本当に使えるか”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87184" y="5340096"/>
            <a:ext cx="4187952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672"/>
                </a:solidFill>
                <a:latin typeface="Noto Sans JP"/>
                <a:ea typeface="Noto Sans JP"/>
              </a:rPr>
              <a:t>機能が動くだけでは不十分。現場の指摘を即反映する往復で、実運用に耐える形に磨き込んだ。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SAFE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安全な進め方 — 検証してから本番へ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0116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011680"/>
            <a:ext cx="2468880" cy="118872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00200" y="2331720"/>
            <a:ext cx="914400" cy="914400"/>
          </a:xfrm>
          <a:prstGeom prst="ellipse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ular Callout 10"/>
          <p:cNvSpPr/>
          <p:nvPr/>
        </p:nvSpPr>
        <p:spPr>
          <a:xfrm>
            <a:off x="1728216" y="2509113"/>
            <a:ext cx="658368" cy="493776"/>
          </a:xfrm>
          <a:prstGeom prst="wedgeRoundRectCallou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92807" y="2723083"/>
            <a:ext cx="65836" cy="658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24481" y="2723083"/>
            <a:ext cx="65836" cy="658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56155" y="2723083"/>
            <a:ext cx="65836" cy="658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3832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F2A37"/>
                </a:solidFill>
                <a:latin typeface="Noto Sans JP"/>
                <a:ea typeface="Noto Sans JP"/>
              </a:rPr>
              <a:t>対話で実装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3794760"/>
            <a:ext cx="213969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5B6672"/>
                </a:solidFill>
                <a:latin typeface="Noto Sans JP"/>
                <a:ea typeface="Noto Sans JP"/>
              </a:rPr>
              <a:t>AIがコードを生成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328416" y="2971800"/>
            <a:ext cx="310896" cy="365760"/>
          </a:xfrm>
          <a:prstGeom prst="rightArrow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75888" y="20116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75888" y="2011680"/>
            <a:ext cx="2468880" cy="11887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453128" y="2331720"/>
            <a:ext cx="914400" cy="914400"/>
          </a:xfrm>
          <a:prstGeom prst="ellipse">
            <a:avLst/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arallelogram 20"/>
          <p:cNvSpPr/>
          <p:nvPr/>
        </p:nvSpPr>
        <p:spPr>
          <a:xfrm>
            <a:off x="4581144" y="2937052"/>
            <a:ext cx="658368" cy="181051"/>
          </a:xfrm>
          <a:prstGeom prst="parallelogram">
            <a:avLst>
              <a:gd name="adj" fmla="val 30000"/>
            </a:avLst>
          </a:prstGeom>
          <a:solidFill>
            <a:srgbClr val="169BA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Parallelogram 21"/>
          <p:cNvSpPr/>
          <p:nvPr/>
        </p:nvSpPr>
        <p:spPr>
          <a:xfrm>
            <a:off x="4581144" y="2805379"/>
            <a:ext cx="658368" cy="181051"/>
          </a:xfrm>
          <a:prstGeom prst="parallelogram">
            <a:avLst>
              <a:gd name="adj" fmla="val 30000"/>
            </a:avLst>
          </a:prstGeom>
          <a:solidFill>
            <a:srgbClr val="4A9DE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Parallelogram 22"/>
          <p:cNvSpPr/>
          <p:nvPr/>
        </p:nvSpPr>
        <p:spPr>
          <a:xfrm>
            <a:off x="4581144" y="2673705"/>
            <a:ext cx="658368" cy="181051"/>
          </a:xfrm>
          <a:prstGeom prst="parallelogram">
            <a:avLst>
              <a:gd name="adj" fmla="val 30000"/>
            </a:avLst>
          </a:prstGeom>
          <a:solidFill>
            <a:srgbClr val="E3EF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33832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F2A37"/>
                </a:solidFill>
                <a:latin typeface="Noto Sans JP"/>
                <a:ea typeface="Noto Sans JP"/>
              </a:rPr>
              <a:t>検証環境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3794760"/>
            <a:ext cx="213969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5B6672"/>
                </a:solidFill>
                <a:latin typeface="Noto Sans JP"/>
                <a:ea typeface="Noto Sans JP"/>
              </a:rPr>
              <a:t>dev.gmo-onair.jp で自動デプロイ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181344" y="2971800"/>
            <a:ext cx="310896" cy="365760"/>
          </a:xfrm>
          <a:prstGeom prst="rightArrow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28816" y="20116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28816" y="2011680"/>
            <a:ext cx="2468880" cy="1188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306056" y="2331720"/>
            <a:ext cx="914400" cy="914400"/>
          </a:xfrm>
          <a:prstGeom prst="ellipse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Pentagon 29"/>
          <p:cNvSpPr/>
          <p:nvPr/>
        </p:nvSpPr>
        <p:spPr>
          <a:xfrm>
            <a:off x="7483449" y="2459736"/>
            <a:ext cx="559612" cy="658368"/>
          </a:xfrm>
          <a:prstGeom prst="homePlat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Pentagon 30"/>
          <p:cNvSpPr/>
          <p:nvPr/>
        </p:nvSpPr>
        <p:spPr>
          <a:xfrm>
            <a:off x="7483449" y="2459736"/>
            <a:ext cx="559612" cy="658368"/>
          </a:xfrm>
          <a:prstGeom prst="homePlat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48041" y="2657246"/>
            <a:ext cx="230428" cy="2304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28816" y="33832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F2A37"/>
                </a:solidFill>
                <a:latin typeface="Noto Sans JP"/>
                <a:ea typeface="Noto Sans JP"/>
              </a:rPr>
              <a:t>動作確認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3408" y="3794760"/>
            <a:ext cx="213969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5B6672"/>
                </a:solidFill>
                <a:latin typeface="Noto Sans JP"/>
                <a:ea typeface="Noto Sans JP"/>
              </a:rPr>
              <a:t>現場でテスト・修正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034272" y="2971800"/>
            <a:ext cx="310896" cy="365760"/>
          </a:xfrm>
          <a:prstGeom prst="rightArrow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381744" y="20116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381744" y="2011680"/>
            <a:ext cx="2468880" cy="118872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158984" y="2331720"/>
            <a:ext cx="914400" cy="914400"/>
          </a:xfrm>
          <a:prstGeom prst="ellipse">
            <a:avLst/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ardrop 38"/>
          <p:cNvSpPr/>
          <p:nvPr/>
        </p:nvSpPr>
        <p:spPr>
          <a:xfrm rot="8100000">
            <a:off x="10451592" y="2459736"/>
            <a:ext cx="329184" cy="510235"/>
          </a:xfrm>
          <a:prstGeom prst="teardrop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542117" y="2640787"/>
            <a:ext cx="148132" cy="1481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Triangle 40"/>
          <p:cNvSpPr/>
          <p:nvPr/>
        </p:nvSpPr>
        <p:spPr>
          <a:xfrm>
            <a:off x="10369296" y="2838297"/>
            <a:ext cx="131673" cy="148132"/>
          </a:xfrm>
          <a:prstGeom prst="rt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ight Triangle 41"/>
          <p:cNvSpPr/>
          <p:nvPr/>
        </p:nvSpPr>
        <p:spPr>
          <a:xfrm rot="5400000">
            <a:off x="10731398" y="2838297"/>
            <a:ext cx="131673" cy="148132"/>
          </a:xfrm>
          <a:prstGeom prst="rt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ardrop 42"/>
          <p:cNvSpPr/>
          <p:nvPr/>
        </p:nvSpPr>
        <p:spPr>
          <a:xfrm rot="10800000">
            <a:off x="10558576" y="2969971"/>
            <a:ext cx="115214" cy="181051"/>
          </a:xfrm>
          <a:prstGeom prst="teardrop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81744" y="33832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F2A37"/>
                </a:solidFill>
                <a:latin typeface="Noto Sans JP"/>
                <a:ea typeface="Noto Sans JP"/>
              </a:rPr>
              <a:t>本番公開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46336" y="3794760"/>
            <a:ext cx="213969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5B6672"/>
                </a:solidFill>
                <a:latin typeface="Noto Sans JP"/>
                <a:ea typeface="Noto Sans JP"/>
              </a:rPr>
              <a:t>承認後に gmo-onair.jp 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2960" y="4800600"/>
            <a:ext cx="10561320" cy="1143000"/>
          </a:xfrm>
          <a:prstGeom prst="roundRect">
            <a:avLst>
              <a:gd name="adj" fmla="val 8000"/>
            </a:avLst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3000" y="49560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2EA06B"/>
                </a:solidFill>
                <a:latin typeface="Noto Sans JP"/>
                <a:ea typeface="Noto Sans JP"/>
              </a:rPr>
              <a:t>ルールで守る本番環境・ガバナンス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532180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2A37"/>
                </a:solidFill>
                <a:latin typeface="Noto Sans JP"/>
                <a:ea typeface="Noto Sans JP"/>
              </a:rPr>
              <a:t>● 本番と検証のDBは完全分離   ● 「本番に入れて」の指示があるまで本番反映しない   ● 3時間ごと自動バックアップ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2A37"/>
                </a:solidFill>
                <a:latin typeface="Noto Sans JP"/>
                <a:ea typeface="Noto Sans JP"/>
              </a:rPr>
              <a:t>● ユーザー権限管理・DBビューア・全データExcelバックアップを標準装備   ● いつでも以前のバージョンに戻せる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DEVELOPMENT CADENCE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改善の密度 — 止まらないアップデート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517904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v0.2 → v2.9.26 まで </a:t>
            </a:r>
            <a:r>
              <a:rPr sz="1400" b="1">
                <a:solidFill>
                  <a:srgbClr val="005BAC"/>
                </a:solidFill>
                <a:latin typeface="Noto Sans JP"/>
                <a:ea typeface="Noto Sans JP"/>
              </a:rPr>
              <a:t>337 回のバージョンアップ</a:t>
            </a: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。直近の1か月だけで </a:t>
            </a:r>
            <a:r>
              <a:rPr sz="1400" b="1">
                <a:solidFill>
                  <a:srgbClr val="F59E0B"/>
                </a:solidFill>
                <a:latin typeface="Noto Sans JP"/>
                <a:ea typeface="Noto Sans JP"/>
              </a:rPr>
              <a:t>150 回以上（1日あたり約4〜5回）</a:t>
            </a: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 を改善デプロイ。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05840" y="4206240"/>
            <a:ext cx="10241280" cy="0"/>
          </a:xfrm>
          <a:prstGeom prst="line">
            <a:avLst/>
          </a:prstGeom>
          <a:ln w="381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316736" y="4059935"/>
            <a:ext cx="292608" cy="292608"/>
          </a:xfrm>
          <a:prstGeom prst="ellipse">
            <a:avLst/>
          </a:prstGeom>
          <a:solidFill>
            <a:srgbClr val="005BAC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1463040" y="3200399"/>
            <a:ext cx="0" cy="859536"/>
          </a:xfrm>
          <a:prstGeom prst="line">
            <a:avLst/>
          </a:prstGeom>
          <a:ln w="20320">
            <a:solidFill>
              <a:srgbClr val="005B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2920" y="2514599"/>
            <a:ext cx="192024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5603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05BAC"/>
                </a:solidFill>
                <a:latin typeface="Arial"/>
                <a:ea typeface="Arial"/>
              </a:rPr>
              <a:t>v2.0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98647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5B6672"/>
                </a:solidFill>
                <a:latin typeface="Noto Sans JP"/>
                <a:ea typeface="Noto Sans JP"/>
              </a:rPr>
              <a:t>デザイン刷新</a:t>
            </a:r>
          </a:p>
        </p:txBody>
      </p:sp>
      <p:sp>
        <p:nvSpPr>
          <p:cNvPr id="15" name="Oval 14"/>
          <p:cNvSpPr/>
          <p:nvPr/>
        </p:nvSpPr>
        <p:spPr>
          <a:xfrm>
            <a:off x="3694176" y="4059935"/>
            <a:ext cx="292608" cy="292608"/>
          </a:xfrm>
          <a:prstGeom prst="ellipse">
            <a:avLst/>
          </a:prstGeom>
          <a:solidFill>
            <a:srgbClr val="169BA0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3840480" y="4352544"/>
            <a:ext cx="0" cy="448055"/>
          </a:xfrm>
          <a:prstGeom prst="line">
            <a:avLst/>
          </a:prstGeom>
          <a:ln w="20320">
            <a:solidFill>
              <a:srgbClr val="169B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4800599"/>
            <a:ext cx="192024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69BA0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0" y="4846319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69BA0"/>
                </a:solidFill>
                <a:latin typeface="Arial"/>
                <a:ea typeface="Arial"/>
              </a:rPr>
              <a:t>v2.5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5184647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5B6672"/>
                </a:solidFill>
                <a:latin typeface="Noto Sans JP"/>
                <a:ea typeface="Noto Sans JP"/>
              </a:rPr>
              <a:t>ブランチ運用整備</a:t>
            </a:r>
          </a:p>
        </p:txBody>
      </p:sp>
      <p:sp>
        <p:nvSpPr>
          <p:cNvPr id="20" name="Oval 19"/>
          <p:cNvSpPr/>
          <p:nvPr/>
        </p:nvSpPr>
        <p:spPr>
          <a:xfrm>
            <a:off x="6071616" y="4059935"/>
            <a:ext cx="292608" cy="292608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6217920" y="3200399"/>
            <a:ext cx="0" cy="859536"/>
          </a:xfrm>
          <a:prstGeom prst="line">
            <a:avLst/>
          </a:prstGeom>
          <a:ln w="20320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257800" y="2514599"/>
            <a:ext cx="192024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F59E0B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0" y="25603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59E0B"/>
                </a:solidFill>
                <a:latin typeface="Arial"/>
                <a:ea typeface="Arial"/>
              </a:rPr>
              <a:t>v2.8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2898647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5B6672"/>
                </a:solidFill>
                <a:latin typeface="Noto Sans JP"/>
                <a:ea typeface="Noto Sans JP"/>
              </a:rPr>
              <a:t>リアルタイムCG
演出強化</a:t>
            </a:r>
          </a:p>
        </p:txBody>
      </p:sp>
      <p:sp>
        <p:nvSpPr>
          <p:cNvPr id="25" name="Oval 24"/>
          <p:cNvSpPr/>
          <p:nvPr/>
        </p:nvSpPr>
        <p:spPr>
          <a:xfrm>
            <a:off x="8449056" y="4059935"/>
            <a:ext cx="292608" cy="292608"/>
          </a:xfrm>
          <a:prstGeom prst="ellipse">
            <a:avLst/>
          </a:prstGeom>
          <a:solidFill>
            <a:srgbClr val="2EA06B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595360" y="4352544"/>
            <a:ext cx="0" cy="448055"/>
          </a:xfrm>
          <a:prstGeom prst="line">
            <a:avLst/>
          </a:prstGeom>
          <a:ln w="20320">
            <a:solidFill>
              <a:srgbClr val="2EA0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635240" y="4800599"/>
            <a:ext cx="192024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EA06B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0" y="4846319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EA06B"/>
                </a:solidFill>
                <a:latin typeface="Arial"/>
                <a:ea typeface="Arial"/>
              </a:rPr>
              <a:t>v2.9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5184647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5B6672"/>
                </a:solidFill>
                <a:latin typeface="Noto Sans JP"/>
                <a:ea typeface="Noto Sans JP"/>
              </a:rPr>
              <a:t>CG⇄インタラクティブ
連携</a:t>
            </a:r>
          </a:p>
        </p:txBody>
      </p:sp>
      <p:sp>
        <p:nvSpPr>
          <p:cNvPr id="30" name="Oval 29"/>
          <p:cNvSpPr/>
          <p:nvPr/>
        </p:nvSpPr>
        <p:spPr>
          <a:xfrm>
            <a:off x="10826496" y="4059935"/>
            <a:ext cx="292608" cy="292608"/>
          </a:xfrm>
          <a:prstGeom prst="ellipse">
            <a:avLst/>
          </a:prstGeom>
          <a:solidFill>
            <a:srgbClr val="D94B4B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10972800" y="3200399"/>
            <a:ext cx="0" cy="859536"/>
          </a:xfrm>
          <a:prstGeom prst="line">
            <a:avLst/>
          </a:prstGeom>
          <a:ln w="20320">
            <a:solidFill>
              <a:srgbClr val="D94B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0012680" y="2514599"/>
            <a:ext cx="192024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D94B4B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0" y="25603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D94B4B"/>
                </a:solidFill>
                <a:latin typeface="Arial"/>
                <a:ea typeface="Arial"/>
              </a:rPr>
              <a:t>v2.9.26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2898647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5B6672"/>
                </a:solidFill>
                <a:latin typeface="Noto Sans JP"/>
                <a:ea typeface="Noto Sans JP"/>
              </a:rPr>
              <a:t>出題システム
共通化（最新）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A939E"/>
                </a:solidFill>
                <a:latin typeface="Noto Sans JP"/>
                <a:ea typeface="Noto Sans JP"/>
              </a:rPr>
              <a:t>※ バージョンは v1 → v2.9.26 まで小刻みに前進。大きな作り直しではなく、現場の声で日々アップデート。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数字で見る成果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2880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2606040" cy="128016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212848"/>
            <a:ext cx="26060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>
                <a:solidFill>
                  <a:srgbClr val="005BAC"/>
                </a:solidFill>
                <a:latin typeface="Arial"/>
                <a:ea typeface="Arial"/>
              </a:rPr>
              <a:t>6</a:t>
            </a: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  ブロックアプリ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34440" y="3310128"/>
            <a:ext cx="1691640" cy="0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60120" y="342900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672"/>
                </a:solidFill>
                <a:latin typeface="Noto Sans JP"/>
                <a:ea typeface="Noto Sans JP"/>
              </a:rPr>
              <a:t>1プラットフォームに統合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11880" y="182880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11880" y="1828800"/>
            <a:ext cx="2606040" cy="128016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80" y="2212848"/>
            <a:ext cx="26060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>
                <a:solidFill>
                  <a:srgbClr val="169BA0"/>
                </a:solidFill>
                <a:latin typeface="Arial"/>
                <a:ea typeface="Arial"/>
              </a:rPr>
              <a:t>1</a:t>
            </a: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  つの背番号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069080" y="3310128"/>
            <a:ext cx="1691640" cy="0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794760" y="342900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672"/>
                </a:solidFill>
                <a:latin typeface="Noto Sans JP"/>
                <a:ea typeface="Noto Sans JP"/>
              </a:rPr>
              <a:t>GLS番号で全データ連携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182880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46520" y="1828800"/>
            <a:ext cx="2606040" cy="1280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212848"/>
            <a:ext cx="26060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>
                <a:solidFill>
                  <a:srgbClr val="F59E0B"/>
                </a:solidFill>
                <a:latin typeface="Arial"/>
                <a:ea typeface="Arial"/>
              </a:rPr>
              <a:t>0</a:t>
            </a: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  外注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903720" y="3310128"/>
            <a:ext cx="1691640" cy="0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629400" y="342900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672"/>
                </a:solidFill>
                <a:latin typeface="Noto Sans JP"/>
                <a:ea typeface="Noto Sans JP"/>
              </a:rPr>
              <a:t>社内＋AI対話で内製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182880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81160" y="1828800"/>
            <a:ext cx="2606040" cy="128016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81160" y="2212848"/>
            <a:ext cx="26060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>
                <a:solidFill>
                  <a:srgbClr val="2EA06B"/>
                </a:solidFill>
                <a:latin typeface="Arial"/>
                <a:ea typeface="Arial"/>
              </a:rPr>
              <a:t>3h</a:t>
            </a: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  ごと自動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38360" y="3310128"/>
            <a:ext cx="1691640" cy="0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464040" y="342900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672"/>
                </a:solidFill>
                <a:latin typeface="Noto Sans JP"/>
                <a:ea typeface="Noto Sans JP"/>
              </a:rPr>
              <a:t>DBバックアップで安心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526280"/>
            <a:ext cx="10607040" cy="1371600"/>
          </a:xfrm>
          <a:prstGeom prst="roundRect">
            <a:avLst>
              <a:gd name="adj" fmla="val 8000"/>
            </a:avLst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681728"/>
            <a:ext cx="1005840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F2A37"/>
                </a:solidFill>
                <a:latin typeface="Noto Sans JP"/>
                <a:ea typeface="Noto Sans JP"/>
              </a:rPr>
              <a:t>見積から本番・請求まで、</a:t>
            </a:r>
            <a:r>
              <a:rPr sz="1600" b="1">
                <a:solidFill>
                  <a:srgbClr val="005BAC"/>
                </a:solidFill>
                <a:latin typeface="Noto Sans JP"/>
                <a:ea typeface="Noto Sans JP"/>
              </a:rPr>
              <a:t>バラバラだった制作業務を“1つのOS”に。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既に実データで稼働中 — 案件28・売上明細124・機材462・タスク81 を一元管理。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5B6672"/>
                </a:solidFill>
                <a:latin typeface="Noto Sans JP"/>
                <a:ea typeface="Noto Sans JP"/>
              </a:rPr>
              <a:t>しかもその進化は、社長や現場との対話そのものから生まれ続けています。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これから — さらに“つながる”へ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106070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783080"/>
            <a:ext cx="1691640" cy="1024128"/>
          </a:xfrm>
          <a:prstGeom prst="roundRect">
            <a:avLst>
              <a:gd name="adj" fmla="val 8000"/>
            </a:avLst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</a:rPr>
              <a:t>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947672"/>
            <a:ext cx="6583680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6アプリ統合・DADSデザイン・自動デプロイ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947672"/>
            <a:ext cx="1828800" cy="6949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2EA06B"/>
                </a:solidFill>
                <a:latin typeface="Noto Sans JP"/>
                <a:ea typeface="Noto Sans JP"/>
              </a:rPr>
              <a:t>✓ 完了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35224"/>
            <a:ext cx="106070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935224"/>
            <a:ext cx="1691640" cy="1024128"/>
          </a:xfrm>
          <a:prstGeom prst="roundRect">
            <a:avLst>
              <a:gd name="adj" fmla="val 8000"/>
            </a:avLst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</a:rPr>
              <a:t>NOW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099816"/>
            <a:ext cx="6583680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リアルタイムCG ⇄ インタラクティブ連携の高度化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3099816"/>
            <a:ext cx="1828800" cy="6949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05BAC"/>
                </a:solidFill>
                <a:latin typeface="Noto Sans JP"/>
                <a:ea typeface="Noto Sans JP"/>
              </a:rPr>
              <a:t>● 進行中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087368"/>
            <a:ext cx="106070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087368"/>
            <a:ext cx="1691640" cy="1024128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</a:rPr>
              <a:t>NEXT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4251960"/>
            <a:ext cx="6583680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BOX連携（フォルダ自動生成・PDF自動保存・電子署名）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4251960"/>
            <a:ext cx="1828800" cy="6949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59E0B"/>
                </a:solidFill>
                <a:latin typeface="Noto Sans JP"/>
                <a:ea typeface="Noto Sans JP"/>
              </a:rPr>
              <a:t>→ 次の一手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239512"/>
            <a:ext cx="106070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5239512"/>
            <a:ext cx="1691640" cy="1024128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</a:rPr>
              <a:t>LATER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5404104"/>
            <a:ext cx="6583680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認証統一・制作支援アプリ・マルチテナント化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5404104"/>
            <a:ext cx="1828800" cy="6949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7C5CD6"/>
                </a:solidFill>
                <a:latin typeface="Noto Sans JP"/>
                <a:ea typeface="Noto Sans JP"/>
              </a:rPr>
              <a:t>… 構想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2286000"/>
            <a:ext cx="6400800" cy="64008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011680" y="3474720"/>
            <a:ext cx="5029200" cy="5029200"/>
          </a:xfrm>
          <a:prstGeom prst="ellipse">
            <a:avLst/>
          </a:prstGeom>
          <a:solidFill>
            <a:srgbClr val="4A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Noto Sans JP"/>
                <a:ea typeface="Noto Sans JP"/>
              </a:rPr>
              <a:t>制作の“あたりまえ”を、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DECC8"/>
                </a:solidFill>
                <a:latin typeface="Noto Sans JP"/>
                <a:ea typeface="Noto Sans JP"/>
              </a:rPr>
              <a:t>私たちの手でアップデートする。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68680" y="3611880"/>
            <a:ext cx="5074920" cy="0"/>
          </a:xfrm>
          <a:prstGeom prst="line">
            <a:avLst/>
          </a:prstGeom>
          <a:ln w="25400">
            <a:solidFill>
              <a:srgbClr val="4A9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41248" y="37947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Noto Sans JP"/>
                <a:ea typeface="Noto Sans JP"/>
              </a:rPr>
              <a:t>GMO ONAiR は、現場との対話から生まれ、対話で育ち続ける“会社OS”です。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3EFFA"/>
                </a:solidFill>
                <a:latin typeface="Noto Sans JP"/>
                <a:ea typeface="Noto Sans JP"/>
              </a:rPr>
              <a:t>外注に頼らず、私たちのペースで、必要な機能を必要なだけ。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5212080"/>
            <a:ext cx="36576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005BAC"/>
                </a:solidFill>
                <a:latin typeface="Noto Sans JP"/>
                <a:ea typeface="Noto Sans JP"/>
              </a:rPr>
              <a:t>ご清聴ありがとうございました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4008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3EFFA"/>
                </a:solidFill>
                <a:latin typeface="Noto Sans JP"/>
                <a:ea typeface="Noto Sans JP"/>
              </a:rPr>
              <a:t>GMO GLOBAL STUDIO  |  GMO ONAiR  v2.9.26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