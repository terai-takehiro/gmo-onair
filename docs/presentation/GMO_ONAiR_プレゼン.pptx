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4206240" cy="420624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GMO GLOBAL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317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DECC8"/>
                </a:solidFill>
                <a:latin typeface="Meiryo"/>
                <a:ea typeface="Meiryo"/>
              </a:rPr>
              <a:t>制作のすべてをつなぐ、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Meiryo"/>
                <a:ea typeface="Meiryo"/>
              </a:rPr>
              <a:t>私たちの“会社OS”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892040"/>
            <a:ext cx="489204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社長プレゼン資料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E3EFFA"/>
                </a:solidFill>
                <a:latin typeface="Meiryo"/>
                <a:ea typeface="Meiryo"/>
              </a:rPr>
              <a:t>このアプリでできること ／ 対話（バイブコーディング）での作り方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09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E3EFFA"/>
                </a:solidFill>
                <a:latin typeface="Meiryo"/>
                <a:ea typeface="Meiryo"/>
              </a:rPr>
              <a:t>v2.9.26  |  6つのブロックアプリを単一プラットフォームに統合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一言でいうと — 制作会社のための“会社OS”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993392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バラバラだった </a:t>
            </a:r>
            <a:r>
              <a:rPr sz="2000" b="1">
                <a:solidFill>
                  <a:srgbClr val="005BAC"/>
                </a:solidFill>
                <a:latin typeface="Meiryo"/>
                <a:ea typeface="Meiryo"/>
              </a:rPr>
              <a:t>見積・台本・機材・本番・CG </a:t>
            </a: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を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5BAC"/>
                </a:solidFill>
                <a:latin typeface="Meiryo"/>
                <a:ea typeface="Meiryo"/>
              </a:rPr>
              <a:t>1つの画面・1つの番号でつなぐ</a:t>
            </a:r>
            <a:r>
              <a:rPr sz="2000" b="1">
                <a:solidFill>
                  <a:srgbClr val="1F2A37"/>
                </a:solidFill>
                <a:latin typeface="Meiryo"/>
                <a:ea typeface="Meiryo"/>
              </a:rPr>
              <a:t> 統合プラットフォーム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3310128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75104" y="3840480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370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7802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ひとつにつながる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GLS番号で全アプリのデータが自動連携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25696" y="3520440"/>
            <a:ext cx="3310128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77840" y="3840480"/>
            <a:ext cx="1005840" cy="100584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715000" y="4507992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5715000" y="4361688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5715000" y="4215384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296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6つの専用アプリ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案件・台本・機材・技術・本番・CGを網羅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1" y="3520440"/>
            <a:ext cx="331012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80576" y="3840480"/>
            <a:ext cx="1005840" cy="100584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ular Callout 27"/>
          <p:cNvSpPr/>
          <p:nvPr/>
        </p:nvSpPr>
        <p:spPr>
          <a:xfrm>
            <a:off x="9317736" y="4032504"/>
            <a:ext cx="731520" cy="54864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00616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46920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3224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対話で内製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Meiryo"/>
                <a:ea typeface="Meiryo"/>
              </a:rPr>
              <a:t>外注ゼロ・チャット指示でアプリを進化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課題：ツールが点在して情報が分断していた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Meiryo"/>
                <a:ea typeface="Meiryo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Excel 見積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紙の台本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機材リスト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別々の進行表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手作業のCG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メール連絡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Meiryo"/>
                <a:ea typeface="Meiryo"/>
              </a:rPr>
              <a:t>点在・二重入力・属人化・転記ミス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657600"/>
            <a:ext cx="777240" cy="8229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Meiryo"/>
                <a:ea typeface="Meiryo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1965960"/>
            <a:ext cx="4480560" cy="41148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1080" y="3246120"/>
            <a:ext cx="1005840" cy="1005840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GMO
ONAiR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240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Meiryo"/>
                <a:ea typeface="Meiryo"/>
              </a:rPr>
              <a:t>ひとつの画面に統合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37"/>
                </a:solidFill>
                <a:latin typeface="Meiryo"/>
                <a:ea typeface="Meiryo"/>
              </a:rPr>
              <a:t>入力は1回。データは自動でつながる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59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案件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台本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機材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69880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技術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本番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Meiryo"/>
                <a:ea typeface="Meiryo"/>
              </a:rPr>
              <a:t>CG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Meiryo"/>
                <a:ea typeface="Meiryo"/>
              </a:rPr>
              <a:t>入力1回 / 自動連携 / リアルタイム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全体像 — 6つの専用アプリ＋共通基盤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9933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38528"/>
            <a:ext cx="868680" cy="86868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0264" y="2402860"/>
            <a:ext cx="119969" cy="22494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2720" y="2282891"/>
            <a:ext cx="119969" cy="344911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176" y="2162921"/>
            <a:ext cx="119969" cy="464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2327879"/>
            <a:ext cx="119969" cy="29992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575145" y="2057948"/>
            <a:ext cx="179953" cy="314919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7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Arial"/>
                <a:ea typeface="Arial"/>
              </a:rPr>
              <a:t>Project &amp;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提案 → 受注 → 制作 → 請求まで、案件のお金と進捗をまるごと管理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627632"/>
            <a:ext cx="128016" cy="19933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8304" y="1938528"/>
            <a:ext cx="868680" cy="86868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27701" y="2072944"/>
            <a:ext cx="449884" cy="59984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2682" y="2207910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2682" y="2327879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682" y="2447848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02682" y="2567818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76439" y="2196663"/>
            <a:ext cx="52486" cy="5248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144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42431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Arial"/>
                <a:ea typeface="Arial"/>
              </a:rPr>
              <a:t>Rundown /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進行台本（Qシート）の作成と本番のリアルタイム進行同期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9" y="1627632"/>
            <a:ext cx="128016" cy="19933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7" y="1938528"/>
            <a:ext cx="868680" cy="86868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ear 9 33"/>
          <p:cNvSpPr/>
          <p:nvPr/>
        </p:nvSpPr>
        <p:spPr>
          <a:xfrm>
            <a:off x="8550188" y="2057948"/>
            <a:ext cx="629838" cy="629838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60134" y="2267894"/>
            <a:ext cx="209946" cy="2099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6607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5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</a:rPr>
              <a:t>Equipment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5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カメラ・ケーブル・コネクタまで機材台帳と貸出を一元管理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3895344"/>
            <a:ext cx="128016" cy="1993392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206240"/>
            <a:ext cx="868680" cy="86868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70249" y="4490618"/>
            <a:ext cx="539861" cy="344911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65199" y="4415637"/>
            <a:ext cx="164957" cy="8997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27708" y="4565599"/>
            <a:ext cx="224942" cy="2249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380195" y="4618085"/>
            <a:ext cx="119969" cy="119969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11680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7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5CD6"/>
                </a:solidFill>
                <a:latin typeface="Arial"/>
                <a:ea typeface="Arial"/>
              </a:rPr>
              <a:t>Tech Sheet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カメラ・映像・音声・通信の技術仕様書をデジタル化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25696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3895344"/>
            <a:ext cx="128016" cy="199339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206240"/>
            <a:ext cx="868680" cy="86868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97709" y="4415637"/>
            <a:ext cx="509869" cy="50986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2659" y="4295668"/>
            <a:ext cx="119969" cy="749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152644" y="4535606"/>
            <a:ext cx="0" cy="134966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52644" y="4670572"/>
            <a:ext cx="97475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2651" y="4640579"/>
            <a:ext cx="59984" cy="59984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4144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42431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Arial"/>
                <a:ea typeface="Arial"/>
              </a:rPr>
              <a:t>Live Ops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36592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本番当日のオペレーション・進行・計時をサポート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59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38159" y="3895344"/>
            <a:ext cx="128016" cy="19933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206240"/>
            <a:ext cx="868680" cy="868680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65184" y="4415637"/>
            <a:ext cx="599846" cy="38990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625169" y="4475622"/>
            <a:ext cx="479877" cy="2699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75131" y="4805537"/>
            <a:ext cx="179953" cy="52486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ightning Bolt 65"/>
          <p:cNvSpPr/>
          <p:nvPr/>
        </p:nvSpPr>
        <p:spPr>
          <a:xfrm>
            <a:off x="8790127" y="4505614"/>
            <a:ext cx="149961" cy="20994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36607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54895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4B4B"/>
                </a:solidFill>
                <a:latin typeface="Arial"/>
                <a:ea typeface="Arial"/>
              </a:rPr>
              <a:t>Realtime CG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49055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放送用CG（テロップ・ランキング・投票）をライブ送出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APP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案件管理（Project &amp; Finance）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3582" y="1951329"/>
            <a:ext cx="87782" cy="1645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769" y="1863547"/>
            <a:ext cx="87782" cy="2523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5956" y="1775764"/>
            <a:ext cx="87782" cy="3401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1896465"/>
            <a:ext cx="87782" cy="219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1113739" y="1698955"/>
            <a:ext cx="131673" cy="230428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提案 → 受注 → 制作 → 請求まで、案件のお金と進捗をまるごと管理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売上・仕入・損益をリアルタイム集計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ヨミ〜完了のステージ管理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GLS番号の自動発番・請求書PDF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見積から請求まで数字が一気通貫。損益が“今”わかる。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85232" y="2578608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43" name="Oval 42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案件一覧</a:t>
            </a:r>
          </a:p>
        </p:txBody>
      </p:sp>
      <p:sp>
        <p:nvSpPr>
          <p:cNvPr id="45" name="Oval 44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売上</a:t>
            </a:r>
          </a:p>
        </p:txBody>
      </p:sp>
      <p:sp>
        <p:nvSpPr>
          <p:cNvPr id="47" name="Oval 46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仕入</a:t>
            </a:r>
          </a:p>
        </p:txBody>
      </p:sp>
      <p:sp>
        <p:nvSpPr>
          <p:cNvPr id="49" name="Oval 48"/>
          <p:cNvSpPr/>
          <p:nvPr/>
        </p:nvSpPr>
        <p:spPr>
          <a:xfrm>
            <a:off x="5358384" y="382219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22976" y="3776471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損益</a:t>
            </a:r>
          </a:p>
        </p:txBody>
      </p:sp>
      <p:sp>
        <p:nvSpPr>
          <p:cNvPr id="51" name="Oval 50"/>
          <p:cNvSpPr/>
          <p:nvPr/>
        </p:nvSpPr>
        <p:spPr>
          <a:xfrm>
            <a:off x="5358384" y="411479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22976" y="406907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請求書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案件ダッシュボード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60718" y="2505456"/>
            <a:ext cx="466869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2026年5月 ・ 最終更新 5分前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60718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60718" y="2761487"/>
            <a:ext cx="1043730" cy="5486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33870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進行中案件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33870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05BAC"/>
                </a:solidFill>
                <a:latin typeface="Arial"/>
                <a:ea typeface="Arial"/>
              </a:rPr>
              <a:t>37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件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33870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9040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869040" y="2761487"/>
            <a:ext cx="1043730" cy="54864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42192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今月売上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42192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Arial"/>
                <a:ea typeface="Arial"/>
              </a:rPr>
              <a:t>¥4,820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42192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12%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77363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77363" y="2761487"/>
            <a:ext cx="104373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50515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粗利率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0515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9E0B"/>
                </a:solidFill>
                <a:latin typeface="Arial"/>
                <a:ea typeface="Arial"/>
              </a:rPr>
              <a:t>31.4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50515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2.1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285685" y="2761487"/>
            <a:ext cx="104373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285685" y="2761487"/>
            <a:ext cx="1043730" cy="5486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58837" y="2852927"/>
            <a:ext cx="897426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受注ヨミ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58837" y="2999231"/>
            <a:ext cx="897426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7C5CD6"/>
                </a:solidFill>
                <a:latin typeface="Arial"/>
                <a:ea typeface="Arial"/>
              </a:rPr>
              <a:t>¥1.2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58837" y="3328415"/>
            <a:ext cx="89742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8件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60718" y="3657599"/>
            <a:ext cx="2801218" cy="2112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70446" y="3730751"/>
            <a:ext cx="261833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月次売上推移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16750" y="4876312"/>
            <a:ext cx="214868" cy="637519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07419" y="4678984"/>
            <a:ext cx="214868" cy="834847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698089" y="4785238"/>
            <a:ext cx="214868" cy="72859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088759" y="4451299"/>
            <a:ext cx="214868" cy="106253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79429" y="4572731"/>
            <a:ext cx="214868" cy="94110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70099" y="4223613"/>
            <a:ext cx="214868" cy="12902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626528" y="3657599"/>
            <a:ext cx="1702887" cy="21122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736256" y="3730751"/>
            <a:ext cx="152000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案件ステージ構成</a:t>
            </a:r>
          </a:p>
        </p:txBody>
      </p:sp>
      <p:sp>
        <p:nvSpPr>
          <p:cNvPr id="85" name="Pie 84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18000000"/>
              <a:gd name="adj2" fmla="val 3000000"/>
            </a:avLst>
          </a:prstGeom>
          <a:solidFill>
            <a:srgbClr val="005BA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ie 85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3000000"/>
              <a:gd name="adj2" fmla="val 15000000"/>
            </a:avLst>
          </a:prstGeom>
          <a:solidFill>
            <a:srgbClr val="4A9D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ie 86"/>
          <p:cNvSpPr/>
          <p:nvPr/>
        </p:nvSpPr>
        <p:spPr>
          <a:xfrm>
            <a:off x="9967106" y="4276017"/>
            <a:ext cx="1021732" cy="1021732"/>
          </a:xfrm>
          <a:prstGeom prst="pie">
            <a:avLst>
              <a:gd name="adj1" fmla="val 15000000"/>
              <a:gd name="adj2" fmla="val 18000000"/>
            </a:avLst>
          </a:prstGeom>
          <a:solidFill>
            <a:srgbClr val="F59E0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222539" y="4531450"/>
            <a:ext cx="510866" cy="51086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実際の画面イメージ（案件管理）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9BA0"/>
                </a:solidFill>
                <a:latin typeface="Meiryo"/>
                <a:ea typeface="Meiryo"/>
              </a:rPr>
              <a:t>APP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Qシート（Rundown / OnAir）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09928"/>
            <a:ext cx="329184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1808683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5256" y="1896465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5256" y="1984248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2072030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053" y="1800453"/>
            <a:ext cx="38404" cy="384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進行台本（Qシート）の作成と本番のリアルタイム進行同期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台本・ランダウンを共同編集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OnAir↔ランダウンを即時同期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プロンプター・音声香盤に対応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本番中の進行変更も全員の画面に即反映。事故を防ぐ。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gmo-onair.jp/qsheet/rundown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41" name="Oval 40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エディタ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ランダウン</a:t>
            </a:r>
          </a:p>
        </p:txBody>
      </p:sp>
      <p:sp>
        <p:nvSpPr>
          <p:cNvPr id="46" name="Oval 45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OnAir</a:t>
            </a:r>
          </a:p>
        </p:txBody>
      </p:sp>
      <p:sp>
        <p:nvSpPr>
          <p:cNvPr id="48" name="Oval 47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プロンプター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ランダウン ｜ GLS-A012 収録台本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15016" y="2212848"/>
            <a:ext cx="868680" cy="27432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ON AIR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0718" y="2615184"/>
            <a:ext cx="4668697" cy="237744"/>
          </a:xfrm>
          <a:prstGeom prst="rect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06438" y="2633472"/>
            <a:ext cx="39903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5472" y="2633472"/>
            <a:ext cx="67835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時間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83830" y="2633472"/>
            <a:ext cx="207497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58806" y="2633472"/>
            <a:ext cx="7980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出演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56874" y="2633472"/>
            <a:ext cx="718261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60718" y="2852928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24726" y="2852928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3760" y="2852928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00:30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02118" y="2852928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オープニング映像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7094" y="2852928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75162" y="2852928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60718" y="3445459"/>
            <a:ext cx="4668697" cy="592531"/>
          </a:xfrm>
          <a:prstGeom prst="rect">
            <a:avLst/>
          </a:prstGeom>
          <a:solidFill>
            <a:srgbClr val="FFF4F4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60718" y="3445459"/>
            <a:ext cx="54864" cy="592531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4726" y="3445459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23760" y="3445459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02:00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02118" y="3445459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MC あいさつ・導入トーク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7094" y="3445459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田中 / 佐藤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75162" y="3445459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60718" y="4037990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726" y="4037990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23760" y="4037990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05:30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02118" y="4037990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VTR① 事例紹介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7094" y="4037990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75162" y="4037990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60718" y="4630521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726" y="4630521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23760" y="4630521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03:00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02118" y="4630521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ゲストトーク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7094" y="4630521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鈴木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75162" y="4630521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60718" y="5223052"/>
            <a:ext cx="4668697" cy="592531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24726" y="5223052"/>
            <a:ext cx="307593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23760" y="5223052"/>
            <a:ext cx="586917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01:30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02118" y="5223052"/>
            <a:ext cx="1983536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エンディング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77094" y="5223052"/>
            <a:ext cx="706628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全員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75162" y="5223052"/>
            <a:ext cx="626821" cy="59253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実際の画面イメージ（Qシート）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9E0B"/>
                </a:solidFill>
                <a:latin typeface="Meiryo"/>
                <a:ea typeface="Meiryo"/>
              </a:rPr>
              <a:t>APP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機材管理（Equipment）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ear 9 8"/>
          <p:cNvSpPr/>
          <p:nvPr/>
        </p:nvSpPr>
        <p:spPr>
          <a:xfrm>
            <a:off x="784555" y="1698955"/>
            <a:ext cx="460857" cy="46085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8174" y="1852574"/>
            <a:ext cx="153619" cy="1536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カメラ・ケーブル・コネクタまで機材台帳と貸出を一元管理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機材台帳・在庫・メンテ履歴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QRスキャンで貸出/返却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Excel入出力・ラック図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“あの機材どこ？”が消える。貸出も返却もスマホで完結。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gmo-onair.jp/equipment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37" name="Oval 36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42" name="Oval 41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ケーブル</a:t>
            </a:r>
          </a:p>
        </p:txBody>
      </p:sp>
      <p:sp>
        <p:nvSpPr>
          <p:cNvPr id="44" name="Oval 43"/>
          <p:cNvSpPr/>
          <p:nvPr/>
        </p:nvSpPr>
        <p:spPr>
          <a:xfrm>
            <a:off x="5358384" y="35295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3483863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46" name="Oval 45"/>
          <p:cNvSpPr/>
          <p:nvPr/>
        </p:nvSpPr>
        <p:spPr>
          <a:xfrm>
            <a:off x="5358384" y="382219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2976" y="3776471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ラック図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0718" y="2560320"/>
            <a:ext cx="2100914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70446" y="2560320"/>
            <a:ext cx="2100914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🔍 機材名・型番で検索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74936" y="2560320"/>
            <a:ext cx="731520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＋ 登録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52176" y="2560320"/>
            <a:ext cx="777240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59E0B"/>
                </a:solidFill>
                <a:latin typeface="Meiryo"/>
                <a:ea typeface="Meiryo"/>
              </a:rPr>
              <a:t>Excel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60718" y="2907791"/>
            <a:ext cx="4668697" cy="237744"/>
          </a:xfrm>
          <a:prstGeom prst="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5582" y="2926079"/>
            <a:ext cx="109422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型番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09808" y="2926079"/>
            <a:ext cx="160486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機材名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14673" y="2926079"/>
            <a:ext cx="364742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79415" y="2926079"/>
            <a:ext cx="94832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設置場所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27744" y="2926079"/>
            <a:ext cx="656535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状態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0718" y="314553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4726" y="314553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PMW-Z750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18952" y="314553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業務用4Kカメラ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23817" y="314553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8559" y="314553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27744" y="3321100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60718" y="367954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4726" y="367954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OCC30N-ARIB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18952" y="367954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光カメラケーブル 30m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23817" y="367954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88559" y="367954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倉庫B-2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727744" y="3855110"/>
            <a:ext cx="548640" cy="182880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在庫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60718" y="4213555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726" y="4213555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UA-MX700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18952" y="4213555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デジタル卓 32ch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23817" y="4213555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88559" y="4213555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副調整室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727744" y="438911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60718" y="4747564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726" y="4747564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PXW-FX9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18952" y="4747564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シネマカメラ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23817" y="4747564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8559" y="4747564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貸出中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727744" y="492312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60718" y="5281574"/>
            <a:ext cx="4668697" cy="534009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24726" y="5281574"/>
            <a:ext cx="1002786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HDC-3500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8952" y="5281574"/>
            <a:ext cx="1513424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システムカメラ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23817" y="5281574"/>
            <a:ext cx="273302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8559" y="5281574"/>
            <a:ext cx="856889" cy="5340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727744" y="545713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実際の画面イメージ（機材管理）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C5CD6"/>
                </a:solidFill>
                <a:latin typeface="Meiryo"/>
                <a:ea typeface="Meiryo"/>
              </a:rPr>
              <a:t>APP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技術資料（Tech Sheet）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7473" y="1819655"/>
            <a:ext cx="395020" cy="25237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764792"/>
            <a:ext cx="120700" cy="6583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874519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1092" y="1912924"/>
            <a:ext cx="87782" cy="87782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カメラ・映像・音声・通信の技術仕様書をデジタル化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7C5CD6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案件ごとの技術シート作成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A4印刷レイアウト対応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機材データと連携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7C5CD6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技術仕様の作成・共有・印刷が紙からデジタルへ。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gmo-onair.jp/techsheet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2103120"/>
            <a:ext cx="1284046" cy="3849624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496126" y="2103120"/>
            <a:ext cx="0" cy="3849624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340096" y="2231136"/>
            <a:ext cx="182880" cy="18288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2221991"/>
            <a:ext cx="100972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39" name="Oval 38"/>
          <p:cNvSpPr/>
          <p:nvPr/>
        </p:nvSpPr>
        <p:spPr>
          <a:xfrm>
            <a:off x="5358384" y="26517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2976" y="2606039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資料一覧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85232" y="2871215"/>
            <a:ext cx="1137742" cy="23774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58384" y="2944367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22976" y="2898647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編集</a:t>
            </a:r>
          </a:p>
        </p:txBody>
      </p:sp>
      <p:sp>
        <p:nvSpPr>
          <p:cNvPr id="44" name="Oval 43"/>
          <p:cNvSpPr/>
          <p:nvPr/>
        </p:nvSpPr>
        <p:spPr>
          <a:xfrm>
            <a:off x="5358384" y="32369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2976" y="3191255"/>
            <a:ext cx="97315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印刷プレビュー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718" y="2231136"/>
            <a:ext cx="466869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技術仕様書 ｜ GLS-A012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60718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ヘッダー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56830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カメラ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52942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映像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49054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45166" y="2560320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通信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0718" y="2971800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カメラ台数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60718" y="3136392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52158" y="3136392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8 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86507" y="2971800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カメラ機種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86507" y="3136392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77947" y="3136392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HDC-3500 / PXW-FX9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718" y="3910583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レンズ構成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60718" y="4075175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52158" y="4075175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ズーム ×4, 単焦点 ×2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86507" y="3910583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出力フォーマット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86507" y="4075175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77947" y="4075175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1080/59.94p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60718" y="4849367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ケーブル長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60718" y="5013959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52158" y="5013959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30m / 50m 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86507" y="4849367"/>
            <a:ext cx="224290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特記事項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86507" y="5013959"/>
            <a:ext cx="2242908" cy="646175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77947" y="5013959"/>
            <a:ext cx="2060028" cy="64617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中継車との連携あり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実際の画面イメージ（技術資料）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Meiryo"/>
                <a:ea typeface="Meiryo"/>
              </a:rPr>
              <a:t>APP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ライブ運用（Live Ops）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446" y="1764792"/>
            <a:ext cx="373075" cy="37307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1092" y="1677009"/>
            <a:ext cx="87782" cy="54864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014984" y="1852574"/>
            <a:ext cx="0" cy="98755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4984" y="1951329"/>
            <a:ext cx="71323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93038" y="1929384"/>
            <a:ext cx="43891" cy="43891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本番当日のオペレーション・進行・計時をサポート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番組進行・タイマー表示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視聴者数のリアルタイム計測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Zoom/Teams 参加者連携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進行・計時・視聴者数を1画面で。当日オペが軽くなる。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103120"/>
            <a:ext cx="6263640" cy="3849624"/>
          </a:xfrm>
          <a:prstGeom prst="rect">
            <a:avLst/>
          </a:prstGeom>
          <a:solidFill>
            <a:srgbClr val="10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2249424"/>
            <a:ext cx="58978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ED7E2"/>
                </a:solidFill>
                <a:latin typeface="Meiryo"/>
                <a:ea typeface="Meiryo"/>
              </a:rPr>
              <a:t>本番進行 ｜ 年間表彰式 2026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69880" y="2231136"/>
            <a:ext cx="868680" cy="256032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2606039"/>
            <a:ext cx="3883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>
                <a:solidFill>
                  <a:srgbClr val="FFFFFF"/>
                </a:solidFill>
                <a:latin typeface="Arial"/>
                <a:ea typeface="Arial"/>
              </a:rPr>
              <a:t>01:24:36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5449824"/>
            <a:ext cx="375818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9FADBD"/>
                </a:solidFill>
                <a:latin typeface="Meiryo"/>
                <a:ea typeface="Meiryo"/>
              </a:rPr>
              <a:t>経過時間 ・ 次の転換まで 03:12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08922" y="2560320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91218" y="2615184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視聴者数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1218" y="2761488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EA06B"/>
                </a:solidFill>
                <a:latin typeface="Arial"/>
                <a:ea typeface="Arial"/>
              </a:rPr>
              <a:t>12,480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73741" y="2560320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37" y="2615184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Zoom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6037" y="2761488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4A9DE0"/>
                </a:solidFill>
                <a:latin typeface="Arial"/>
                <a:ea typeface="Arial"/>
              </a:rPr>
              <a:t>3,210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08922" y="4302252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1218" y="4357116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YouTube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91218" y="4503420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D94B4B"/>
                </a:solidFill>
                <a:latin typeface="Arial"/>
                <a:ea typeface="Arial"/>
              </a:rPr>
              <a:t>8,940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73741" y="4302252"/>
            <a:ext cx="973378" cy="1559051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37" y="4357116"/>
            <a:ext cx="881938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Teams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56037" y="4503420"/>
            <a:ext cx="88193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5CD6"/>
                </a:solidFill>
                <a:latin typeface="Arial"/>
                <a:ea typeface="Arial"/>
              </a:rPr>
              <a:t>330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実際の画面イメージ（ライブ運用）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Meiryo"/>
                <a:ea typeface="Meiryo"/>
              </a:rPr>
              <a:t>APP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リアルタイムCG（Realtime CG）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1764792"/>
            <a:ext cx="438912" cy="285292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9419" y="1808683"/>
            <a:ext cx="351129" cy="197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9147" y="2050084"/>
            <a:ext cx="131673" cy="38404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ghtning Bolt 11"/>
          <p:cNvSpPr/>
          <p:nvPr/>
        </p:nvSpPr>
        <p:spPr>
          <a:xfrm>
            <a:off x="960120" y="1830628"/>
            <a:ext cx="109728" cy="153619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放送用CG（テロップ・ランキング・投票）をライブ送出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Meiryo"/>
                <a:ea typeface="Meiryo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下位置CG / 表彰CG 演出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アンケート・クイズの即時集計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Meiryo"/>
                <a:ea typeface="Meiryo"/>
              </a:rPr>
              <a:t>OBS向け透過HTML5出力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D94B4B"/>
                </a:solidFill>
                <a:latin typeface="Meiryo"/>
                <a:ea typeface="Meiryo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専門ソフト級のCG演出を、社内オペレーターだけで送出。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gmo-onair.jp/awards/output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2103120"/>
            <a:ext cx="6263640" cy="3849624"/>
          </a:xfrm>
          <a:prstGeom prst="rect">
            <a:avLst/>
          </a:prstGeom>
          <a:solidFill>
            <a:srgbClr val="0A0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903262" y="2157984"/>
            <a:ext cx="2881274" cy="2386766"/>
          </a:xfrm>
          <a:prstGeom prst="ellipse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0" y="242316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7C96B"/>
                </a:solidFill>
                <a:latin typeface="Arial"/>
                <a:ea typeface="Arial"/>
              </a:rPr>
              <a:t>— THE WINNER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9500" y="2743200"/>
            <a:ext cx="1828800" cy="960120"/>
          </a:xfrm>
          <a:prstGeom prst="roundRect">
            <a:avLst>
              <a:gd name="adj" fmla="val 8000"/>
            </a:avLst>
          </a:prstGeom>
          <a:solidFill>
            <a:srgbClr val="141824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51292" y="2852927"/>
            <a:ext cx="548640" cy="548640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0940" y="34015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グローバルスタジオ賞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40680" y="5239512"/>
            <a:ext cx="5806440" cy="548640"/>
          </a:xfrm>
          <a:prstGeom prst="rect">
            <a:avLst/>
          </a:prstGeom>
          <a:solidFill>
            <a:srgbClr val="10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40680" y="5239512"/>
            <a:ext cx="64008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77840" y="5312664"/>
            <a:ext cx="402336" cy="402336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5312664"/>
            <a:ext cx="50749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田中 太郎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550407"/>
            <a:ext cx="50749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9A961"/>
                </a:solidFill>
                <a:latin typeface="Meiryo"/>
                <a:ea typeface="Meiryo"/>
              </a:rPr>
              <a:t>GMOグローバルスタジオ</a:t>
            </a:r>
            <a:r>
              <a:rPr sz="700" b="0">
                <a:solidFill>
                  <a:srgbClr val="ADB7C4"/>
                </a:solidFill>
                <a:latin typeface="Meiryo"/>
                <a:ea typeface="Meiryo"/>
              </a:rPr>
              <a:t>  ｜  制作部 部長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21240" y="2606039"/>
            <a:ext cx="1152144" cy="118872"/>
          </a:xfrm>
          <a:prstGeom prst="rect">
            <a:avLst/>
          </a:prstGeom>
          <a:solidFill>
            <a:srgbClr val="E7C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921240" y="2788920"/>
            <a:ext cx="768096" cy="118872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21240" y="2971799"/>
            <a:ext cx="512063" cy="118872"/>
          </a:xfrm>
          <a:prstGeom prst="rect">
            <a:avLst/>
          </a:prstGeom>
          <a:solidFill>
            <a:srgbClr val="C4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Meiryo"/>
                <a:ea typeface="Meiryo"/>
              </a:rPr>
              <a:t>▲ 実際の画面イメージ（リアルタイムCG）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SCREEN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実際の画面 — ひとつのデザインで6アプリ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21800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41248" y="2103120"/>
            <a:ext cx="182880" cy="18288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2450592"/>
            <a:ext cx="562264" cy="237744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9536" y="252374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23" name="Oval 22"/>
          <p:cNvSpPr/>
          <p:nvPr/>
        </p:nvSpPr>
        <p:spPr>
          <a:xfrm>
            <a:off x="859536" y="2816351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案件一覧</a:t>
            </a:r>
          </a:p>
        </p:txBody>
      </p:sp>
      <p:sp>
        <p:nvSpPr>
          <p:cNvPr id="25" name="Oval 24"/>
          <p:cNvSpPr/>
          <p:nvPr/>
        </p:nvSpPr>
        <p:spPr>
          <a:xfrm>
            <a:off x="859536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売上</a:t>
            </a:r>
          </a:p>
        </p:txBody>
      </p:sp>
      <p:sp>
        <p:nvSpPr>
          <p:cNvPr id="27" name="Oval 26"/>
          <p:cNvSpPr/>
          <p:nvPr/>
        </p:nvSpPr>
        <p:spPr>
          <a:xfrm>
            <a:off x="859536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仕入</a:t>
            </a:r>
          </a:p>
        </p:txBody>
      </p:sp>
      <p:sp>
        <p:nvSpPr>
          <p:cNvPr id="29" name="Oval 28"/>
          <p:cNvSpPr/>
          <p:nvPr/>
        </p:nvSpPr>
        <p:spPr>
          <a:xfrm>
            <a:off x="859536" y="36941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648455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損益</a:t>
            </a:r>
          </a:p>
        </p:txBody>
      </p:sp>
      <p:sp>
        <p:nvSpPr>
          <p:cNvPr id="31" name="Oval 30"/>
          <p:cNvSpPr/>
          <p:nvPr/>
        </p:nvSpPr>
        <p:spPr>
          <a:xfrm>
            <a:off x="859536" y="39867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941063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請求書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86392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案件ダッシュボード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6392" y="2377440"/>
            <a:ext cx="2436967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2026年5月 ・ 最終更新 5分前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8639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6392" y="2633472"/>
            <a:ext cx="485797" cy="5486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5954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進行中案件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5954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05BAC"/>
                </a:solidFill>
                <a:latin typeface="Arial"/>
                <a:ea typeface="Arial"/>
              </a:rPr>
              <a:t>37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954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678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36782" y="2633472"/>
            <a:ext cx="485797" cy="54864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993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今月売上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993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Arial"/>
                <a:ea typeface="Arial"/>
              </a:rPr>
              <a:t>¥4,820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993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12%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717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7172" y="2633472"/>
            <a:ext cx="485797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6032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粗利率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032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59E0B"/>
                </a:solidFill>
                <a:latin typeface="Arial"/>
                <a:ea typeface="Arial"/>
              </a:rPr>
              <a:t>31.4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6032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2.1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37562" y="2633472"/>
            <a:ext cx="485797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37562" y="2633472"/>
            <a:ext cx="485797" cy="5486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10714" y="2724912"/>
            <a:ext cx="33949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5B6672"/>
                </a:solidFill>
                <a:latin typeface="Meiryo"/>
                <a:ea typeface="Meiryo"/>
              </a:rPr>
              <a:t>受注ヨミ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10714" y="2871215"/>
            <a:ext cx="33949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7C5CD6"/>
                </a:solidFill>
                <a:latin typeface="Arial"/>
                <a:ea typeface="Arial"/>
              </a:rPr>
              <a:t>¥1.2</a:t>
            </a: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0714" y="3200400"/>
            <a:ext cx="339493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EA06B"/>
                </a:solidFill>
                <a:latin typeface="Meiryo"/>
                <a:ea typeface="Meiryo"/>
              </a:rPr>
              <a:t>▲ 8件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86392" y="3529584"/>
            <a:ext cx="1462180" cy="-548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96120" y="3602736"/>
            <a:ext cx="12793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月次売上推移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2424" y="3491362"/>
            <a:ext cx="92123" cy="-2726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09921" y="3575761"/>
            <a:ext cx="92123" cy="-35707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77418" y="3530315"/>
            <a:ext cx="92123" cy="-311627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344914" y="3673144"/>
            <a:ext cx="92123" cy="-454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12411" y="3621206"/>
            <a:ext cx="92123" cy="-40251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79908" y="3770528"/>
            <a:ext cx="92123" cy="-55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213165" y="3529584"/>
            <a:ext cx="810194" cy="-548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22893" y="3602736"/>
            <a:ext cx="627314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Meiryo"/>
                <a:ea typeface="Meiryo"/>
              </a:rPr>
              <a:t>案件ステージ構成</a:t>
            </a:r>
          </a:p>
        </p:txBody>
      </p:sp>
      <p:sp>
        <p:nvSpPr>
          <p:cNvPr id="65" name="Pie 64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18000000"/>
              <a:gd name="adj2" fmla="val 3000000"/>
            </a:avLst>
          </a:prstGeom>
          <a:solidFill>
            <a:srgbClr val="005BA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Pie 65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3000000"/>
              <a:gd name="adj2" fmla="val 15000000"/>
            </a:avLst>
          </a:prstGeom>
          <a:solidFill>
            <a:srgbClr val="4A9D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ie 66"/>
          <p:cNvSpPr/>
          <p:nvPr/>
        </p:nvSpPr>
        <p:spPr>
          <a:xfrm>
            <a:off x="3634721" y="3591763"/>
            <a:ext cx="-32918" cy="-32918"/>
          </a:xfrm>
          <a:prstGeom prst="pie">
            <a:avLst>
              <a:gd name="adj1" fmla="val 15000000"/>
              <a:gd name="adj2" fmla="val 18000000"/>
            </a:avLst>
          </a:prstGeom>
          <a:solidFill>
            <a:srgbClr val="F59E0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626492" y="3583533"/>
            <a:ext cx="-16459" cy="-164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22960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25696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25696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25696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53712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718303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882896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138928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66944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rundown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25696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134264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4553712" y="2103120"/>
            <a:ext cx="182880" cy="18288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1456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82" name="Oval 81"/>
          <p:cNvSpPr/>
          <p:nvPr/>
        </p:nvSpPr>
        <p:spPr>
          <a:xfrm>
            <a:off x="4572000" y="2523744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36592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エディタ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98848" y="274320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572000" y="2816351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36592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ランダウン</a:t>
            </a:r>
          </a:p>
        </p:txBody>
      </p:sp>
      <p:sp>
        <p:nvSpPr>
          <p:cNvPr id="87" name="Oval 86"/>
          <p:cNvSpPr/>
          <p:nvPr/>
        </p:nvSpPr>
        <p:spPr>
          <a:xfrm>
            <a:off x="4572000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36592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OnAir</a:t>
            </a:r>
          </a:p>
        </p:txBody>
      </p:sp>
      <p:sp>
        <p:nvSpPr>
          <p:cNvPr id="89" name="Oval 88"/>
          <p:cNvSpPr/>
          <p:nvPr/>
        </p:nvSpPr>
        <p:spPr>
          <a:xfrm>
            <a:off x="4572000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36592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プロンプター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98856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ランダウン ｜ GLS-A012 収録台本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21423" y="2084832"/>
            <a:ext cx="868680" cy="27432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ON AIR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98856" y="2487168"/>
            <a:ext cx="2436967" cy="237744"/>
          </a:xfrm>
          <a:prstGeom prst="rect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4576" y="2505456"/>
            <a:ext cx="20828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52864" y="2505456"/>
            <a:ext cx="35408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時間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06953" y="2505456"/>
            <a:ext cx="1083096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90050" y="2505456"/>
            <a:ext cx="416575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出演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25" y="2505456"/>
            <a:ext cx="37491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69BA0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98856" y="2724912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62864" y="2724912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71152" y="2724912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00:30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925241" y="2724912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オープニング映像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08338" y="2724912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24913" y="2724912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298856" y="2884017"/>
            <a:ext cx="2436967" cy="159105"/>
          </a:xfrm>
          <a:prstGeom prst="rect">
            <a:avLst/>
          </a:prstGeom>
          <a:solidFill>
            <a:srgbClr val="FFF4F4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98856" y="2884017"/>
            <a:ext cx="54864" cy="159105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62864" y="2884017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71152" y="2884017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02:00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925241" y="2884017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MC あいさつ・導入トーク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08338" y="2884017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田中 / 佐藤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24913" y="2884017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298856" y="3043123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62864" y="3043123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71152" y="3043123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05:30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925241" y="3043123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VTR① 事例紹介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08338" y="3043123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—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24913" y="3043123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VTR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298856" y="3202228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362864" y="3202228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71152" y="3202228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03:00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25241" y="3202228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ゲストトーク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008338" y="3202228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鈴木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24913" y="3202228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Mic 1,3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98856" y="3361334"/>
            <a:ext cx="2436967" cy="159105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362864" y="3361334"/>
            <a:ext cx="116847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F2A37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71152" y="3361334"/>
            <a:ext cx="262649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69BA0"/>
                </a:solidFill>
                <a:latin typeface="Arial"/>
                <a:ea typeface="Arial"/>
              </a:rPr>
              <a:t>01:30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25241" y="3361334"/>
            <a:ext cx="991656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エンディング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008338" y="3361334"/>
            <a:ext cx="325135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全員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24913" y="3361334"/>
            <a:ext cx="283478" cy="1591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BGM B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35424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138159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138159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138159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266175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430767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595359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851391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79407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equipment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138159" y="197510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8846728" y="197510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/>
          <p:cNvSpPr/>
          <p:nvPr/>
        </p:nvSpPr>
        <p:spPr>
          <a:xfrm>
            <a:off x="8266175" y="2103120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3919" y="209397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143" name="Oval 142"/>
          <p:cNvSpPr/>
          <p:nvPr/>
        </p:nvSpPr>
        <p:spPr>
          <a:xfrm>
            <a:off x="8284463" y="2523744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449055" y="247802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ダッシュボード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211311" y="274320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284463" y="2816351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449055" y="277063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148" name="Oval 147"/>
          <p:cNvSpPr/>
          <p:nvPr/>
        </p:nvSpPr>
        <p:spPr>
          <a:xfrm>
            <a:off x="8284463" y="3108959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449055" y="3063239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ケーブル</a:t>
            </a:r>
          </a:p>
        </p:txBody>
      </p:sp>
      <p:sp>
        <p:nvSpPr>
          <p:cNvPr id="150" name="Oval 149"/>
          <p:cNvSpPr/>
          <p:nvPr/>
        </p:nvSpPr>
        <p:spPr>
          <a:xfrm>
            <a:off x="8284463" y="3401567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449055" y="3355847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152" name="Oval 151"/>
          <p:cNvSpPr/>
          <p:nvPr/>
        </p:nvSpPr>
        <p:spPr>
          <a:xfrm>
            <a:off x="8284463" y="3694175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449055" y="3648455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ラック図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11320" y="2103120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機材一覧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11320" y="2432304"/>
            <a:ext cx="1096635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121048" y="2432304"/>
            <a:ext cx="1096635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8A939E"/>
                </a:solidFill>
                <a:latin typeface="Meiryo"/>
                <a:ea typeface="Meiryo"/>
              </a:rPr>
              <a:t>🔍 機材名・型番で検索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893808" y="2432304"/>
            <a:ext cx="731520" cy="237744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＋ 登録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0671048" y="2432304"/>
            <a:ext cx="777240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59E0B"/>
                </a:solidFill>
                <a:latin typeface="Meiryo"/>
                <a:ea typeface="Meiryo"/>
              </a:rPr>
              <a:t>Excel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011320" y="2779776"/>
            <a:ext cx="2436967" cy="237744"/>
          </a:xfrm>
          <a:prstGeom prst="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066184" y="2798064"/>
            <a:ext cx="57116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型番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37348" y="2798064"/>
            <a:ext cx="837707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機材名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5056" y="2798064"/>
            <a:ext cx="1903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数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665444" y="2798064"/>
            <a:ext cx="495009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設置場所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160453" y="2798064"/>
            <a:ext cx="342698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B06E00"/>
                </a:solidFill>
                <a:latin typeface="Meiryo"/>
                <a:ea typeface="Meiryo"/>
              </a:rPr>
              <a:t>状態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011320" y="3017520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075328" y="3017520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PMW-Z750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46492" y="3017520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業務用4Kカメラ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484200" y="3017520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674588" y="3017520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1160453" y="2976372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011320" y="3118103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075328" y="3118103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OCC30N-ARIB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646492" y="3118103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光カメラケーブル 30m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84200" y="3118103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674588" y="3118103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倉庫B-2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1160453" y="3076956"/>
            <a:ext cx="548640" cy="182880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在庫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011320" y="3218687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075328" y="3218687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UA-MX700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646492" y="3218687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デジタル卓 32ch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484200" y="3218687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674588" y="3218687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副調整室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1160453" y="3177539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011320" y="3319271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075328" y="3319271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PXW-FX9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646492" y="3319271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シネマカメラ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484200" y="3319271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74588" y="3319271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貸出中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1160453" y="3278123"/>
            <a:ext cx="548640" cy="18288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貸出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9011320" y="3419855"/>
            <a:ext cx="2436967" cy="1005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075328" y="3419855"/>
            <a:ext cx="479724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1F2A37"/>
                </a:solidFill>
                <a:latin typeface="Arial"/>
                <a:ea typeface="Arial"/>
              </a:rPr>
              <a:t>HDC-3500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646492" y="3419855"/>
            <a:ext cx="746267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システムカメラ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484200" y="3419855"/>
            <a:ext cx="98948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674588" y="3419855"/>
            <a:ext cx="403569" cy="100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1F2A37"/>
                </a:solidFill>
                <a:latin typeface="Meiryo"/>
                <a:ea typeface="Meiryo"/>
              </a:rPr>
              <a:t>Aスタジオ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1160453" y="3378707"/>
            <a:ext cx="548640" cy="1828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Meiryo"/>
                <a:ea typeface="Meiryo"/>
              </a:rPr>
              <a:t>稼働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247887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713232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713232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3232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841248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05840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170432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1426464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554480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techsheet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13232" y="4352544"/>
            <a:ext cx="708568" cy="168249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5" name="Connector 204"/>
          <p:cNvCxnSpPr/>
          <p:nvPr/>
        </p:nvCxnSpPr>
        <p:spPr>
          <a:xfrm>
            <a:off x="1421800" y="4352544"/>
            <a:ext cx="0" cy="1682496"/>
          </a:xfrm>
          <a:prstGeom prst="line">
            <a:avLst/>
          </a:prstGeom>
          <a:ln w="9525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Oval 205"/>
          <p:cNvSpPr/>
          <p:nvPr/>
        </p:nvSpPr>
        <p:spPr>
          <a:xfrm>
            <a:off x="841248" y="4480559"/>
            <a:ext cx="182880" cy="18288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078992" y="4471416"/>
            <a:ext cx="43424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2A37"/>
                </a:solidFill>
                <a:latin typeface="Arial"/>
                <a:ea typeface="Arial"/>
              </a:rPr>
              <a:t>ONAiR</a:t>
            </a:r>
          </a:p>
        </p:txBody>
      </p:sp>
      <p:sp>
        <p:nvSpPr>
          <p:cNvPr id="208" name="Oval 207"/>
          <p:cNvSpPr/>
          <p:nvPr/>
        </p:nvSpPr>
        <p:spPr>
          <a:xfrm>
            <a:off x="859536" y="4901183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24128" y="4855464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資料一覧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786384" y="5120640"/>
            <a:ext cx="562264" cy="23774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859536" y="5193792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024128" y="5148072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編集</a:t>
            </a:r>
          </a:p>
        </p:txBody>
      </p:sp>
      <p:sp>
        <p:nvSpPr>
          <p:cNvPr id="213" name="Oval 212"/>
          <p:cNvSpPr/>
          <p:nvPr/>
        </p:nvSpPr>
        <p:spPr>
          <a:xfrm>
            <a:off x="859536" y="5486400"/>
            <a:ext cx="91440" cy="91440"/>
          </a:xfrm>
          <a:prstGeom prst="ellipse">
            <a:avLst/>
          </a:prstGeom>
          <a:solidFill>
            <a:srgbClr val="5B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4128" y="5440680"/>
            <a:ext cx="397672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B6672"/>
                </a:solidFill>
                <a:latin typeface="Meiryo"/>
                <a:ea typeface="Meiryo"/>
              </a:rPr>
              <a:t>印刷プレビュー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586392" y="4480559"/>
            <a:ext cx="24369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2A37"/>
                </a:solidFill>
                <a:latin typeface="Meiryo"/>
                <a:ea typeface="Meiryo"/>
              </a:rPr>
              <a:t>技術仕様書 ｜ GLS-A012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586392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ヘッダー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2482504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Meiryo"/>
                <a:ea typeface="Meiryo"/>
              </a:rPr>
              <a:t>カメラ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378616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映像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4274728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音声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170840" y="4809744"/>
            <a:ext cx="841248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7C5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7C5CD6"/>
                </a:solidFill>
                <a:latin typeface="Meiryo"/>
                <a:ea typeface="Meiryo"/>
              </a:rPr>
              <a:t>通信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586392" y="5221224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カメラ台数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586392" y="5385816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677832" y="5385816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8 台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896316" y="5221224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カメラ機種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2896316" y="5385816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2987756" y="5385816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HDC-3500 / PXW-FX9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586392" y="5437632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レンズ構成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1586392" y="5602223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677832" y="5602223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ズーム ×4, 単焦点 ×2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896316" y="5437632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出力フォーマット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2896316" y="5602223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987756" y="5602223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1080/59.94p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586392" y="5654040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ケーブル長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586392" y="5818632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677832" y="5818632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30m / 50m 光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896316" y="5654040"/>
            <a:ext cx="112704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5CD6"/>
                </a:solidFill>
                <a:latin typeface="Meiryo"/>
                <a:ea typeface="Meiryo"/>
              </a:rPr>
              <a:t>特記事項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896316" y="5818632"/>
            <a:ext cx="1127043" cy="-76200"/>
          </a:xfrm>
          <a:prstGeom prst="roundRect">
            <a:avLst>
              <a:gd name="adj" fmla="val 8000"/>
            </a:avLst>
          </a:prstGeom>
          <a:solidFill>
            <a:srgbClr val="FBFAFE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2987756" y="5818632"/>
            <a:ext cx="944163" cy="-76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1F2A37"/>
                </a:solidFill>
                <a:latin typeface="Meiryo"/>
                <a:ea typeface="Meiryo"/>
              </a:rPr>
              <a:t>中継車との連携あり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822960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7C5CD6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425696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ounded Rectangle 240"/>
          <p:cNvSpPr/>
          <p:nvPr/>
        </p:nvSpPr>
        <p:spPr>
          <a:xfrm>
            <a:off x="4425696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4425696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4553712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718303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882896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5138928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5266944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live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4425696" y="4352544"/>
            <a:ext cx="3456432" cy="1682496"/>
          </a:xfrm>
          <a:prstGeom prst="rect">
            <a:avLst/>
          </a:prstGeom>
          <a:solidFill>
            <a:srgbClr val="10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4608576" y="4498848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ED7E2"/>
                </a:solidFill>
                <a:latin typeface="Meiryo"/>
                <a:ea typeface="Meiryo"/>
              </a:rPr>
              <a:t>本番進行 ｜ 年間表彰式 2026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876288" y="4480559"/>
            <a:ext cx="868680" cy="256032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● LIVE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608576" y="4855464"/>
            <a:ext cx="2142987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48" b="1">
                <a:solidFill>
                  <a:srgbClr val="FFFFFF"/>
                </a:solidFill>
                <a:latin typeface="Arial"/>
                <a:ea typeface="Arial"/>
              </a:rPr>
              <a:t>01:24:36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654296" y="5532120"/>
            <a:ext cx="20738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9FADBD"/>
                </a:solidFill>
                <a:latin typeface="Meiryo"/>
                <a:ea typeface="Meiryo"/>
              </a:rPr>
              <a:t>経過時間 ・ 次の転換まで 03:12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569781" y="4809744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652077" y="4864607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視聴者数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652077" y="5010912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2EA06B"/>
                </a:solidFill>
                <a:latin typeface="Arial"/>
                <a:ea typeface="Arial"/>
              </a:rPr>
              <a:t>12,480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7157374" y="4809744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239670" y="4864607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Zoom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7239670" y="5010912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4A9DE0"/>
                </a:solidFill>
                <a:latin typeface="Arial"/>
                <a:ea typeface="Arial"/>
              </a:rPr>
              <a:t>3,210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6569781" y="5468112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652077" y="5522975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YouTube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652077" y="5669279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D94B4B"/>
                </a:solidFill>
                <a:latin typeface="Arial"/>
                <a:ea typeface="Arial"/>
              </a:rPr>
              <a:t>8,940</a:t>
            </a:r>
          </a:p>
        </p:txBody>
      </p:sp>
      <p:sp>
        <p:nvSpPr>
          <p:cNvPr id="262" name="Rounded Rectangle 261"/>
          <p:cNvSpPr/>
          <p:nvPr/>
        </p:nvSpPr>
        <p:spPr>
          <a:xfrm>
            <a:off x="7157374" y="5468112"/>
            <a:ext cx="496153" cy="475488"/>
          </a:xfrm>
          <a:prstGeom prst="roundRect">
            <a:avLst>
              <a:gd name="adj" fmla="val 8000"/>
            </a:avLst>
          </a:prstGeom>
          <a:solidFill>
            <a:srgbClr val="1B2432"/>
          </a:solidFill>
          <a:ln w="9525">
            <a:solidFill>
              <a:srgbClr val="2C39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239670" y="5522975"/>
            <a:ext cx="404713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9FADBD"/>
                </a:solidFill>
                <a:latin typeface="Meiryo"/>
                <a:ea typeface="Meiryo"/>
              </a:rPr>
              <a:t>Teams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239670" y="5669279"/>
            <a:ext cx="404713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1">
                <a:solidFill>
                  <a:srgbClr val="7C5CD6"/>
                </a:solidFill>
                <a:latin typeface="Arial"/>
                <a:ea typeface="Arial"/>
              </a:rPr>
              <a:t>330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4535424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8138159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ounded Rectangle 266"/>
          <p:cNvSpPr/>
          <p:nvPr/>
        </p:nvSpPr>
        <p:spPr>
          <a:xfrm>
            <a:off x="8138159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8138159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8266175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8430767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8595359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8851391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8979407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output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8138159" y="4352544"/>
            <a:ext cx="3456432" cy="1682496"/>
          </a:xfrm>
          <a:prstGeom prst="rect">
            <a:avLst/>
          </a:prstGeom>
          <a:solidFill>
            <a:srgbClr val="0A0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071396" y="4407407"/>
            <a:ext cx="1589958" cy="1043147"/>
          </a:xfrm>
          <a:prstGeom prst="ellipse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8138159" y="4672583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7C96B"/>
                </a:solidFill>
                <a:latin typeface="Arial"/>
                <a:ea typeface="Arial"/>
              </a:rPr>
              <a:t>— THE WINNER —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8951976" y="4992624"/>
            <a:ext cx="1828800" cy="960120"/>
          </a:xfrm>
          <a:prstGeom prst="roundRect">
            <a:avLst>
              <a:gd name="adj" fmla="val 8000"/>
            </a:avLst>
          </a:prstGeom>
          <a:solidFill>
            <a:srgbClr val="141824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9573767" y="5102352"/>
            <a:ext cx="548640" cy="548640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043415" y="565099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eiryo"/>
                <a:ea typeface="Meiryo"/>
              </a:rPr>
              <a:t>グローバルスタジオ賞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8366759" y="5321807"/>
            <a:ext cx="2999232" cy="548640"/>
          </a:xfrm>
          <a:prstGeom prst="rect">
            <a:avLst/>
          </a:prstGeom>
          <a:solidFill>
            <a:srgbClr val="10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8366759" y="5321807"/>
            <a:ext cx="64008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8503919" y="5394959"/>
            <a:ext cx="402336" cy="402336"/>
          </a:xfrm>
          <a:prstGeom prst="ellipse">
            <a:avLst/>
          </a:prstGeom>
          <a:solidFill>
            <a:srgbClr val="2A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9006839" y="5394959"/>
            <a:ext cx="226771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eiryo"/>
                <a:ea typeface="Meiryo"/>
              </a:rPr>
              <a:t>田中 太郎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06839" y="5632703"/>
            <a:ext cx="2267711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9A961"/>
                </a:solidFill>
                <a:latin typeface="Meiryo"/>
                <a:ea typeface="Meiryo"/>
              </a:rPr>
              <a:t>GMOグローバルスタジオ</a:t>
            </a:r>
            <a:r>
              <a:rPr sz="700" b="0">
                <a:solidFill>
                  <a:srgbClr val="ADB7C4"/>
                </a:solidFill>
                <a:latin typeface="Meiryo"/>
                <a:ea typeface="Meiryo"/>
              </a:rPr>
              <a:t>  ｜  制作部 部長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10040111" y="4855464"/>
            <a:ext cx="1152144" cy="118872"/>
          </a:xfrm>
          <a:prstGeom prst="rect">
            <a:avLst/>
          </a:prstGeom>
          <a:solidFill>
            <a:srgbClr val="E7C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040111" y="5038344"/>
            <a:ext cx="768096" cy="118872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040111" y="5221224"/>
            <a:ext cx="512063" cy="118872"/>
          </a:xfrm>
          <a:prstGeom prst="rect">
            <a:avLst/>
          </a:prstGeom>
          <a:solidFill>
            <a:srgbClr val="C4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8247887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4B4B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HOW IT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GLS番号 — すべてのデータを束ねる“背番号”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5038344" y="2834640"/>
            <a:ext cx="2103120" cy="21031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8656" y="3044952"/>
            <a:ext cx="1682496" cy="1682496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GLS-A001
案件の背番号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6089904" y="1802282"/>
            <a:ext cx="0" cy="208391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89904" y="2844241"/>
            <a:ext cx="2098518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3886200"/>
            <a:ext cx="2098518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9904" y="3886200"/>
            <a:ext cx="0" cy="2083917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91385" y="3886200"/>
            <a:ext cx="2098519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3991385" y="2844241"/>
            <a:ext cx="2098519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21224" y="1418234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9742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69BA0"/>
                </a:solidFill>
                <a:latin typeface="Meiryo"/>
                <a:ea typeface="Meiryo"/>
              </a:rPr>
              <a:t>Qシート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9742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59E0B"/>
                </a:solidFill>
                <a:latin typeface="Meiryo"/>
                <a:ea typeface="Meiryo"/>
              </a:rPr>
              <a:t>機材管理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21224" y="5586069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5CD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7C5CD6"/>
                </a:solidFill>
                <a:latin typeface="Meiryo"/>
                <a:ea typeface="Meiryo"/>
              </a:rPr>
              <a:t>技術資料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2705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A06B"/>
                </a:solidFill>
                <a:latin typeface="Meiryo"/>
                <a:ea typeface="Meiryo"/>
              </a:rPr>
              <a:t>ライブ運用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22705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D94B4B"/>
                </a:solidFill>
                <a:latin typeface="Meiryo"/>
                <a:ea typeface="Meiryo"/>
              </a:rPr>
              <a:t>リアルタイムCG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89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F2A37"/>
                </a:solidFill>
                <a:latin typeface="Meiryo"/>
                <a:ea typeface="Meiryo"/>
              </a:rPr>
              <a:t>受注時に1つの </a:t>
            </a:r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GLS番号</a:t>
            </a:r>
            <a:r>
              <a:rPr sz="1250" b="0">
                <a:solidFill>
                  <a:srgbClr val="1F2A37"/>
                </a:solidFill>
                <a:latin typeface="Meiryo"/>
                <a:ea typeface="Meiryo"/>
              </a:rPr>
              <a:t> を発番すると、見積・Qシート・機材・技術資料・本番・CGがすべて同じ案件として自動的に紐づきます。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案件のライフサイクルを1本の線でカバー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8" name="Pentagon 7"/>
          <p:cNvSpPr/>
          <p:nvPr/>
        </p:nvSpPr>
        <p:spPr>
          <a:xfrm>
            <a:off x="77724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①提案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ヨミ・見積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2" name="Pentagon 11"/>
          <p:cNvSpPr/>
          <p:nvPr/>
        </p:nvSpPr>
        <p:spPr>
          <a:xfrm>
            <a:off x="297180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4A9DE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②受注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GLS発番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A9DE0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16" name="Pentagon 15"/>
          <p:cNvSpPr/>
          <p:nvPr/>
        </p:nvSpPr>
        <p:spPr>
          <a:xfrm>
            <a:off x="516636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169BA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③制作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台本・機材・技術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Meiryo"/>
                <a:ea typeface="Meiryo"/>
              </a:rPr>
              <a:t>Qシート / 機材 / 技術</a:t>
            </a:r>
          </a:p>
        </p:txBody>
      </p:sp>
      <p:sp>
        <p:nvSpPr>
          <p:cNvPr id="20" name="Pentagon 19"/>
          <p:cNvSpPr/>
          <p:nvPr/>
        </p:nvSpPr>
        <p:spPr>
          <a:xfrm>
            <a:off x="736092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2EA06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④本番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進行・CG送出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Meiryo"/>
                <a:ea typeface="Meiryo"/>
              </a:rPr>
              <a:t>ライブ / CG</a:t>
            </a:r>
          </a:p>
        </p:txBody>
      </p:sp>
      <p:sp>
        <p:nvSpPr>
          <p:cNvPr id="24" name="Pentagon 23"/>
          <p:cNvSpPr/>
          <p:nvPr/>
        </p:nvSpPr>
        <p:spPr>
          <a:xfrm>
            <a:off x="955548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F59E0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</a:rPr>
              <a:t>⑤請求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</a:rPr>
              <a:t>売上・損益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Meiryo"/>
                <a:ea typeface="Meiryo"/>
              </a:rPr>
              <a:t>案件管理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074920"/>
            <a:ext cx="10771632" cy="4572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120640"/>
            <a:ext cx="10771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ひとつのGLS番号でデータが流れ続ける — 転記ゼロ・抜け漏れゼロ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技術構成 — モダンで堅牢、運用は軽量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91640"/>
            <a:ext cx="146304" cy="106070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1856232"/>
            <a:ext cx="731520" cy="7315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1161288" y="2337206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005BA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1161288" y="2234793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161288" y="2132380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18562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画面（フロント）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2585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05BAC"/>
                </a:solidFill>
                <a:latin typeface="Arial"/>
                <a:ea typeface="Arial"/>
              </a:rPr>
              <a:t>React 19 + Vite + TailwindCSS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892808"/>
            <a:ext cx="0" cy="658367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0" y="1856232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スマホ対応・高速・統一デザイン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62072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862072"/>
            <a:ext cx="146304" cy="1060704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026664"/>
            <a:ext cx="731520" cy="73152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25296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17320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0266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サーバー（API）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3429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9BA0"/>
                </a:solidFill>
                <a:latin typeface="Arial"/>
                <a:ea typeface="Arial"/>
              </a:rPr>
              <a:t>Express + Socket.IO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3063240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66560" y="3026664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リアルタイム同期・共通API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32504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32504"/>
            <a:ext cx="146304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4197096"/>
            <a:ext cx="731520" cy="73152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ear 9 29"/>
          <p:cNvSpPr/>
          <p:nvPr/>
        </p:nvSpPr>
        <p:spPr>
          <a:xfrm>
            <a:off x="1148486" y="4294022"/>
            <a:ext cx="537667" cy="53766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7708" y="4473244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419709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データベース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9E0B"/>
                </a:solidFill>
                <a:latin typeface="Arial"/>
                <a:ea typeface="Arial"/>
              </a:rPr>
              <a:t>PostgreSQL（単一DB）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92240" y="4233672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6560" y="4197096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本番/検証をDB名で安全に分離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202936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202936"/>
            <a:ext cx="146304" cy="106070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1560" y="5367527"/>
            <a:ext cx="731520" cy="73152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entagon 38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entagon 39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27708" y="5630875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536752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Meiryo"/>
                <a:ea typeface="Meiryo"/>
              </a:rPr>
              <a:t>インフラ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5688" y="576986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5CD6"/>
                </a:solidFill>
                <a:latin typeface="Arial"/>
                <a:ea typeface="Arial"/>
              </a:rPr>
              <a:t>Docker + Nginx（CoNoHa VPS）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92240" y="5404103"/>
            <a:ext cx="0" cy="658369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5367527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Meiryo"/>
                <a:ea typeface="Meiryo"/>
              </a:rPr>
              <a:t>自動デプロイ・3時間ごと自動バックアップ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-1645920"/>
            <a:ext cx="4572000" cy="45720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657600"/>
            <a:ext cx="4572000" cy="457200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DECC8"/>
                </a:solidFill>
                <a:latin typeface="Meiryo"/>
                <a:ea typeface="Meiryo"/>
              </a:rPr>
              <a:t>HOW WE BUILT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2801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</a:rPr>
              <a:t>バイブコーディングとは？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</a:rPr>
              <a:t>「こうしたい」を</a:t>
            </a:r>
            <a:r>
              <a:rPr sz="1900" b="1">
                <a:solidFill>
                  <a:srgbClr val="FDECC8"/>
                </a:solidFill>
                <a:latin typeface="Meiryo"/>
                <a:ea typeface="Meiryo"/>
              </a:rPr>
              <a:t>自然な言葉でAIに伝える</a:t>
            </a:r>
            <a:r>
              <a:rPr sz="1900" b="0">
                <a:solidFill>
                  <a:srgbClr val="FFFFFF"/>
                </a:solidFill>
                <a:latin typeface="Meiryo"/>
                <a:ea typeface="Meiryo"/>
              </a:rPr>
              <a:t>だけで、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Meiryo"/>
                <a:ea typeface="Meiryo"/>
              </a:rPr>
              <a:t>AIがコードを書き、動くアプリに仕上げていく新しい開発スタイル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80" y="3950208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ular Callout 9"/>
          <p:cNvSpPr/>
          <p:nvPr/>
        </p:nvSpPr>
        <p:spPr>
          <a:xfrm>
            <a:off x="2148840" y="4142232"/>
            <a:ext cx="731520" cy="548640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1720" y="4379976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78024" y="4379976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24328" y="4379976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05BAC"/>
                </a:solidFill>
                <a:latin typeface="Meiryo"/>
                <a:ea typeface="Meiryo"/>
              </a:rPr>
              <a:t>STEP 1  話す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0468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2"/>
                </a:solidFill>
                <a:latin typeface="Meiryo"/>
                <a:ea typeface="Meiryo"/>
              </a:rPr>
              <a:t>やりたいことを
チャットで伝える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24528" y="4727448"/>
            <a:ext cx="256032" cy="32918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69280" y="3950208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ear 9 18"/>
          <p:cNvSpPr/>
          <p:nvPr/>
        </p:nvSpPr>
        <p:spPr>
          <a:xfrm>
            <a:off x="5788152" y="4069080"/>
            <a:ext cx="768096" cy="768096"/>
          </a:xfrm>
          <a:prstGeom prst="gear9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44184" y="4325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5074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05BAC"/>
                </a:solidFill>
                <a:latin typeface="Meiryo"/>
                <a:ea typeface="Meiryo"/>
              </a:rPr>
              <a:t>STEP 2  作る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50468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2"/>
                </a:solidFill>
                <a:latin typeface="Meiryo"/>
                <a:ea typeface="Meiryo"/>
              </a:rPr>
              <a:t>AIがコードを書き
実装する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82128" y="4727448"/>
            <a:ext cx="256032" cy="329184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38160" y="3657600"/>
            <a:ext cx="3383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0" y="3950208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9518904" y="4087368"/>
            <a:ext cx="621792" cy="731520"/>
          </a:xfrm>
          <a:prstGeom prst="homePlat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entagon 26"/>
          <p:cNvSpPr/>
          <p:nvPr/>
        </p:nvSpPr>
        <p:spPr>
          <a:xfrm>
            <a:off x="9518904" y="4087368"/>
            <a:ext cx="621792" cy="731520"/>
          </a:xfrm>
          <a:prstGeom prst="homePlat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01784" y="4306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5074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05BAC"/>
                </a:solidFill>
                <a:latin typeface="Meiryo"/>
                <a:ea typeface="Meiryo"/>
              </a:rPr>
              <a:t>STEP 3  確かめる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50468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2"/>
                </a:solidFill>
                <a:latin typeface="Meiryo"/>
                <a:ea typeface="Meiryo"/>
              </a:rPr>
              <a:t>検証環境で確認し
すぐ直す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3EFFA"/>
                </a:solidFill>
                <a:latin typeface="Meiryo"/>
                <a:ea typeface="Meiryo"/>
              </a:rPr>
              <a:t>専門のエンジニアを増やさず、現場の言葉そのままでアプリが育つ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DIALOGUE-DRIVEN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対話で作る — チャットがそのまま設計図に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Meiryo"/>
                <a:ea typeface="Meiryo"/>
              </a:rPr>
              <a:t>実際のやり取り（イメージ）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4884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Meiryo"/>
                <a:ea typeface="Meiryo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表彰式のランキングCGを作りたい。1位を最後にドンと出したい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044952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36392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Meiryo"/>
                <a:ea typeface="Meiryo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演出ステップと送出UIを実装しました。検証環境でご確認ください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032504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4032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23944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Meiryo"/>
                <a:ea typeface="Meiryo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数字が動いてTAKEで確定する“あの演出”にして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020056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51114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Meiryo"/>
                <a:ea typeface="Meiryo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Meiryo"/>
                <a:ea typeface="Meiryo"/>
              </a:rPr>
              <a:t>カウントアップ→確定アニメに変更。複数正解の同期も対応しました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554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9BA0"/>
                </a:solidFill>
                <a:latin typeface="Meiryo"/>
                <a:ea typeface="Meiryo"/>
              </a:rPr>
              <a:t>生まれるもの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2057400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2057400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203704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動くアプリ機能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606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言葉で頼んだ演出が実際に放送で使える形に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264408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3264408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4107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バージョン履歴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1304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v2.8 → v2.9 と小刻みに改善が積み上がる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471416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471416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6177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Meiryo"/>
                <a:ea typeface="Meiryo"/>
              </a:rPr>
              <a:t>ドキュメント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502005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やり取りが仕様書・記録として自動で残る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SAFE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安全な進め方 — 検証してから本番へ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2468880" cy="11887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331720"/>
            <a:ext cx="914400" cy="91440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ular Callout 10"/>
          <p:cNvSpPr/>
          <p:nvPr/>
        </p:nvSpPr>
        <p:spPr>
          <a:xfrm>
            <a:off x="1728216" y="2509113"/>
            <a:ext cx="658368" cy="493776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92807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4481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56155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対話で実装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AIがコードを生成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28416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75888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5888" y="2011680"/>
            <a:ext cx="2468880" cy="11887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53128" y="2331720"/>
            <a:ext cx="914400" cy="91440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4581144" y="2937052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4581144" y="2805379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4581144" y="2673705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検証環境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dev.gmo-onair.jp で自動デプロイ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81344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28816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8816" y="2011680"/>
            <a:ext cx="2468880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06056" y="2331720"/>
            <a:ext cx="914400" cy="91440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entagon 29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entagon 30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48041" y="2657246"/>
            <a:ext cx="230428" cy="2304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動作確認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現場でテスト・修正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034272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81744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81744" y="2011680"/>
            <a:ext cx="2468880" cy="11887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58984" y="2331720"/>
            <a:ext cx="914400" cy="91440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ardrop 38"/>
          <p:cNvSpPr/>
          <p:nvPr/>
        </p:nvSpPr>
        <p:spPr>
          <a:xfrm rot="8100000">
            <a:off x="10451592" y="2459736"/>
            <a:ext cx="329184" cy="510235"/>
          </a:xfrm>
          <a:prstGeom prst="teardrop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42117" y="2640787"/>
            <a:ext cx="148132" cy="1481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Triangle 40"/>
          <p:cNvSpPr/>
          <p:nvPr/>
        </p:nvSpPr>
        <p:spPr>
          <a:xfrm>
            <a:off x="10369296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Triangle 41"/>
          <p:cNvSpPr/>
          <p:nvPr/>
        </p:nvSpPr>
        <p:spPr>
          <a:xfrm rot="5400000">
            <a:off x="10731398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ardrop 42"/>
          <p:cNvSpPr/>
          <p:nvPr/>
        </p:nvSpPr>
        <p:spPr>
          <a:xfrm rot="10800000">
            <a:off x="10558576" y="2969971"/>
            <a:ext cx="115214" cy="181051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81744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Meiryo"/>
                <a:ea typeface="Meiryo"/>
              </a:rPr>
              <a:t>本番公開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6336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Meiryo"/>
                <a:ea typeface="Meiryo"/>
              </a:rPr>
              <a:t>承認後に gmo-onair.jp 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4800600"/>
            <a:ext cx="10561320" cy="11430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4956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Meiryo"/>
                <a:ea typeface="Meiryo"/>
              </a:rPr>
              <a:t>ルールで守る本番環境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3218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● 本番と検証のデータベースは完全分離   ● 「本番に入れて」の明示指示があるまで本番反映しない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Meiryo"/>
                <a:ea typeface="Meiryo"/>
              </a:rPr>
              <a:t>● 3時間ごとに自動バックアップ   ● いつでも以前のバージョンに戻せる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小さく速く、止まらない改善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対話のたびにバージョンが1つ進む。</a:t>
            </a:r>
            <a:r>
              <a:rPr sz="1400" b="0">
                <a:solidFill>
                  <a:srgbClr val="5B6672"/>
                </a:solidFill>
                <a:latin typeface="Meiryo"/>
                <a:ea typeface="Meiryo"/>
              </a:rPr>
              <a:t>数百回の小さな改善の積み重ねが“現場で本当に使える”アプリをつくる。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4206240"/>
            <a:ext cx="10241280" cy="0"/>
          </a:xfrm>
          <a:prstGeom prst="line">
            <a:avLst/>
          </a:prstGeom>
          <a:ln w="381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4059935"/>
            <a:ext cx="292608" cy="292608"/>
          </a:xfrm>
          <a:prstGeom prst="ellipse">
            <a:avLst/>
          </a:prstGeom>
          <a:solidFill>
            <a:srgbClr val="005BAC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63040" y="3200399"/>
            <a:ext cx="0" cy="859536"/>
          </a:xfrm>
          <a:prstGeom prst="line">
            <a:avLst/>
          </a:prstGeom>
          <a:ln w="20320">
            <a:solidFill>
              <a:srgbClr val="005B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Arial"/>
                <a:ea typeface="Arial"/>
              </a:rPr>
              <a:t>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デザイン刷新</a:t>
            </a:r>
          </a:p>
        </p:txBody>
      </p:sp>
      <p:sp>
        <p:nvSpPr>
          <p:cNvPr id="15" name="Oval 14"/>
          <p:cNvSpPr/>
          <p:nvPr/>
        </p:nvSpPr>
        <p:spPr>
          <a:xfrm>
            <a:off x="3694176" y="4059935"/>
            <a:ext cx="292608" cy="292608"/>
          </a:xfrm>
          <a:prstGeom prst="ellipse">
            <a:avLst/>
          </a:prstGeom>
          <a:solidFill>
            <a:srgbClr val="169BA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840480" y="4352544"/>
            <a:ext cx="0" cy="448055"/>
          </a:xfrm>
          <a:prstGeom prst="line">
            <a:avLst/>
          </a:prstGeom>
          <a:ln w="20320">
            <a:solidFill>
              <a:srgbClr val="169B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Arial"/>
                <a:ea typeface="Arial"/>
              </a:rPr>
              <a:t>v2.5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ブランチ運用整備</a:t>
            </a:r>
          </a:p>
        </p:txBody>
      </p:sp>
      <p:sp>
        <p:nvSpPr>
          <p:cNvPr id="20" name="Oval 19"/>
          <p:cNvSpPr/>
          <p:nvPr/>
        </p:nvSpPr>
        <p:spPr>
          <a:xfrm>
            <a:off x="6071616" y="4059935"/>
            <a:ext cx="292608" cy="292608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6217920" y="3200399"/>
            <a:ext cx="0" cy="859536"/>
          </a:xfrm>
          <a:prstGeom prst="line">
            <a:avLst/>
          </a:prstGeom>
          <a:ln w="203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5780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</a:rPr>
              <a:t>v2.8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リアルタイムCG
演出強化</a:t>
            </a:r>
          </a:p>
        </p:txBody>
      </p:sp>
      <p:sp>
        <p:nvSpPr>
          <p:cNvPr id="25" name="Oval 24"/>
          <p:cNvSpPr/>
          <p:nvPr/>
        </p:nvSpPr>
        <p:spPr>
          <a:xfrm>
            <a:off x="8449056" y="4059935"/>
            <a:ext cx="292608" cy="292608"/>
          </a:xfrm>
          <a:prstGeom prst="ellipse">
            <a:avLst/>
          </a:prstGeom>
          <a:solidFill>
            <a:srgbClr val="2EA06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595360" y="4352544"/>
            <a:ext cx="0" cy="448055"/>
          </a:xfrm>
          <a:prstGeom prst="line">
            <a:avLst/>
          </a:prstGeom>
          <a:ln w="203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63524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Arial"/>
                <a:ea typeface="Arial"/>
              </a:rPr>
              <a:t>v2.9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CG⇄インタラクティブ
連携</a:t>
            </a:r>
          </a:p>
        </p:txBody>
      </p:sp>
      <p:sp>
        <p:nvSpPr>
          <p:cNvPr id="30" name="Oval 29"/>
          <p:cNvSpPr/>
          <p:nvPr/>
        </p:nvSpPr>
        <p:spPr>
          <a:xfrm>
            <a:off x="10826496" y="4059935"/>
            <a:ext cx="292608" cy="292608"/>
          </a:xfrm>
          <a:prstGeom prst="ellipse">
            <a:avLst/>
          </a:prstGeom>
          <a:solidFill>
            <a:srgbClr val="D94B4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0972800" y="3200399"/>
            <a:ext cx="0" cy="859536"/>
          </a:xfrm>
          <a:prstGeom prst="line">
            <a:avLst/>
          </a:prstGeom>
          <a:ln w="20320">
            <a:solidFill>
              <a:srgbClr val="D94B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1268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Arial"/>
                <a:ea typeface="Arial"/>
              </a:rPr>
              <a:t>v2.9.26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Meiryo"/>
                <a:ea typeface="Meiryo"/>
              </a:rPr>
              <a:t>出題システム
共通化（最新）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A939E"/>
                </a:solidFill>
                <a:latin typeface="Meiryo"/>
                <a:ea typeface="Meiryo"/>
              </a:rPr>
              <a:t>※ バージョンは v1 → v2.9.26 まで小刻みに前進。大きな作り直しではなく、現場の声で日々アップデート。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バイブコーディング 活用のコツ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1956816"/>
            <a:ext cx="841248" cy="841248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ular Callout 9"/>
          <p:cNvSpPr/>
          <p:nvPr/>
        </p:nvSpPr>
        <p:spPr>
          <a:xfrm>
            <a:off x="1122883" y="2134941"/>
            <a:ext cx="570585" cy="427939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5529" y="2320381"/>
            <a:ext cx="57058" cy="570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9646" y="2320381"/>
            <a:ext cx="57058" cy="570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93763" y="2320381"/>
            <a:ext cx="57058" cy="570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75104" y="2029968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現場の言葉で伝える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52928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専門用語は不要。“こう見せたい”をそのまま話す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645920"/>
            <a:ext cx="128016" cy="19933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5696" y="1645920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0016" y="1956816"/>
            <a:ext cx="841248" cy="841248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4835347" y="2505821"/>
            <a:ext cx="570585" cy="156911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4835347" y="2391704"/>
            <a:ext cx="570585" cy="156911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4835347" y="2277587"/>
            <a:ext cx="570585" cy="156911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87568" y="2029968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小さく頼む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2852928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一度に1つの改善。すぐ確認して次へ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696" y="1645920"/>
            <a:ext cx="128016" cy="19933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1645920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80" y="1956816"/>
            <a:ext cx="841248" cy="841248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entagon 26"/>
          <p:cNvSpPr/>
          <p:nvPr/>
        </p:nvSpPr>
        <p:spPr>
          <a:xfrm>
            <a:off x="8590605" y="2092147"/>
            <a:ext cx="484997" cy="570585"/>
          </a:xfrm>
          <a:prstGeom prst="homePlat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entagon 27"/>
          <p:cNvSpPr/>
          <p:nvPr/>
        </p:nvSpPr>
        <p:spPr>
          <a:xfrm>
            <a:off x="8590605" y="2092147"/>
            <a:ext cx="484997" cy="570585"/>
          </a:xfrm>
          <a:prstGeom prst="homePlat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3251" y="2263322"/>
            <a:ext cx="199704" cy="1997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1" y="2029968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必ず検証してから本番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5" y="2852928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壊せる環境で確認 → 承認 → 公開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645920"/>
            <a:ext cx="128016" cy="199339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3232" y="3913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7552" y="4224528"/>
            <a:ext cx="841248" cy="841248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94206" y="4559564"/>
            <a:ext cx="213969" cy="171175"/>
          </a:xfrm>
          <a:prstGeom prst="ellipse">
            <a:avLst/>
          </a:prstGeom>
          <a:noFill/>
          <a:ln w="508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8176" y="4559564"/>
            <a:ext cx="213969" cy="171175"/>
          </a:xfrm>
          <a:prstGeom prst="ellipse">
            <a:avLst/>
          </a:prstGeom>
          <a:noFill/>
          <a:ln w="508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75104" y="4297680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記録を残す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512064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やり取り＝仕様書。判断の経緯が資産に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913632"/>
            <a:ext cx="128016" cy="19933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425696" y="3913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700016" y="4224528"/>
            <a:ext cx="841248" cy="841248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ear 9 41"/>
          <p:cNvSpPr/>
          <p:nvPr/>
        </p:nvSpPr>
        <p:spPr>
          <a:xfrm>
            <a:off x="4821082" y="4345594"/>
            <a:ext cx="599114" cy="599114"/>
          </a:xfrm>
          <a:prstGeom prst="gear9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20787" y="4545299"/>
            <a:ext cx="199704" cy="1997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87568" y="4297680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AIに健全性も任せる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6592" y="512064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セキュリティ・整合性チェックも対話で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25696" y="3913632"/>
            <a:ext cx="128016" cy="1993392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59" y="3913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412480" y="4224528"/>
            <a:ext cx="841248" cy="841248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19281" y="4673681"/>
            <a:ext cx="114117" cy="213969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83325" y="4559564"/>
            <a:ext cx="114117" cy="328086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47368" y="4445447"/>
            <a:ext cx="114117" cy="442203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11411" y="4602358"/>
            <a:ext cx="114117" cy="2852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961485" y="4345594"/>
            <a:ext cx="171175" cy="299557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00031" y="4297680"/>
            <a:ext cx="203911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Meiryo"/>
                <a:ea typeface="Meiryo"/>
              </a:rPr>
              <a:t>数字と効果で会話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9055" y="512064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Meiryo"/>
                <a:ea typeface="Meiryo"/>
              </a:rPr>
              <a:t>“現場が楽になったか”で良し悪しを判断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59" y="3913632"/>
            <a:ext cx="128016" cy="19933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数字で見る成果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606040" cy="12801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005BAC"/>
                </a:solidFill>
                <a:latin typeface="Arial"/>
                <a:ea typeface="Arial"/>
              </a:rPr>
              <a:t>6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ブロックアプリ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1プラットフォームに統合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1828800"/>
            <a:ext cx="2606040" cy="128016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169BA0"/>
                </a:solidFill>
                <a:latin typeface="Arial"/>
                <a:ea typeface="Arial"/>
              </a:rPr>
              <a:t>1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つの背番号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908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476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GLS番号で全データ連携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828800"/>
            <a:ext cx="260604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F59E0B"/>
                </a:solidFill>
                <a:latin typeface="Arial"/>
                <a:ea typeface="Arial"/>
              </a:rPr>
              <a:t>0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外注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2940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社内＋AI対話で内製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828800"/>
            <a:ext cx="2606040" cy="128016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2EA06B"/>
                </a:solidFill>
                <a:latin typeface="Arial"/>
                <a:ea typeface="Arial"/>
              </a:rPr>
              <a:t>3h</a:t>
            </a: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  ごと自動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3836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6404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Meiryo"/>
                <a:ea typeface="Meiryo"/>
              </a:rPr>
              <a:t>DBバックアップで安心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7091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Meiryo"/>
                <a:ea typeface="Meiryo"/>
              </a:rPr>
              <a:t>見積から本番・請求まで、</a:t>
            </a:r>
            <a:r>
              <a:rPr sz="1700" b="1">
                <a:solidFill>
                  <a:srgbClr val="005BAC"/>
                </a:solidFill>
                <a:latin typeface="Meiryo"/>
                <a:ea typeface="Meiryo"/>
              </a:rPr>
              <a:t>バラバラだった制作業務を“1つのOS”に。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F2A37"/>
                </a:solidFill>
                <a:latin typeface="Meiryo"/>
                <a:ea typeface="Meiryo"/>
              </a:rPr>
              <a:t>しかも、その進化は社長や現場との対話そのものから生まれ続けています。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Meiryo"/>
                <a:ea typeface="Meiryo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Meiryo"/>
                <a:ea typeface="Meiryo"/>
              </a:rPr>
              <a:t>これから — さらに“つながる”へ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947672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6アプリ統合・DADSデザイン・自動デプロイ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947672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A06B"/>
                </a:solidFill>
                <a:latin typeface="Meiryo"/>
                <a:ea typeface="Meiryo"/>
              </a:rPr>
              <a:t>✓ 完了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5224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35224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99816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リアルタイムCG ⇄ インタラクティブ連携の高度化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099816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5BAC"/>
                </a:solidFill>
                <a:latin typeface="Meiryo"/>
                <a:ea typeface="Meiryo"/>
              </a:rPr>
              <a:t>● 進行中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87368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87368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5196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BOX連携（フォルダ自動生成・PDF自動保存・電子署名）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251960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9E0B"/>
                </a:solidFill>
                <a:latin typeface="Meiryo"/>
                <a:ea typeface="Meiryo"/>
              </a:rPr>
              <a:t>→ 次の一手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239512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239512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</a:rPr>
              <a:t>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404104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Meiryo"/>
                <a:ea typeface="Meiryo"/>
              </a:rPr>
              <a:t>認証統一・制作支援アプリ・マルチテナント化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5404104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5CD6"/>
                </a:solidFill>
                <a:latin typeface="Meiryo"/>
                <a:ea typeface="Meiryo"/>
              </a:rPr>
              <a:t>… 構想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Meiryo"/>
                <a:ea typeface="Meiryo"/>
              </a:rPr>
              <a:t>GMO ONAiR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2286000"/>
            <a:ext cx="6400800" cy="64008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011680" y="3474720"/>
            <a:ext cx="5029200" cy="502920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eiryo"/>
                <a:ea typeface="Meiryo"/>
              </a:rPr>
              <a:t>制作の“あたりまえ”を、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DECC8"/>
                </a:solidFill>
                <a:latin typeface="Meiryo"/>
                <a:ea typeface="Meiryo"/>
              </a:rPr>
              <a:t>私たちの手でアップデートする。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3611880"/>
            <a:ext cx="507492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3794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GMO ONAiR は、現場との対話から生まれ、対話で育ち続ける“会社OS”です。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3EFFA"/>
                </a:solidFill>
                <a:latin typeface="Meiryo"/>
                <a:ea typeface="Meiryo"/>
              </a:rPr>
              <a:t>外注に頼らず、私たちのペースで、必要な機能を必要なだけ。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212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5BAC"/>
                </a:solidFill>
                <a:latin typeface="Meiryo"/>
                <a:ea typeface="Meiryo"/>
              </a:rPr>
              <a:t>ご清聴ありがとうございました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3EFFA"/>
                </a:solidFill>
                <a:latin typeface="Meiryo"/>
                <a:ea typeface="Meiryo"/>
              </a:rPr>
              <a:t>GMO GLOBAL STUDIO  |  GMO ONAiR  v2.9.26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