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108960"/>
            <a:ext cx="4206240" cy="4206240"/>
          </a:xfrm>
          <a:prstGeom prst="ellipse">
            <a:avLst/>
          </a:prstGeom>
          <a:solidFill>
            <a:srgbClr val="4A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005BAC"/>
                </a:solidFill>
                <a:latin typeface="Noto Sans JP"/>
                <a:ea typeface="Noto Sans JP"/>
              </a:rPr>
              <a:t>GMO GLOBAL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317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DECC8"/>
                </a:solidFill>
                <a:latin typeface="Noto Sans JP"/>
                <a:ea typeface="Noto Sans JP"/>
              </a:rPr>
              <a:t>制作のすべてをつなぐ、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Noto Sans JP"/>
                <a:ea typeface="Noto Sans JP"/>
              </a:rPr>
              <a:t>私たちの“会社OS”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4892040"/>
            <a:ext cx="4892040" cy="0"/>
          </a:xfrm>
          <a:prstGeom prst="line">
            <a:avLst/>
          </a:prstGeom>
          <a:ln w="25400">
            <a:solidFill>
              <a:srgbClr val="4A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5029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</a:rPr>
              <a:t>社長プレゼン資料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E3EFFA"/>
                </a:solidFill>
                <a:latin typeface="Noto Sans JP"/>
                <a:ea typeface="Noto Sans JP"/>
              </a:rPr>
              <a:t>このアプリでできること ／ 対話（バイブコーディング）での作り方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3093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E3EFFA"/>
                </a:solidFill>
                <a:latin typeface="Noto Sans JP"/>
                <a:ea typeface="Noto Sans JP"/>
              </a:rPr>
              <a:t>v2.9.26  |  6つのブロックアプリを単一プラットフォームに統合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一言でいうと — 制作会社のための“会社OS”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F2A37"/>
                </a:solidFill>
                <a:latin typeface="Noto Sans JP"/>
                <a:ea typeface="Noto Sans JP"/>
              </a:rPr>
              <a:t>バラバラだった </a:t>
            </a:r>
            <a:r>
              <a:rPr sz="2000" b="1">
                <a:solidFill>
                  <a:srgbClr val="005BAC"/>
                </a:solidFill>
                <a:latin typeface="Noto Sans JP"/>
                <a:ea typeface="Noto Sans JP"/>
              </a:rPr>
              <a:t>見積・台本・機材・本番・CG </a:t>
            </a:r>
            <a:r>
              <a:rPr sz="2000" b="1">
                <a:solidFill>
                  <a:srgbClr val="1F2A37"/>
                </a:solidFill>
                <a:latin typeface="Noto Sans JP"/>
                <a:ea typeface="Noto Sans JP"/>
              </a:rPr>
              <a:t>を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Noto Sans JP"/>
                <a:ea typeface="Noto Sans JP"/>
              </a:rPr>
              <a:t>1つの画面・1つの番号でつなぐ</a:t>
            </a:r>
            <a:r>
              <a:rPr sz="2000" b="1">
                <a:solidFill>
                  <a:srgbClr val="1F2A37"/>
                </a:solidFill>
                <a:latin typeface="Noto Sans JP"/>
                <a:ea typeface="Noto Sans JP"/>
              </a:rPr>
              <a:t> 統合プラットフォーム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3310128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3310128" cy="1097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75104" y="3840480"/>
            <a:ext cx="1005840" cy="1005840"/>
          </a:xfrm>
          <a:prstGeom prst="ellipse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03704" y="4233672"/>
            <a:ext cx="274320" cy="219456"/>
          </a:xfrm>
          <a:prstGeom prst="ellipse">
            <a:avLst/>
          </a:prstGeom>
          <a:noFill/>
          <a:ln w="508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78024" y="4233672"/>
            <a:ext cx="274320" cy="219456"/>
          </a:xfrm>
          <a:prstGeom prst="ellipse">
            <a:avLst/>
          </a:prstGeom>
          <a:noFill/>
          <a:ln w="508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292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Noto Sans JP"/>
                <a:ea typeface="Noto Sans JP"/>
              </a:rPr>
              <a:t>ひとつにつながる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58968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672"/>
                </a:solidFill>
                <a:latin typeface="Noto Sans JP"/>
                <a:ea typeface="Noto Sans JP"/>
              </a:rPr>
              <a:t>GLS番号で全アプリのデータが自動連携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520440"/>
            <a:ext cx="3310128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25696" y="3520440"/>
            <a:ext cx="3310128" cy="109728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77840" y="3840480"/>
            <a:ext cx="1005840" cy="1005840"/>
          </a:xfrm>
          <a:prstGeom prst="ellipse">
            <a:avLst/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5715000" y="4507992"/>
            <a:ext cx="731520" cy="201168"/>
          </a:xfrm>
          <a:prstGeom prst="parallelogram">
            <a:avLst>
              <a:gd name="adj" fmla="val 30000"/>
            </a:avLst>
          </a:prstGeom>
          <a:solidFill>
            <a:srgbClr val="169BA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5715000" y="4361688"/>
            <a:ext cx="731520" cy="201168"/>
          </a:xfrm>
          <a:prstGeom prst="parallelogram">
            <a:avLst>
              <a:gd name="adj" fmla="val 30000"/>
            </a:avLst>
          </a:prstGeom>
          <a:solidFill>
            <a:srgbClr val="4A9DE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5715000" y="4215384"/>
            <a:ext cx="731520" cy="201168"/>
          </a:xfrm>
          <a:prstGeom prst="parallelogram">
            <a:avLst>
              <a:gd name="adj" fmla="val 30000"/>
            </a:avLst>
          </a:prstGeom>
          <a:solidFill>
            <a:srgbClr val="E3EFF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50292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Noto Sans JP"/>
                <a:ea typeface="Noto Sans JP"/>
              </a:rPr>
              <a:t>6つの専用アプリ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5458968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672"/>
                </a:solidFill>
                <a:latin typeface="Noto Sans JP"/>
                <a:ea typeface="Noto Sans JP"/>
              </a:rPr>
              <a:t>案件・台本・機材・技術・本番・CGを網羅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520440"/>
            <a:ext cx="3310128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520440"/>
            <a:ext cx="331012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80576" y="3840480"/>
            <a:ext cx="1005840" cy="1005840"/>
          </a:xfrm>
          <a:prstGeom prst="ellipse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ular Callout 27"/>
          <p:cNvSpPr/>
          <p:nvPr/>
        </p:nvSpPr>
        <p:spPr>
          <a:xfrm>
            <a:off x="9317736" y="4032504"/>
            <a:ext cx="731520" cy="548640"/>
          </a:xfrm>
          <a:prstGeom prst="wedgeRoundRectCallou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00616" y="42702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46920" y="42702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93224" y="42702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50292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Noto Sans JP"/>
                <a:ea typeface="Noto Sans JP"/>
              </a:rPr>
              <a:t>対話で内製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5458968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672"/>
                </a:solidFill>
                <a:latin typeface="Noto Sans JP"/>
                <a:ea typeface="Noto Sans JP"/>
              </a:rPr>
              <a:t>外注ゼロ・チャット指示でアプリを進化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課題：ツールが点在して情報が分断していた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94B4B"/>
                </a:solidFill>
                <a:latin typeface="Noto Sans JP"/>
                <a:ea typeface="Noto Sans JP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4937760" cy="4114800"/>
          </a:xfrm>
          <a:prstGeom prst="roundRect">
            <a:avLst>
              <a:gd name="adj" fmla="val 8000"/>
            </a:avLst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23317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Excel 見積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317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紙の台本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10711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機材リスト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410711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別々の進行表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489704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手作業のCG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489704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メール連絡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23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94B4B"/>
                </a:solidFill>
                <a:latin typeface="Noto Sans JP"/>
                <a:ea typeface="Noto Sans JP"/>
              </a:rPr>
              <a:t>点在・二重入力・属人化・転記ミス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97880" y="3657600"/>
            <a:ext cx="777240" cy="822960"/>
          </a:xfrm>
          <a:prstGeom prst="rightArrow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A06B"/>
                </a:solidFill>
                <a:latin typeface="Noto Sans JP"/>
                <a:ea typeface="Noto Sans JP"/>
              </a:rPr>
              <a:t>AFTER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965960"/>
            <a:ext cx="4480560" cy="4114800"/>
          </a:xfrm>
          <a:prstGeom prst="roundRect">
            <a:avLst>
              <a:gd name="adj" fmla="val 8000"/>
            </a:avLst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1080" y="3246120"/>
            <a:ext cx="1005840" cy="1005840"/>
          </a:xfrm>
          <a:prstGeom prst="ellipse">
            <a:avLst/>
          </a:prstGeom>
          <a:solidFill>
            <a:srgbClr val="005BAC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GMO
ONAiR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24028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A06B"/>
                </a:solidFill>
                <a:latin typeface="Noto Sans JP"/>
                <a:ea typeface="Noto Sans JP"/>
              </a:rPr>
              <a:t>ひとつの画面に統合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Noto Sans JP"/>
                <a:ea typeface="Noto Sans JP"/>
              </a:rPr>
              <a:t>入力は1回。データは自動でつながる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59" y="3447287"/>
            <a:ext cx="868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5BAC"/>
                </a:solidFill>
                <a:latin typeface="Noto Sans JP"/>
                <a:ea typeface="Noto Sans JP"/>
              </a:rPr>
              <a:t>案件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793491"/>
            <a:ext cx="868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5BAC"/>
                </a:solidFill>
                <a:latin typeface="Noto Sans JP"/>
                <a:ea typeface="Noto Sans JP"/>
              </a:rPr>
              <a:t>台本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793491"/>
            <a:ext cx="868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5BAC"/>
                </a:solidFill>
                <a:latin typeface="Noto Sans JP"/>
                <a:ea typeface="Noto Sans JP"/>
              </a:rPr>
              <a:t>機材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9880" y="3447287"/>
            <a:ext cx="868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5BAC"/>
                </a:solidFill>
                <a:latin typeface="Noto Sans JP"/>
                <a:ea typeface="Noto Sans JP"/>
              </a:rPr>
              <a:t>技術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4201668"/>
            <a:ext cx="868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5BAC"/>
                </a:solidFill>
                <a:latin typeface="Noto Sans JP"/>
                <a:ea typeface="Noto Sans JP"/>
              </a:rPr>
              <a:t>本番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4201668"/>
            <a:ext cx="86868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5BAC"/>
                </a:solidFill>
                <a:latin typeface="Noto Sans JP"/>
                <a:ea typeface="Noto Sans JP"/>
              </a:rPr>
              <a:t>CG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623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A06B"/>
                </a:solidFill>
                <a:latin typeface="Noto Sans JP"/>
                <a:ea typeface="Noto Sans JP"/>
              </a:rPr>
              <a:t>入力1回 / 自動連携 / リアルタイム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全体像 — 6つの専用アプリ＋共通基盤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27632"/>
            <a:ext cx="128016" cy="1993392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938528"/>
            <a:ext cx="868680" cy="868680"/>
          </a:xfrm>
          <a:prstGeom prst="ellipse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0264" y="2402860"/>
            <a:ext cx="119969" cy="224942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2720" y="2282891"/>
            <a:ext cx="119969" cy="344911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55176" y="2162921"/>
            <a:ext cx="119969" cy="46488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27632" y="2327879"/>
            <a:ext cx="119969" cy="299923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>
            <a:off x="1575145" y="2057948"/>
            <a:ext cx="179953" cy="314919"/>
          </a:xfrm>
          <a:prstGeom prst="up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938528"/>
            <a:ext cx="1993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案件管理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7" y="2340864"/>
            <a:ext cx="199339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Arial"/>
                <a:ea typeface="Arial"/>
              </a:rPr>
              <a:t>Project &amp;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889504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提案 → 受注 → 制作 → 請求まで、案件のお金と進捗をまるごと管理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1627632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1627632"/>
            <a:ext cx="128016" cy="199339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18304" y="1938528"/>
            <a:ext cx="868680" cy="868680"/>
          </a:xfrm>
          <a:prstGeom prst="ellipse">
            <a:avLst/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27701" y="2072944"/>
            <a:ext cx="449884" cy="5998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169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02682" y="2207910"/>
            <a:ext cx="314919" cy="37490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2682" y="2327879"/>
            <a:ext cx="224942" cy="37490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02682" y="2447848"/>
            <a:ext cx="314919" cy="37490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02682" y="2567818"/>
            <a:ext cx="224942" cy="37490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76439" y="2196663"/>
            <a:ext cx="52486" cy="5248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1938528"/>
            <a:ext cx="1993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Qシート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1" y="2340864"/>
            <a:ext cx="199339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9BA0"/>
                </a:solidFill>
                <a:latin typeface="Arial"/>
                <a:ea typeface="Arial"/>
              </a:rPr>
              <a:t>Rundown / OnAir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2889504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進行台本（Qシート）の作成と本番のリアルタイム進行同期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1627632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9" y="1627632"/>
            <a:ext cx="128016" cy="19933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0767" y="1938528"/>
            <a:ext cx="868680" cy="868680"/>
          </a:xfrm>
          <a:prstGeom prst="ellipse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ear 9 33"/>
          <p:cNvSpPr/>
          <p:nvPr/>
        </p:nvSpPr>
        <p:spPr>
          <a:xfrm>
            <a:off x="8550188" y="2057948"/>
            <a:ext cx="629838" cy="629838"/>
          </a:xfrm>
          <a:prstGeom prst="gear9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60134" y="2267894"/>
            <a:ext cx="209946" cy="2099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7" y="1938528"/>
            <a:ext cx="1993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機材管理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4895" y="2340864"/>
            <a:ext cx="199339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</a:rPr>
              <a:t>Equipment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5" y="2889504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カメラ・ケーブル・コネクタまで機材台帳と貸出を一元管理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3895344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3895344"/>
            <a:ext cx="128016" cy="1993392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4206240"/>
            <a:ext cx="868680" cy="868680"/>
          </a:xfrm>
          <a:prstGeom prst="ellipse">
            <a:avLst/>
          </a:prstGeom>
          <a:solidFill>
            <a:srgbClr val="EA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70249" y="4490618"/>
            <a:ext cx="539861" cy="344911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365199" y="4415637"/>
            <a:ext cx="164957" cy="89976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27708" y="4565599"/>
            <a:ext cx="224942" cy="2249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80195" y="4618085"/>
            <a:ext cx="119969" cy="119969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0" y="4206240"/>
            <a:ext cx="1993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技術資料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9967" y="4608576"/>
            <a:ext cx="199339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5CD6"/>
                </a:solidFill>
                <a:latin typeface="Arial"/>
                <a:ea typeface="Arial"/>
              </a:rPr>
              <a:t>Tech Sheet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" y="5157216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カメラ・映像・音声・通信の技術仕様書をデジタル化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25696" y="3895344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25696" y="3895344"/>
            <a:ext cx="128016" cy="1993392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18304" y="4206240"/>
            <a:ext cx="868680" cy="868680"/>
          </a:xfrm>
          <a:prstGeom prst="ellipse">
            <a:avLst/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97709" y="4415637"/>
            <a:ext cx="509869" cy="509869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92659" y="4295668"/>
            <a:ext cx="119969" cy="74980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5152644" y="4535606"/>
            <a:ext cx="0" cy="134966"/>
          </a:xfrm>
          <a:prstGeom prst="line">
            <a:avLst/>
          </a:prstGeom>
          <a:ln w="33020">
            <a:solidFill>
              <a:srgbClr val="2EA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52644" y="4670572"/>
            <a:ext cx="97475" cy="0"/>
          </a:xfrm>
          <a:prstGeom prst="line">
            <a:avLst/>
          </a:prstGeom>
          <a:ln w="3302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122651" y="4640579"/>
            <a:ext cx="59984" cy="59984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24144" y="4206240"/>
            <a:ext cx="1993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ライブ運用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42431" y="4608576"/>
            <a:ext cx="199339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A06B"/>
                </a:solidFill>
                <a:latin typeface="Arial"/>
                <a:ea typeface="Arial"/>
              </a:rPr>
              <a:t>Live Ops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6592" y="5157216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本番当日のオペレーション・進行・計時をサポート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59" y="3895344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38159" y="3895344"/>
            <a:ext cx="128016" cy="1993392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430767" y="4206240"/>
            <a:ext cx="868680" cy="868680"/>
          </a:xfrm>
          <a:prstGeom prst="ellipse">
            <a:avLst/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565184" y="4415637"/>
            <a:ext cx="599846" cy="389900"/>
          </a:xfrm>
          <a:prstGeom prst="roundRect">
            <a:avLst>
              <a:gd name="adj" fmla="val 8000"/>
            </a:avLst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625169" y="4475622"/>
            <a:ext cx="479877" cy="2699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75131" y="4805537"/>
            <a:ext cx="179953" cy="52486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ightning Bolt 65"/>
          <p:cNvSpPr/>
          <p:nvPr/>
        </p:nvSpPr>
        <p:spPr>
          <a:xfrm>
            <a:off x="8790127" y="4505614"/>
            <a:ext cx="149961" cy="209946"/>
          </a:xfrm>
          <a:prstGeom prst="lightningBol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36607" y="4206240"/>
            <a:ext cx="1993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リアルタイムCG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54895" y="4608576"/>
            <a:ext cx="199339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94B4B"/>
                </a:solidFill>
                <a:latin typeface="Arial"/>
                <a:ea typeface="Arial"/>
              </a:rPr>
              <a:t>Realtime CG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49055" y="5157216"/>
            <a:ext cx="290779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放送用CG（テロップ・ランキング・投票）をライブ送出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APP 1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案件管理（Project &amp; Finance）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627632"/>
            <a:ext cx="603504" cy="603504"/>
          </a:xfrm>
          <a:prstGeom prst="ellipse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3582" y="1951329"/>
            <a:ext cx="87782" cy="164592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9769" y="1863547"/>
            <a:ext cx="87782" cy="252374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956" y="1775764"/>
            <a:ext cx="87782" cy="340156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2144" y="1896465"/>
            <a:ext cx="87782" cy="219456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 Arrow 12"/>
          <p:cNvSpPr/>
          <p:nvPr/>
        </p:nvSpPr>
        <p:spPr>
          <a:xfrm>
            <a:off x="1113739" y="1698955"/>
            <a:ext cx="131673" cy="230428"/>
          </a:xfrm>
          <a:prstGeom prst="up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64592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提案 → 受注 → 制作 → 請求まで、案件のお金と進捗をまるごと管理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Noto Sans JP"/>
                <a:ea typeface="Noto Sans JP"/>
              </a:rPr>
              <a:t>できること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889504"/>
            <a:ext cx="274320" cy="2743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852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16352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売上・仕入・損益をリアルタイム集計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5112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747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ヨミ〜完了のステージ管理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206240"/>
            <a:ext cx="274320" cy="2743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33087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GLS番号の自動発番・請求書PDF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01183"/>
            <a:ext cx="4224528" cy="109728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04748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05BAC"/>
                </a:solidFill>
                <a:latin typeface="Noto Sans JP"/>
                <a:ea typeface="Noto Sans JP"/>
              </a:rPr>
              <a:t>現場での効果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見積から請求まで数字が一気通貫。損益が“今”わかる。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627632"/>
            <a:ext cx="6263640" cy="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212080" y="1792224"/>
            <a:ext cx="6263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12080" y="1792224"/>
            <a:ext cx="6263640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2011679"/>
            <a:ext cx="6263640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40096" y="1897379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04688" y="1897379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0" y="1897379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25312" y="1856231"/>
            <a:ext cx="53492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1860804"/>
            <a:ext cx="5166359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gmo-onair.jp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103120"/>
            <a:ext cx="1284046" cy="3849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496126" y="2103120"/>
            <a:ext cx="0" cy="3849624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40096" y="2231136"/>
            <a:ext cx="182880" cy="18288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0" y="2221991"/>
            <a:ext cx="100972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85232" y="2578608"/>
            <a:ext cx="1137742" cy="237744"/>
          </a:xfrm>
          <a:prstGeom prst="roundRect">
            <a:avLst>
              <a:gd name="adj" fmla="val 8000"/>
            </a:avLst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58384" y="2651759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22976" y="2606039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ダッシュボード</a:t>
            </a:r>
          </a:p>
        </p:txBody>
      </p:sp>
      <p:sp>
        <p:nvSpPr>
          <p:cNvPr id="43" name="Oval 42"/>
          <p:cNvSpPr/>
          <p:nvPr/>
        </p:nvSpPr>
        <p:spPr>
          <a:xfrm>
            <a:off x="5358384" y="2944367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22976" y="2898647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案件一覧</a:t>
            </a:r>
          </a:p>
        </p:txBody>
      </p:sp>
      <p:sp>
        <p:nvSpPr>
          <p:cNvPr id="45" name="Oval 44"/>
          <p:cNvSpPr/>
          <p:nvPr/>
        </p:nvSpPr>
        <p:spPr>
          <a:xfrm>
            <a:off x="5358384" y="3236975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22976" y="3191255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売上</a:t>
            </a:r>
          </a:p>
        </p:txBody>
      </p:sp>
      <p:sp>
        <p:nvSpPr>
          <p:cNvPr id="47" name="Oval 46"/>
          <p:cNvSpPr/>
          <p:nvPr/>
        </p:nvSpPr>
        <p:spPr>
          <a:xfrm>
            <a:off x="5358384" y="3529583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2976" y="3483863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仕入</a:t>
            </a:r>
          </a:p>
        </p:txBody>
      </p:sp>
      <p:sp>
        <p:nvSpPr>
          <p:cNvPr id="49" name="Oval 48"/>
          <p:cNvSpPr/>
          <p:nvPr/>
        </p:nvSpPr>
        <p:spPr>
          <a:xfrm>
            <a:off x="5358384" y="3822191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2976" y="3776471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損益</a:t>
            </a:r>
          </a:p>
        </p:txBody>
      </p:sp>
      <p:sp>
        <p:nvSpPr>
          <p:cNvPr id="51" name="Oval 50"/>
          <p:cNvSpPr/>
          <p:nvPr/>
        </p:nvSpPr>
        <p:spPr>
          <a:xfrm>
            <a:off x="5358384" y="4114799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22976" y="4069079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請求書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60718" y="2231136"/>
            <a:ext cx="46686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案件ダッシュボード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60718" y="2505456"/>
            <a:ext cx="466869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8A939E"/>
                </a:solidFill>
                <a:latin typeface="Noto Sans JP"/>
                <a:ea typeface="Noto Sans JP"/>
              </a:rPr>
              <a:t>2026年5月 ・ 最終更新 5分前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60718" y="2761487"/>
            <a:ext cx="104373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60718" y="2761487"/>
            <a:ext cx="1043730" cy="54864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33870" y="2852927"/>
            <a:ext cx="89742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進行中案件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33870" y="2999231"/>
            <a:ext cx="89742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5BAC"/>
                </a:solidFill>
                <a:latin typeface="Arial"/>
                <a:ea typeface="Arial"/>
              </a:rPr>
              <a:t>37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33870" y="3328415"/>
            <a:ext cx="89742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69040" y="2761487"/>
            <a:ext cx="104373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69040" y="2761487"/>
            <a:ext cx="1043730" cy="54864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42192" y="2852927"/>
            <a:ext cx="89742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今月売上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42192" y="2999231"/>
            <a:ext cx="89742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A06B"/>
                </a:solidFill>
                <a:latin typeface="Arial"/>
                <a:ea typeface="Arial"/>
              </a:rPr>
              <a:t>¥4,820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42192" y="3328415"/>
            <a:ext cx="89742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12%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77363" y="2761487"/>
            <a:ext cx="104373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77363" y="2761487"/>
            <a:ext cx="104373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50515" y="2852927"/>
            <a:ext cx="89742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粗利率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50515" y="2999231"/>
            <a:ext cx="89742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59E0B"/>
                </a:solidFill>
                <a:latin typeface="Arial"/>
                <a:ea typeface="Arial"/>
              </a:rPr>
              <a:t>31.4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50515" y="3328415"/>
            <a:ext cx="89742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2.1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285685" y="2761487"/>
            <a:ext cx="104373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85685" y="2761487"/>
            <a:ext cx="1043730" cy="54864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58837" y="2852927"/>
            <a:ext cx="89742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受注ヨミ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58837" y="2999231"/>
            <a:ext cx="89742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7C5CD6"/>
                </a:solidFill>
                <a:latin typeface="Arial"/>
                <a:ea typeface="Arial"/>
              </a:rPr>
              <a:t>¥1.2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58837" y="3328415"/>
            <a:ext cx="89742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8件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60718" y="3657599"/>
            <a:ext cx="280121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70446" y="3730751"/>
            <a:ext cx="261833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月次売上推移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16750" y="4876312"/>
            <a:ext cx="214868" cy="637519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07419" y="4678984"/>
            <a:ext cx="214868" cy="834847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698089" y="4785238"/>
            <a:ext cx="214868" cy="728593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88759" y="4451299"/>
            <a:ext cx="214868" cy="1062532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79429" y="4572731"/>
            <a:ext cx="214868" cy="94110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70099" y="4223613"/>
            <a:ext cx="214868" cy="12902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26528" y="3657599"/>
            <a:ext cx="1702887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36256" y="3730751"/>
            <a:ext cx="152000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案件ステージ構成</a:t>
            </a:r>
          </a:p>
        </p:txBody>
      </p:sp>
      <p:sp>
        <p:nvSpPr>
          <p:cNvPr id="85" name="Pie 84"/>
          <p:cNvSpPr/>
          <p:nvPr/>
        </p:nvSpPr>
        <p:spPr>
          <a:xfrm>
            <a:off x="9967106" y="4276017"/>
            <a:ext cx="1021732" cy="1021732"/>
          </a:xfrm>
          <a:prstGeom prst="pie">
            <a:avLst>
              <a:gd name="adj1" fmla="val 18000000"/>
              <a:gd name="adj2" fmla="val 3000000"/>
            </a:avLst>
          </a:prstGeom>
          <a:solidFill>
            <a:srgbClr val="005B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ie 85"/>
          <p:cNvSpPr/>
          <p:nvPr/>
        </p:nvSpPr>
        <p:spPr>
          <a:xfrm>
            <a:off x="9967106" y="4276017"/>
            <a:ext cx="1021732" cy="1021732"/>
          </a:xfrm>
          <a:prstGeom prst="pie">
            <a:avLst>
              <a:gd name="adj1" fmla="val 3000000"/>
              <a:gd name="adj2" fmla="val 15000000"/>
            </a:avLst>
          </a:prstGeom>
          <a:solidFill>
            <a:srgbClr val="4A9D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ie 86"/>
          <p:cNvSpPr/>
          <p:nvPr/>
        </p:nvSpPr>
        <p:spPr>
          <a:xfrm>
            <a:off x="9967106" y="4276017"/>
            <a:ext cx="1021732" cy="1021732"/>
          </a:xfrm>
          <a:prstGeom prst="pie">
            <a:avLst>
              <a:gd name="adj1" fmla="val 15000000"/>
              <a:gd name="adj2" fmla="val 18000000"/>
            </a:avLst>
          </a:prstGeom>
          <a:solidFill>
            <a:srgbClr val="F59E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22539" y="4531450"/>
            <a:ext cx="510866" cy="5108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12080" y="60076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939E"/>
                </a:solidFill>
                <a:latin typeface="Noto Sans JP"/>
                <a:ea typeface="Noto Sans JP"/>
              </a:rPr>
              <a:t>▲ 実際の画面イメージ（案件管理）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9BA0"/>
                </a:solidFill>
                <a:latin typeface="Noto Sans JP"/>
                <a:ea typeface="Noto Sans JP"/>
              </a:rPr>
              <a:t>APP 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Qシート（Rundown / OnAir）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627632"/>
            <a:ext cx="603504" cy="603504"/>
          </a:xfrm>
          <a:prstGeom prst="ellipse">
            <a:avLst/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09928"/>
            <a:ext cx="329184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169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5256" y="1808683"/>
            <a:ext cx="230428" cy="2743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5256" y="1896465"/>
            <a:ext cx="164592" cy="2743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" y="1984248"/>
            <a:ext cx="230428" cy="2743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5256" y="2072030"/>
            <a:ext cx="164592" cy="2743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053" y="1800453"/>
            <a:ext cx="38404" cy="384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64592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進行台本（Qシート）の作成と本番のリアルタイム進行同期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95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9BA0"/>
                </a:solidFill>
                <a:latin typeface="Noto Sans JP"/>
                <a:ea typeface="Noto Sans JP"/>
              </a:rPr>
              <a:t>できること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2889504"/>
            <a:ext cx="274320" cy="274320"/>
          </a:xfrm>
          <a:prstGeom prst="ellipse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852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816352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台本・ランダウンを共同編集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112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747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OnAir↔ランダウンを即時同期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206240"/>
            <a:ext cx="274320" cy="274320"/>
          </a:xfrm>
          <a:prstGeom prst="ellipse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33087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プロンプター・音声香盤に対応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01183"/>
            <a:ext cx="4224528" cy="1097280"/>
          </a:xfrm>
          <a:prstGeom prst="roundRect">
            <a:avLst>
              <a:gd name="adj" fmla="val 8000"/>
            </a:avLst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04748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69BA0"/>
                </a:solidFill>
                <a:latin typeface="Noto Sans JP"/>
                <a:ea typeface="Noto Sans JP"/>
              </a:rPr>
              <a:t>現場での効果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本番中の進行変更も全員の画面に即反映。事故を防ぐ。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1627632"/>
            <a:ext cx="6263640" cy="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212080" y="1792224"/>
            <a:ext cx="6263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12080" y="1792224"/>
            <a:ext cx="6263640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0" y="2011679"/>
            <a:ext cx="6263640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40096" y="1897379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4688" y="1897379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0" y="1897379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25312" y="1856231"/>
            <a:ext cx="53492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1860804"/>
            <a:ext cx="5166359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gmo-onair.jp/qsheet/rundown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2103120"/>
            <a:ext cx="1284046" cy="3849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96126" y="2103120"/>
            <a:ext cx="0" cy="3849624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340096" y="2231136"/>
            <a:ext cx="182880" cy="182880"/>
          </a:xfrm>
          <a:prstGeom prst="ellipse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2221991"/>
            <a:ext cx="100972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41" name="Oval 40"/>
          <p:cNvSpPr/>
          <p:nvPr/>
        </p:nvSpPr>
        <p:spPr>
          <a:xfrm>
            <a:off x="5358384" y="2651759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22976" y="2606039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エディタ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85232" y="2871215"/>
            <a:ext cx="1137742" cy="237744"/>
          </a:xfrm>
          <a:prstGeom prst="roundRect">
            <a:avLst>
              <a:gd name="adj" fmla="val 8000"/>
            </a:avLst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58384" y="2944367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22976" y="2898647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ランダウン</a:t>
            </a:r>
          </a:p>
        </p:txBody>
      </p:sp>
      <p:sp>
        <p:nvSpPr>
          <p:cNvPr id="46" name="Oval 45"/>
          <p:cNvSpPr/>
          <p:nvPr/>
        </p:nvSpPr>
        <p:spPr>
          <a:xfrm>
            <a:off x="5358384" y="3236975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22976" y="3191255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OnAir</a:t>
            </a:r>
          </a:p>
        </p:txBody>
      </p:sp>
      <p:sp>
        <p:nvSpPr>
          <p:cNvPr id="48" name="Oval 47"/>
          <p:cNvSpPr/>
          <p:nvPr/>
        </p:nvSpPr>
        <p:spPr>
          <a:xfrm>
            <a:off x="5358384" y="3529583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22976" y="3483863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プロンプター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0718" y="2231136"/>
            <a:ext cx="46686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Noto Sans JP"/>
                <a:ea typeface="Noto Sans JP"/>
              </a:rPr>
              <a:t>ランダウン ｜ GLS-A012 収録台本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15016" y="2212848"/>
            <a:ext cx="868680" cy="274320"/>
          </a:xfrm>
          <a:prstGeom prst="roundRect">
            <a:avLst>
              <a:gd name="adj" fmla="val 8000"/>
            </a:avLst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  <a:ea typeface="Noto Sans JP"/>
              </a:rPr>
              <a:t>● ON AIR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60718" y="2615184"/>
            <a:ext cx="4668697" cy="237744"/>
          </a:xfrm>
          <a:prstGeom prst="rect">
            <a:avLst/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6438" y="2633472"/>
            <a:ext cx="399034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5472" y="2633472"/>
            <a:ext cx="678357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時間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83830" y="2633472"/>
            <a:ext cx="207497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内容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8806" y="2633472"/>
            <a:ext cx="79806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出演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56874" y="2633472"/>
            <a:ext cx="718261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音声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60718" y="2852928"/>
            <a:ext cx="4668697" cy="5925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4726" y="2852928"/>
            <a:ext cx="307593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23760" y="2852928"/>
            <a:ext cx="586917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00:30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02118" y="2852928"/>
            <a:ext cx="1983536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オープニング映像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7094" y="2852928"/>
            <a:ext cx="706628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75162" y="2852928"/>
            <a:ext cx="626821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BGM 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60718" y="3445459"/>
            <a:ext cx="4668697" cy="592531"/>
          </a:xfrm>
          <a:prstGeom prst="rect">
            <a:avLst/>
          </a:prstGeom>
          <a:solidFill>
            <a:srgbClr val="FFF4F4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660718" y="3445459"/>
            <a:ext cx="54864" cy="592531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4726" y="3445459"/>
            <a:ext cx="307593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23760" y="3445459"/>
            <a:ext cx="586917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02:00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02118" y="3445459"/>
            <a:ext cx="1983536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MC あいさつ・導入トーク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7094" y="3445459"/>
            <a:ext cx="706628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田中 / 佐藤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75162" y="3445459"/>
            <a:ext cx="626821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Mic 1,2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60718" y="4037990"/>
            <a:ext cx="4668697" cy="5925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24726" y="4037990"/>
            <a:ext cx="307593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23760" y="4037990"/>
            <a:ext cx="586917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05:30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02118" y="4037990"/>
            <a:ext cx="1983536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VTR① 事例紹介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7094" y="4037990"/>
            <a:ext cx="706628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75162" y="4037990"/>
            <a:ext cx="626821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VTR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60718" y="4630521"/>
            <a:ext cx="4668697" cy="5925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24726" y="4630521"/>
            <a:ext cx="307593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23760" y="4630521"/>
            <a:ext cx="586917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03:00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02118" y="4630521"/>
            <a:ext cx="1983536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ゲストトーク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7094" y="4630521"/>
            <a:ext cx="706628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鈴木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75162" y="4630521"/>
            <a:ext cx="626821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Mic 1,3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60718" y="5223052"/>
            <a:ext cx="4668697" cy="5925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24726" y="5223052"/>
            <a:ext cx="307593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3760" y="5223052"/>
            <a:ext cx="586917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01:30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02118" y="5223052"/>
            <a:ext cx="1983536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エンディング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77094" y="5223052"/>
            <a:ext cx="706628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全員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75162" y="5223052"/>
            <a:ext cx="626821" cy="59253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BGM 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2080" y="60076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939E"/>
                </a:solidFill>
                <a:latin typeface="Noto Sans JP"/>
                <a:ea typeface="Noto Sans JP"/>
              </a:rPr>
              <a:t>▲ 実際の画面イメージ（Qシート）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Noto Sans JP"/>
                <a:ea typeface="Noto Sans JP"/>
              </a:rPr>
              <a:t>APP 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機材管理（Equipment）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627632"/>
            <a:ext cx="603504" cy="603504"/>
          </a:xfrm>
          <a:prstGeom prst="ellipse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ar 9 8"/>
          <p:cNvSpPr/>
          <p:nvPr/>
        </p:nvSpPr>
        <p:spPr>
          <a:xfrm>
            <a:off x="784555" y="1698955"/>
            <a:ext cx="460857" cy="460857"/>
          </a:xfrm>
          <a:prstGeom prst="gear9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8174" y="1852574"/>
            <a:ext cx="153619" cy="1536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64592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カメラ・ケーブル・コネクタまで機材台帳と貸出を一元管理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Noto Sans JP"/>
                <a:ea typeface="Noto Sans JP"/>
              </a:rPr>
              <a:t>できること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8950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852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16352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機材台帳・在庫・メンテ履歴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5112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QRスキャンで貸出/返却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2062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33087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Excel入出力・ラック図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01183"/>
            <a:ext cx="4224528" cy="1097280"/>
          </a:xfrm>
          <a:prstGeom prst="roundRect">
            <a:avLst>
              <a:gd name="adj" fmla="val 8000"/>
            </a:avLst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Noto Sans JP"/>
                <a:ea typeface="Noto Sans JP"/>
              </a:rPr>
              <a:t>現場での効果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“あの機材どこ？”が消える。貸出も返却もスマホで完結。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627632"/>
            <a:ext cx="6263640" cy="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212080" y="1792224"/>
            <a:ext cx="6263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12080" y="1792224"/>
            <a:ext cx="6263640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2011679"/>
            <a:ext cx="6263640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40096" y="1897379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04688" y="1897379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69280" y="1897379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25312" y="1856231"/>
            <a:ext cx="53492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1860804"/>
            <a:ext cx="5166359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gmo-onair.jp/equipment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2103120"/>
            <a:ext cx="1284046" cy="3849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496126" y="2103120"/>
            <a:ext cx="0" cy="3849624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340096" y="2231136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221991"/>
            <a:ext cx="100972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37" name="Oval 36"/>
          <p:cNvSpPr/>
          <p:nvPr/>
        </p:nvSpPr>
        <p:spPr>
          <a:xfrm>
            <a:off x="5358384" y="2651759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2976" y="2606039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ダッシュボード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85232" y="2871215"/>
            <a:ext cx="1137742" cy="23774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8384" y="2944367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22976" y="2898647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機材一覧</a:t>
            </a:r>
          </a:p>
        </p:txBody>
      </p:sp>
      <p:sp>
        <p:nvSpPr>
          <p:cNvPr id="42" name="Oval 41"/>
          <p:cNvSpPr/>
          <p:nvPr/>
        </p:nvSpPr>
        <p:spPr>
          <a:xfrm>
            <a:off x="5358384" y="3236975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2976" y="3191255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ケーブル</a:t>
            </a:r>
          </a:p>
        </p:txBody>
      </p:sp>
      <p:sp>
        <p:nvSpPr>
          <p:cNvPr id="44" name="Oval 43"/>
          <p:cNvSpPr/>
          <p:nvPr/>
        </p:nvSpPr>
        <p:spPr>
          <a:xfrm>
            <a:off x="5358384" y="3529583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22976" y="3483863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貸出</a:t>
            </a:r>
          </a:p>
        </p:txBody>
      </p:sp>
      <p:sp>
        <p:nvSpPr>
          <p:cNvPr id="46" name="Oval 45"/>
          <p:cNvSpPr/>
          <p:nvPr/>
        </p:nvSpPr>
        <p:spPr>
          <a:xfrm>
            <a:off x="5358384" y="3822191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22976" y="3776471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ラック図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0718" y="2231136"/>
            <a:ext cx="46686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機材一覧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60718" y="2560320"/>
            <a:ext cx="2100914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70446" y="2560320"/>
            <a:ext cx="210091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8A939E"/>
                </a:solidFill>
                <a:latin typeface="Noto Sans JP"/>
                <a:ea typeface="Noto Sans JP"/>
              </a:rPr>
              <a:t>🔍 機材名・型番で検索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74936" y="2560320"/>
            <a:ext cx="731520" cy="23774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＋ 登録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52176" y="2560320"/>
            <a:ext cx="777240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F59E0B"/>
                </a:solidFill>
                <a:latin typeface="Noto Sans JP"/>
                <a:ea typeface="Noto Sans JP"/>
              </a:rPr>
              <a:t>Excel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60718" y="2907791"/>
            <a:ext cx="4668697" cy="237744"/>
          </a:xfrm>
          <a:prstGeom prst="rect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15582" y="2926079"/>
            <a:ext cx="109422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型番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09808" y="2926079"/>
            <a:ext cx="1604864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機材名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4673" y="2926079"/>
            <a:ext cx="364742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79415" y="2926079"/>
            <a:ext cx="948329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設置場所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27744" y="2926079"/>
            <a:ext cx="656535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状態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60718" y="3145535"/>
            <a:ext cx="4668697" cy="534009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4726" y="3145535"/>
            <a:ext cx="1002786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PMW-Z750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952" y="3145535"/>
            <a:ext cx="1513424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業務用4Kカメラ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23817" y="3145535"/>
            <a:ext cx="273302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8559" y="3145535"/>
            <a:ext cx="856889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Aスタジオ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27744" y="3321100"/>
            <a:ext cx="548640" cy="182880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稼働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60718" y="3679545"/>
            <a:ext cx="4668697" cy="534009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4726" y="3679545"/>
            <a:ext cx="1002786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OCC30N-ARIB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952" y="3679545"/>
            <a:ext cx="1513424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光カメラケーブル 30m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23817" y="3679545"/>
            <a:ext cx="273302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8559" y="3679545"/>
            <a:ext cx="856889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倉庫B-2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27744" y="3855110"/>
            <a:ext cx="548640" cy="182880"/>
          </a:xfrm>
          <a:prstGeom prst="roundRect">
            <a:avLst>
              <a:gd name="adj" fmla="val 8000"/>
            </a:avLst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在庫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60718" y="4213555"/>
            <a:ext cx="4668697" cy="534009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24726" y="4213555"/>
            <a:ext cx="1002786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UA-MX700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18952" y="4213555"/>
            <a:ext cx="1513424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デジタル卓 32ch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23817" y="4213555"/>
            <a:ext cx="273302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8559" y="4213555"/>
            <a:ext cx="856889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副調整室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727744" y="4389119"/>
            <a:ext cx="548640" cy="182880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稼働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60718" y="4747564"/>
            <a:ext cx="4668697" cy="534009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24726" y="4747564"/>
            <a:ext cx="1002786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PXW-FX9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18952" y="4747564"/>
            <a:ext cx="1513424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シネマカメラ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23817" y="4747564"/>
            <a:ext cx="273302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8559" y="4747564"/>
            <a:ext cx="856889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貸出中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727744" y="4923129"/>
            <a:ext cx="548640" cy="1828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貸出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60718" y="5281574"/>
            <a:ext cx="4668697" cy="534009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24726" y="5281574"/>
            <a:ext cx="1002786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HDC-3500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8952" y="5281574"/>
            <a:ext cx="1513424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システムカメラ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23817" y="5281574"/>
            <a:ext cx="273302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88559" y="5281574"/>
            <a:ext cx="856889" cy="5340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Aスタジオ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727744" y="5457139"/>
            <a:ext cx="548640" cy="182880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稼働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2080" y="60076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939E"/>
                </a:solidFill>
                <a:latin typeface="Noto Sans JP"/>
                <a:ea typeface="Noto Sans JP"/>
              </a:rPr>
              <a:t>▲ 実際の画面イメージ（機材管理）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5CD6"/>
                </a:solidFill>
                <a:latin typeface="Noto Sans JP"/>
                <a:ea typeface="Noto Sans JP"/>
              </a:rPr>
              <a:t>APP 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技術資料（Tech Sheet）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08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627632"/>
            <a:ext cx="603504" cy="603504"/>
          </a:xfrm>
          <a:prstGeom prst="ellipse">
            <a:avLst/>
          </a:prstGeom>
          <a:solidFill>
            <a:srgbClr val="EA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7473" y="1819655"/>
            <a:ext cx="395020" cy="252374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64792"/>
            <a:ext cx="120700" cy="65836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1874519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1092" y="1912924"/>
            <a:ext cx="87782" cy="87782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64592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カメラ・映像・音声・通信の技術仕様書をデジタル化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95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C5CD6"/>
                </a:solidFill>
                <a:latin typeface="Noto Sans JP"/>
                <a:ea typeface="Noto Sans JP"/>
              </a:rPr>
              <a:t>できること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889504"/>
            <a:ext cx="274320" cy="27432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52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16352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案件ごとの技術シート作成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5112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4747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A4印刷レイアウト対応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206240"/>
            <a:ext cx="274320" cy="27432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33087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機材データと連携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01183"/>
            <a:ext cx="4224528" cy="1097280"/>
          </a:xfrm>
          <a:prstGeom prst="roundRect">
            <a:avLst>
              <a:gd name="adj" fmla="val 8000"/>
            </a:avLst>
          </a:prstGeom>
          <a:solidFill>
            <a:srgbClr val="EA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C5CD6"/>
                </a:solidFill>
                <a:latin typeface="Noto Sans JP"/>
                <a:ea typeface="Noto Sans JP"/>
              </a:rPr>
              <a:t>現場での効果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技術仕様の作成・共有・印刷が紙からデジタルへ。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1627632"/>
            <a:ext cx="6263640" cy="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212080" y="1792224"/>
            <a:ext cx="6263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12080" y="1792224"/>
            <a:ext cx="6263640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80" y="2011679"/>
            <a:ext cx="6263640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40096" y="1897379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04688" y="1897379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69280" y="1897379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25312" y="1856231"/>
            <a:ext cx="53492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1860804"/>
            <a:ext cx="5166359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gmo-onair.jp/techsheet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103120"/>
            <a:ext cx="1284046" cy="3849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496126" y="2103120"/>
            <a:ext cx="0" cy="3849624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340096" y="2231136"/>
            <a:ext cx="182880" cy="18288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221991"/>
            <a:ext cx="100972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39" name="Oval 38"/>
          <p:cNvSpPr/>
          <p:nvPr/>
        </p:nvSpPr>
        <p:spPr>
          <a:xfrm>
            <a:off x="5358384" y="2651759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22976" y="2606039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資料一覧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85232" y="2871215"/>
            <a:ext cx="1137742" cy="237744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58384" y="2944367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2976" y="2898647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編集</a:t>
            </a:r>
          </a:p>
        </p:txBody>
      </p:sp>
      <p:sp>
        <p:nvSpPr>
          <p:cNvPr id="44" name="Oval 43"/>
          <p:cNvSpPr/>
          <p:nvPr/>
        </p:nvSpPr>
        <p:spPr>
          <a:xfrm>
            <a:off x="5358384" y="3236975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22976" y="3191255"/>
            <a:ext cx="9731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印刷プレビュー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0718" y="2231136"/>
            <a:ext cx="46686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Noto Sans JP"/>
                <a:ea typeface="Noto Sans JP"/>
              </a:rPr>
              <a:t>技術仕様書 ｜ GLS-A012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0718" y="2560320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ヘッダー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56830" y="2560320"/>
            <a:ext cx="841248" cy="256032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カメラ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52942" y="2560320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映像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49054" y="2560320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音声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5166" y="2560320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通信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0718" y="2971800"/>
            <a:ext cx="22429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カメラ台数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60718" y="3136392"/>
            <a:ext cx="2242908" cy="646175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52158" y="3136392"/>
            <a:ext cx="2060028" cy="6461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8 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86507" y="2971800"/>
            <a:ext cx="22429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カメラ機種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86507" y="3136392"/>
            <a:ext cx="2242908" cy="646175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77947" y="3136392"/>
            <a:ext cx="2060028" cy="6461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HDC-3500 / PXW-FX9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0718" y="3910583"/>
            <a:ext cx="22429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レンズ構成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60718" y="4075175"/>
            <a:ext cx="2242908" cy="646175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52158" y="4075175"/>
            <a:ext cx="2060028" cy="6461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ズーム ×4, 単焦点 ×2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86507" y="3910583"/>
            <a:ext cx="22429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出力フォーマット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86507" y="4075175"/>
            <a:ext cx="2242908" cy="646175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77947" y="4075175"/>
            <a:ext cx="2060028" cy="6461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1080/59.94p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60718" y="4849367"/>
            <a:ext cx="22429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ケーブル長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60718" y="5013959"/>
            <a:ext cx="2242908" cy="646175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52158" y="5013959"/>
            <a:ext cx="2060028" cy="6461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30m / 50m 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86507" y="4849367"/>
            <a:ext cx="22429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特記事項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86507" y="5013959"/>
            <a:ext cx="2242908" cy="646175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77947" y="5013959"/>
            <a:ext cx="2060028" cy="6461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中継車との連携あり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60076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939E"/>
                </a:solidFill>
                <a:latin typeface="Noto Sans JP"/>
                <a:ea typeface="Noto Sans JP"/>
              </a:rPr>
              <a:t>▲ 実際の画面イメージ（技術資料）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A06B"/>
                </a:solidFill>
                <a:latin typeface="Noto Sans JP"/>
                <a:ea typeface="Noto Sans JP"/>
              </a:rPr>
              <a:t>APP 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ライブ運用（Live Ops）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09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627632"/>
            <a:ext cx="603504" cy="603504"/>
          </a:xfrm>
          <a:prstGeom prst="ellipse">
            <a:avLst/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8446" y="1764792"/>
            <a:ext cx="373075" cy="3730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1092" y="1677009"/>
            <a:ext cx="87782" cy="54864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014984" y="1852574"/>
            <a:ext cx="0" cy="98755"/>
          </a:xfrm>
          <a:prstGeom prst="line">
            <a:avLst/>
          </a:prstGeom>
          <a:ln w="33020">
            <a:solidFill>
              <a:srgbClr val="2EA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4984" y="1951329"/>
            <a:ext cx="71323" cy="0"/>
          </a:xfrm>
          <a:prstGeom prst="line">
            <a:avLst/>
          </a:prstGeom>
          <a:ln w="3302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93038" y="1929384"/>
            <a:ext cx="43891" cy="43891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64592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本番当日のオペレーション・進行・計時をサポート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A06B"/>
                </a:solidFill>
                <a:latin typeface="Noto Sans JP"/>
                <a:ea typeface="Noto Sans JP"/>
              </a:rPr>
              <a:t>できること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889504"/>
            <a:ext cx="274320" cy="274320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852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16352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番組進行・タイマー表示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5112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747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視聴者数のリアルタイム計測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206240"/>
            <a:ext cx="274320" cy="274320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33087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Zoom/Teams 参加者連携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01183"/>
            <a:ext cx="4224528" cy="1097280"/>
          </a:xfrm>
          <a:prstGeom prst="roundRect">
            <a:avLst>
              <a:gd name="adj" fmla="val 8000"/>
            </a:avLst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04748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A06B"/>
                </a:solidFill>
                <a:latin typeface="Noto Sans JP"/>
                <a:ea typeface="Noto Sans JP"/>
              </a:rPr>
              <a:t>現場での効果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進行・計時・視聴者数を1画面で。当日オペが軽くなる。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627632"/>
            <a:ext cx="6263640" cy="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212080" y="1792224"/>
            <a:ext cx="6263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12080" y="1792224"/>
            <a:ext cx="6263640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2011679"/>
            <a:ext cx="6263640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40096" y="1897379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04688" y="1897379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0" y="1897379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25312" y="1856231"/>
            <a:ext cx="53492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1860804"/>
            <a:ext cx="5166359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gmo-onair.jp/live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103120"/>
            <a:ext cx="6263640" cy="3849624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2249424"/>
            <a:ext cx="58978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ED7E2"/>
                </a:solidFill>
                <a:latin typeface="Noto Sans JP"/>
                <a:ea typeface="Noto Sans JP"/>
              </a:rPr>
              <a:t>本番進行 ｜ 年間表彰式 2026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69880" y="2231136"/>
            <a:ext cx="868680" cy="256032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  <a:ea typeface="Noto Sans JP"/>
              </a:rPr>
              <a:t>●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2606039"/>
            <a:ext cx="3883456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Arial"/>
                <a:ea typeface="Arial"/>
              </a:rPr>
              <a:t>01:24:36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5449824"/>
            <a:ext cx="37581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9FADBD"/>
                </a:solidFill>
                <a:latin typeface="Noto Sans JP"/>
                <a:ea typeface="Noto Sans JP"/>
              </a:rPr>
              <a:t>経過時間 ・ 次の転換まで 03:12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08922" y="2560320"/>
            <a:ext cx="973378" cy="1559051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1218" y="2615184"/>
            <a:ext cx="88193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視聴者数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1218" y="2761488"/>
            <a:ext cx="88193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A06B"/>
                </a:solidFill>
                <a:latin typeface="Arial"/>
                <a:ea typeface="Arial"/>
              </a:rPr>
              <a:t>12,480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73741" y="2560320"/>
            <a:ext cx="973378" cy="1559051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56037" y="2615184"/>
            <a:ext cx="88193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Zoom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6037" y="2761488"/>
            <a:ext cx="88193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4A9DE0"/>
                </a:solidFill>
                <a:latin typeface="Arial"/>
                <a:ea typeface="Arial"/>
              </a:rPr>
              <a:t>3,210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08922" y="4302252"/>
            <a:ext cx="973378" cy="1559051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1218" y="4357116"/>
            <a:ext cx="88193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YouTube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1218" y="4503420"/>
            <a:ext cx="88193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94B4B"/>
                </a:solidFill>
                <a:latin typeface="Arial"/>
                <a:ea typeface="Arial"/>
              </a:rPr>
              <a:t>8,940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73741" y="4302252"/>
            <a:ext cx="973378" cy="1559051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56037" y="4357116"/>
            <a:ext cx="88193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Teams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56037" y="4503420"/>
            <a:ext cx="88193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5CD6"/>
                </a:solidFill>
                <a:latin typeface="Arial"/>
                <a:ea typeface="Arial"/>
              </a:rPr>
              <a:t>330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60076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939E"/>
                </a:solidFill>
                <a:latin typeface="Noto Sans JP"/>
                <a:ea typeface="Noto Sans JP"/>
              </a:rPr>
              <a:t>▲ 実際の画面イメージ（ライブ運用）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94B4B"/>
                </a:solidFill>
                <a:latin typeface="Noto Sans JP"/>
                <a:ea typeface="Noto Sans JP"/>
              </a:rPr>
              <a:t>APP 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リアルタイムCG（Realtime CG）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627632"/>
            <a:ext cx="603504" cy="603504"/>
          </a:xfrm>
          <a:prstGeom prst="ellipse">
            <a:avLst/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764792"/>
            <a:ext cx="438912" cy="285292"/>
          </a:xfrm>
          <a:prstGeom prst="roundRect">
            <a:avLst>
              <a:gd name="adj" fmla="val 8000"/>
            </a:avLst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9419" y="1808683"/>
            <a:ext cx="351129" cy="197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9147" y="2050084"/>
            <a:ext cx="131673" cy="38404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ghtning Bolt 11"/>
          <p:cNvSpPr/>
          <p:nvPr/>
        </p:nvSpPr>
        <p:spPr>
          <a:xfrm>
            <a:off x="960120" y="1830628"/>
            <a:ext cx="109728" cy="153619"/>
          </a:xfrm>
          <a:prstGeom prst="lightningBol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64592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放送用CG（テロップ・ランキング・投票）をライブ送出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95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94B4B"/>
                </a:solidFill>
                <a:latin typeface="Noto Sans JP"/>
                <a:ea typeface="Noto Sans JP"/>
              </a:rPr>
              <a:t>できること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889504"/>
            <a:ext cx="274320" cy="274320"/>
          </a:xfrm>
          <a:prstGeom prst="ellipse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52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16352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下位置CG / 表彰CG 演出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5112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4747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アンケート・クイズの即時集計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206240"/>
            <a:ext cx="274320" cy="274320"/>
          </a:xfrm>
          <a:prstGeom prst="ellipse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33087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OBS向け透過HTML5出力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01183"/>
            <a:ext cx="4224528" cy="1097280"/>
          </a:xfrm>
          <a:prstGeom prst="roundRect">
            <a:avLst>
              <a:gd name="adj" fmla="val 8000"/>
            </a:avLst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D94B4B"/>
                </a:solidFill>
                <a:latin typeface="Noto Sans JP"/>
                <a:ea typeface="Noto Sans JP"/>
              </a:rPr>
              <a:t>現場での効果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専門ソフト級のCG演出を、社内オペレーターだけで送出。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1627632"/>
            <a:ext cx="6263640" cy="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212080" y="1792224"/>
            <a:ext cx="6263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12080" y="1792224"/>
            <a:ext cx="6263640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80" y="2011679"/>
            <a:ext cx="6263640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40096" y="1897379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04688" y="1897379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69280" y="1897379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25312" y="1856231"/>
            <a:ext cx="53492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1860804"/>
            <a:ext cx="5166359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gmo-onair.jp/awards/output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103120"/>
            <a:ext cx="6263640" cy="3849624"/>
          </a:xfrm>
          <a:prstGeom prst="rect">
            <a:avLst/>
          </a:prstGeom>
          <a:solidFill>
            <a:srgbClr val="0A0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03262" y="2157984"/>
            <a:ext cx="2881274" cy="2386766"/>
          </a:xfrm>
          <a:prstGeom prst="ellipse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24231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7C96B"/>
                </a:solidFill>
                <a:latin typeface="Arial"/>
                <a:ea typeface="Arial"/>
              </a:rPr>
              <a:t>— THE WINNER 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29500" y="274320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141824"/>
          </a:solidFill>
          <a:ln w="1905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51292" y="2852927"/>
            <a:ext cx="548640" cy="548640"/>
          </a:xfrm>
          <a:prstGeom prst="ellipse">
            <a:avLst/>
          </a:prstGeom>
          <a:solidFill>
            <a:srgbClr val="2A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0940" y="340156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Noto Sans JP"/>
                <a:ea typeface="Noto Sans JP"/>
              </a:rPr>
              <a:t>グローバルスタジオ賞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5239512"/>
            <a:ext cx="5806440" cy="548640"/>
          </a:xfrm>
          <a:prstGeom prst="rect">
            <a:avLst/>
          </a:prstGeom>
          <a:solidFill>
            <a:srgbClr val="10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40680" y="5239512"/>
            <a:ext cx="64008" cy="5486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77840" y="5312664"/>
            <a:ext cx="402336" cy="402336"/>
          </a:xfrm>
          <a:prstGeom prst="ellipse">
            <a:avLst/>
          </a:prstGeom>
          <a:solidFill>
            <a:srgbClr val="2A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5312664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田中 太郎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550407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C9A961"/>
                </a:solidFill>
                <a:latin typeface="Noto Sans JP"/>
                <a:ea typeface="Noto Sans JP"/>
              </a:rPr>
              <a:t>GMOグローバルスタジオ</a:t>
            </a:r>
            <a:r>
              <a:rPr sz="700" b="0">
                <a:solidFill>
                  <a:srgbClr val="ADB7C4"/>
                </a:solidFill>
                <a:latin typeface="Noto Sans JP"/>
                <a:ea typeface="Noto Sans JP"/>
              </a:rPr>
              <a:t>  ｜  制作部 部長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21240" y="2606039"/>
            <a:ext cx="1152144" cy="118872"/>
          </a:xfrm>
          <a:prstGeom prst="rect">
            <a:avLst/>
          </a:prstGeom>
          <a:solidFill>
            <a:srgbClr val="E7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21240" y="2788920"/>
            <a:ext cx="768096" cy="118872"/>
          </a:xfrm>
          <a:prstGeom prst="rect">
            <a:avLst/>
          </a:prstGeom>
          <a:solidFill>
            <a:srgbClr val="4A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21240" y="2971799"/>
            <a:ext cx="512063" cy="118872"/>
          </a:xfrm>
          <a:prstGeom prst="rect">
            <a:avLst/>
          </a:prstGeom>
          <a:solidFill>
            <a:srgbClr val="C4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60076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939E"/>
                </a:solidFill>
                <a:latin typeface="Noto Sans JP"/>
                <a:ea typeface="Noto Sans JP"/>
              </a:rPr>
              <a:t>▲ 実際の画面イメージ（リアルタイムCG）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SCREEN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実際の画面 — ひとつのデザインで6アプリ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456432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83664"/>
            <a:ext cx="3456432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1769364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1769364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" y="1769364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26464" y="1728216"/>
            <a:ext cx="2542032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1732788"/>
            <a:ext cx="23591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gmo-onair.jp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1975104"/>
            <a:ext cx="708568" cy="16824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421800" y="1975104"/>
            <a:ext cx="0" cy="1682496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41248" y="2103120"/>
            <a:ext cx="182880" cy="18288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093976"/>
            <a:ext cx="4342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2450592"/>
            <a:ext cx="562264" cy="237744"/>
          </a:xfrm>
          <a:prstGeom prst="roundRect">
            <a:avLst>
              <a:gd name="adj" fmla="val 8000"/>
            </a:avLst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" y="252374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2478024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ダッシュボード</a:t>
            </a:r>
          </a:p>
        </p:txBody>
      </p:sp>
      <p:sp>
        <p:nvSpPr>
          <p:cNvPr id="23" name="Oval 22"/>
          <p:cNvSpPr/>
          <p:nvPr/>
        </p:nvSpPr>
        <p:spPr>
          <a:xfrm>
            <a:off x="859536" y="2816351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2770632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案件一覧</a:t>
            </a:r>
          </a:p>
        </p:txBody>
      </p:sp>
      <p:sp>
        <p:nvSpPr>
          <p:cNvPr id="25" name="Oval 24"/>
          <p:cNvSpPr/>
          <p:nvPr/>
        </p:nvSpPr>
        <p:spPr>
          <a:xfrm>
            <a:off x="859536" y="3108959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063239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売上</a:t>
            </a:r>
          </a:p>
        </p:txBody>
      </p:sp>
      <p:sp>
        <p:nvSpPr>
          <p:cNvPr id="27" name="Oval 26"/>
          <p:cNvSpPr/>
          <p:nvPr/>
        </p:nvSpPr>
        <p:spPr>
          <a:xfrm>
            <a:off x="859536" y="3401567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355847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仕入</a:t>
            </a:r>
          </a:p>
        </p:txBody>
      </p:sp>
      <p:sp>
        <p:nvSpPr>
          <p:cNvPr id="29" name="Oval 28"/>
          <p:cNvSpPr/>
          <p:nvPr/>
        </p:nvSpPr>
        <p:spPr>
          <a:xfrm>
            <a:off x="859536" y="3694175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3648455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損益</a:t>
            </a:r>
          </a:p>
        </p:txBody>
      </p:sp>
      <p:sp>
        <p:nvSpPr>
          <p:cNvPr id="31" name="Oval 30"/>
          <p:cNvSpPr/>
          <p:nvPr/>
        </p:nvSpPr>
        <p:spPr>
          <a:xfrm>
            <a:off x="859536" y="3986783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3941063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請求書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6392" y="2103120"/>
            <a:ext cx="243696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案件ダッシュボード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6392" y="2377440"/>
            <a:ext cx="243696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8A939E"/>
                </a:solidFill>
                <a:latin typeface="Noto Sans JP"/>
                <a:ea typeface="Noto Sans JP"/>
              </a:rPr>
              <a:t>2026年5月 ・ 最終更新 5分前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86392" y="2633472"/>
            <a:ext cx="485797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86392" y="2633472"/>
            <a:ext cx="485797" cy="54864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59544" y="2724912"/>
            <a:ext cx="33949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進行中案件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9544" y="2871215"/>
            <a:ext cx="3394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5BAC"/>
                </a:solidFill>
                <a:latin typeface="Arial"/>
                <a:ea typeface="Arial"/>
              </a:rPr>
              <a:t>37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59544" y="3200400"/>
            <a:ext cx="339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36782" y="2633472"/>
            <a:ext cx="485797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36782" y="2633472"/>
            <a:ext cx="485797" cy="54864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9934" y="2724912"/>
            <a:ext cx="33949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今月売上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09934" y="2871215"/>
            <a:ext cx="3394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A06B"/>
                </a:solidFill>
                <a:latin typeface="Arial"/>
                <a:ea typeface="Arial"/>
              </a:rPr>
              <a:t>¥4,820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9934" y="3200400"/>
            <a:ext cx="339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12%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87172" y="2633472"/>
            <a:ext cx="485797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87172" y="2633472"/>
            <a:ext cx="485797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60324" y="2724912"/>
            <a:ext cx="33949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粗利率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0324" y="2871215"/>
            <a:ext cx="3394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59E0B"/>
                </a:solidFill>
                <a:latin typeface="Arial"/>
                <a:ea typeface="Arial"/>
              </a:rPr>
              <a:t>31.4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60324" y="3200400"/>
            <a:ext cx="339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2.1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37562" y="2633472"/>
            <a:ext cx="485797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37562" y="2633472"/>
            <a:ext cx="485797" cy="54864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0714" y="2724912"/>
            <a:ext cx="33949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5B6672"/>
                </a:solidFill>
                <a:latin typeface="Noto Sans JP"/>
                <a:ea typeface="Noto Sans JP"/>
              </a:rPr>
              <a:t>受注ヨミ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0714" y="2871215"/>
            <a:ext cx="3394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7C5CD6"/>
                </a:solidFill>
                <a:latin typeface="Arial"/>
                <a:ea typeface="Arial"/>
              </a:rPr>
              <a:t>¥1.2</a:t>
            </a: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10714" y="3200400"/>
            <a:ext cx="339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2EA06B"/>
                </a:solidFill>
                <a:latin typeface="Noto Sans JP"/>
                <a:ea typeface="Noto Sans JP"/>
              </a:rPr>
              <a:t>▲ 8件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86392" y="3529584"/>
            <a:ext cx="1462180" cy="-548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96120" y="3602736"/>
            <a:ext cx="12793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月次売上推移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42424" y="3491362"/>
            <a:ext cx="92123" cy="-272674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09921" y="3575761"/>
            <a:ext cx="92123" cy="-357073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77418" y="3530315"/>
            <a:ext cx="92123" cy="-311627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344914" y="3673144"/>
            <a:ext cx="92123" cy="-454456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12411" y="3621206"/>
            <a:ext cx="92123" cy="-40251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79908" y="3770528"/>
            <a:ext cx="92123" cy="-55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213165" y="3529584"/>
            <a:ext cx="810194" cy="-548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22893" y="3602736"/>
            <a:ext cx="6273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Noto Sans JP"/>
                <a:ea typeface="Noto Sans JP"/>
              </a:rPr>
              <a:t>案件ステージ構成</a:t>
            </a:r>
          </a:p>
        </p:txBody>
      </p:sp>
      <p:sp>
        <p:nvSpPr>
          <p:cNvPr id="65" name="Pie 64"/>
          <p:cNvSpPr/>
          <p:nvPr/>
        </p:nvSpPr>
        <p:spPr>
          <a:xfrm>
            <a:off x="3634721" y="3591763"/>
            <a:ext cx="-32918" cy="-32918"/>
          </a:xfrm>
          <a:prstGeom prst="pie">
            <a:avLst>
              <a:gd name="adj1" fmla="val 18000000"/>
              <a:gd name="adj2" fmla="val 3000000"/>
            </a:avLst>
          </a:prstGeom>
          <a:solidFill>
            <a:srgbClr val="005B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ie 65"/>
          <p:cNvSpPr/>
          <p:nvPr/>
        </p:nvSpPr>
        <p:spPr>
          <a:xfrm>
            <a:off x="3634721" y="3591763"/>
            <a:ext cx="-32918" cy="-32918"/>
          </a:xfrm>
          <a:prstGeom prst="pie">
            <a:avLst>
              <a:gd name="adj1" fmla="val 3000000"/>
              <a:gd name="adj2" fmla="val 15000000"/>
            </a:avLst>
          </a:prstGeom>
          <a:solidFill>
            <a:srgbClr val="4A9D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ie 66"/>
          <p:cNvSpPr/>
          <p:nvPr/>
        </p:nvSpPr>
        <p:spPr>
          <a:xfrm>
            <a:off x="3634721" y="3591763"/>
            <a:ext cx="-32918" cy="-32918"/>
          </a:xfrm>
          <a:prstGeom prst="pie">
            <a:avLst>
              <a:gd name="adj1" fmla="val 15000000"/>
              <a:gd name="adj2" fmla="val 18000000"/>
            </a:avLst>
          </a:prstGeom>
          <a:solidFill>
            <a:srgbClr val="F59E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626492" y="3583533"/>
            <a:ext cx="-16459" cy="-1645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22960" y="3712463"/>
            <a:ext cx="3236976" cy="256032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05BAC"/>
                </a:solidFill>
                <a:latin typeface="Noto Sans JP"/>
                <a:ea typeface="Noto Sans JP"/>
              </a:rPr>
              <a:t>案件管理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425696" y="1664208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425696" y="1664208"/>
            <a:ext cx="3456432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25696" y="1883664"/>
            <a:ext cx="3456432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53712" y="1769364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718303" y="1769364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882896" y="1769364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138928" y="1728216"/>
            <a:ext cx="2542032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66944" y="1732788"/>
            <a:ext cx="23591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rundown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25696" y="1975104"/>
            <a:ext cx="708568" cy="16824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134264" y="1975104"/>
            <a:ext cx="0" cy="1682496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4553712" y="2103120"/>
            <a:ext cx="182880" cy="182880"/>
          </a:xfrm>
          <a:prstGeom prst="ellipse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91456" y="2093976"/>
            <a:ext cx="4342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82" name="Oval 81"/>
          <p:cNvSpPr/>
          <p:nvPr/>
        </p:nvSpPr>
        <p:spPr>
          <a:xfrm>
            <a:off x="4572000" y="2523744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36592" y="2478024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エディタ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498848" y="2743200"/>
            <a:ext cx="562264" cy="237744"/>
          </a:xfrm>
          <a:prstGeom prst="roundRect">
            <a:avLst>
              <a:gd name="adj" fmla="val 8000"/>
            </a:avLst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572000" y="2816351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36592" y="2770632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ランダウン</a:t>
            </a:r>
          </a:p>
        </p:txBody>
      </p:sp>
      <p:sp>
        <p:nvSpPr>
          <p:cNvPr id="87" name="Oval 86"/>
          <p:cNvSpPr/>
          <p:nvPr/>
        </p:nvSpPr>
        <p:spPr>
          <a:xfrm>
            <a:off x="4572000" y="3108959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36592" y="3063239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OnAir</a:t>
            </a:r>
          </a:p>
        </p:txBody>
      </p:sp>
      <p:sp>
        <p:nvSpPr>
          <p:cNvPr id="89" name="Oval 88"/>
          <p:cNvSpPr/>
          <p:nvPr/>
        </p:nvSpPr>
        <p:spPr>
          <a:xfrm>
            <a:off x="4572000" y="3401567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3355847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プロンプター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98856" y="2103120"/>
            <a:ext cx="243696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Noto Sans JP"/>
                <a:ea typeface="Noto Sans JP"/>
              </a:rPr>
              <a:t>ランダウン ｜ GLS-A012 収録台本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21423" y="208483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  <a:ea typeface="Noto Sans JP"/>
              </a:rPr>
              <a:t>● ON AIR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98856" y="2487168"/>
            <a:ext cx="2436967" cy="237744"/>
          </a:xfrm>
          <a:prstGeom prst="rect">
            <a:avLst/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44576" y="2505456"/>
            <a:ext cx="208287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No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52864" y="2505456"/>
            <a:ext cx="354089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時間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06953" y="2505456"/>
            <a:ext cx="108309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内容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90050" y="2505456"/>
            <a:ext cx="416575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出演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25" y="2505456"/>
            <a:ext cx="37491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9BA0"/>
                </a:solidFill>
                <a:latin typeface="Noto Sans JP"/>
                <a:ea typeface="Noto Sans JP"/>
              </a:rPr>
              <a:t>音声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98856" y="2724912"/>
            <a:ext cx="2436967" cy="159105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62864" y="2724912"/>
            <a:ext cx="116847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71152" y="2724912"/>
            <a:ext cx="262649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00:30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25241" y="2724912"/>
            <a:ext cx="991656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オープニング映像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08338" y="2724912"/>
            <a:ext cx="325135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24913" y="2724912"/>
            <a:ext cx="283478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BGM 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98856" y="2884017"/>
            <a:ext cx="2436967" cy="159105"/>
          </a:xfrm>
          <a:prstGeom prst="rect">
            <a:avLst/>
          </a:prstGeom>
          <a:solidFill>
            <a:srgbClr val="FFF4F4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298856" y="2884017"/>
            <a:ext cx="54864" cy="159105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62864" y="2884017"/>
            <a:ext cx="116847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71152" y="2884017"/>
            <a:ext cx="262649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02:00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25241" y="2884017"/>
            <a:ext cx="991656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MC あいさつ・導入トーク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08338" y="2884017"/>
            <a:ext cx="325135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田中 / 佐藤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24913" y="2884017"/>
            <a:ext cx="283478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Mic 1,2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298856" y="3043123"/>
            <a:ext cx="2436967" cy="159105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62864" y="3043123"/>
            <a:ext cx="116847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1152" y="3043123"/>
            <a:ext cx="262649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05:30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25241" y="3043123"/>
            <a:ext cx="991656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VTR① 事例紹介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08338" y="3043123"/>
            <a:ext cx="325135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—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24913" y="3043123"/>
            <a:ext cx="283478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VTR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298856" y="3202228"/>
            <a:ext cx="2436967" cy="159105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362864" y="3202228"/>
            <a:ext cx="116847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71152" y="3202228"/>
            <a:ext cx="262649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03:00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925241" y="3202228"/>
            <a:ext cx="991656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ゲストトーク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08338" y="3202228"/>
            <a:ext cx="325135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鈴木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24913" y="3202228"/>
            <a:ext cx="283478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Mic 1,3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298856" y="3361334"/>
            <a:ext cx="2436967" cy="159105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362864" y="3361334"/>
            <a:ext cx="116847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F2A37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71152" y="3361334"/>
            <a:ext cx="262649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69BA0"/>
                </a:solidFill>
                <a:latin typeface="Arial"/>
                <a:ea typeface="Arial"/>
              </a:rPr>
              <a:t>01:30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925241" y="3361334"/>
            <a:ext cx="991656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エンディング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08338" y="3361334"/>
            <a:ext cx="325135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全員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24913" y="3361334"/>
            <a:ext cx="283478" cy="1591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BGM B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535424" y="3712463"/>
            <a:ext cx="3236976" cy="256032"/>
          </a:xfrm>
          <a:prstGeom prst="roundRect">
            <a:avLst>
              <a:gd name="adj" fmla="val 8000"/>
            </a:avLst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69BA0"/>
                </a:solidFill>
                <a:latin typeface="Noto Sans JP"/>
                <a:ea typeface="Noto Sans JP"/>
              </a:rPr>
              <a:t>Qシート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138159" y="1664208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8138159" y="1664208"/>
            <a:ext cx="3456432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138159" y="1883664"/>
            <a:ext cx="3456432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266175" y="1769364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430767" y="1769364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595359" y="1769364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851391" y="1728216"/>
            <a:ext cx="2542032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979407" y="1732788"/>
            <a:ext cx="23591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equipment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138159" y="1975104"/>
            <a:ext cx="708568" cy="16824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8846728" y="1975104"/>
            <a:ext cx="0" cy="1682496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8266175" y="210312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503919" y="2093976"/>
            <a:ext cx="4342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143" name="Oval 142"/>
          <p:cNvSpPr/>
          <p:nvPr/>
        </p:nvSpPr>
        <p:spPr>
          <a:xfrm>
            <a:off x="8284463" y="2523744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449055" y="2478024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ダッシュボード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211311" y="2743200"/>
            <a:ext cx="562264" cy="23774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284463" y="2816351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449055" y="2770632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機材一覧</a:t>
            </a:r>
          </a:p>
        </p:txBody>
      </p:sp>
      <p:sp>
        <p:nvSpPr>
          <p:cNvPr id="148" name="Oval 147"/>
          <p:cNvSpPr/>
          <p:nvPr/>
        </p:nvSpPr>
        <p:spPr>
          <a:xfrm>
            <a:off x="8284463" y="3108959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449055" y="3063239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ケーブル</a:t>
            </a:r>
          </a:p>
        </p:txBody>
      </p:sp>
      <p:sp>
        <p:nvSpPr>
          <p:cNvPr id="150" name="Oval 149"/>
          <p:cNvSpPr/>
          <p:nvPr/>
        </p:nvSpPr>
        <p:spPr>
          <a:xfrm>
            <a:off x="8284463" y="3401567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449055" y="3355847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貸出</a:t>
            </a:r>
          </a:p>
        </p:txBody>
      </p:sp>
      <p:sp>
        <p:nvSpPr>
          <p:cNvPr id="152" name="Oval 151"/>
          <p:cNvSpPr/>
          <p:nvPr/>
        </p:nvSpPr>
        <p:spPr>
          <a:xfrm>
            <a:off x="8284463" y="3694175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449055" y="3648455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ラック図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11320" y="2103120"/>
            <a:ext cx="243696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機材一覧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011320" y="2432304"/>
            <a:ext cx="1096635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121048" y="2432304"/>
            <a:ext cx="1096635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8A939E"/>
                </a:solidFill>
                <a:latin typeface="Noto Sans JP"/>
                <a:ea typeface="Noto Sans JP"/>
              </a:rPr>
              <a:t>🔍 機材名・型番で検索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893808" y="2432304"/>
            <a:ext cx="731520" cy="23774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＋ 登録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0671048" y="2432304"/>
            <a:ext cx="777240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F59E0B"/>
                </a:solidFill>
                <a:latin typeface="Noto Sans JP"/>
                <a:ea typeface="Noto Sans JP"/>
              </a:rPr>
              <a:t>Excel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011320" y="2779776"/>
            <a:ext cx="2436967" cy="237744"/>
          </a:xfrm>
          <a:prstGeom prst="rect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066184" y="2798064"/>
            <a:ext cx="571164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型番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637348" y="2798064"/>
            <a:ext cx="837707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機材名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475056" y="2798064"/>
            <a:ext cx="1903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数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665444" y="2798064"/>
            <a:ext cx="495009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設置場所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160453" y="2798064"/>
            <a:ext cx="34269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06E00"/>
                </a:solidFill>
                <a:latin typeface="Noto Sans JP"/>
                <a:ea typeface="Noto Sans JP"/>
              </a:rPr>
              <a:t>状態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011320" y="3017520"/>
            <a:ext cx="2436967" cy="1005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075328" y="3017520"/>
            <a:ext cx="479724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PMW-Z750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646492" y="3017520"/>
            <a:ext cx="746267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業務用4Kカメラ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484200" y="3017520"/>
            <a:ext cx="98948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674588" y="3017520"/>
            <a:ext cx="403569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Aスタジオ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1160453" y="2976372"/>
            <a:ext cx="548640" cy="182880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稼働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011320" y="3118103"/>
            <a:ext cx="2436967" cy="1005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075328" y="3118103"/>
            <a:ext cx="479724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OCC30N-ARIB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646492" y="3118103"/>
            <a:ext cx="746267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光カメラケーブル 30m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484200" y="3118103"/>
            <a:ext cx="98948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674588" y="3118103"/>
            <a:ext cx="403569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倉庫B-2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1160453" y="3076956"/>
            <a:ext cx="548640" cy="182880"/>
          </a:xfrm>
          <a:prstGeom prst="roundRect">
            <a:avLst>
              <a:gd name="adj" fmla="val 8000"/>
            </a:avLst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在庫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011320" y="3218687"/>
            <a:ext cx="2436967" cy="1005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075328" y="3218687"/>
            <a:ext cx="479724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UA-MX700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646492" y="3218687"/>
            <a:ext cx="746267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デジタル卓 32ch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484200" y="3218687"/>
            <a:ext cx="98948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674588" y="3218687"/>
            <a:ext cx="403569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副調整室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1160453" y="3177539"/>
            <a:ext cx="548640" cy="182880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稼働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011320" y="3319271"/>
            <a:ext cx="2436967" cy="1005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075328" y="3319271"/>
            <a:ext cx="479724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PXW-FX9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646492" y="3319271"/>
            <a:ext cx="746267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シネマカメラ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484200" y="3319271"/>
            <a:ext cx="98948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674588" y="3319271"/>
            <a:ext cx="403569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貸出中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1160453" y="3278123"/>
            <a:ext cx="548640" cy="1828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貸出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011320" y="3419855"/>
            <a:ext cx="2436967" cy="1005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075328" y="3419855"/>
            <a:ext cx="479724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1F2A37"/>
                </a:solidFill>
                <a:latin typeface="Arial"/>
                <a:ea typeface="Arial"/>
              </a:rPr>
              <a:t>HDC-3500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646492" y="3419855"/>
            <a:ext cx="746267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システムカメラ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484200" y="3419855"/>
            <a:ext cx="98948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674588" y="3419855"/>
            <a:ext cx="403569" cy="1005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1F2A37"/>
                </a:solidFill>
                <a:latin typeface="Noto Sans JP"/>
                <a:ea typeface="Noto Sans JP"/>
              </a:rPr>
              <a:t>Aスタジオ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1160453" y="3378707"/>
            <a:ext cx="548640" cy="182880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  <a:ea typeface="Noto Sans JP"/>
              </a:rPr>
              <a:t>稼働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247887" y="3712463"/>
            <a:ext cx="3236976" cy="256032"/>
          </a:xfrm>
          <a:prstGeom prst="roundRect">
            <a:avLst>
              <a:gd name="adj" fmla="val 8000"/>
            </a:avLst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59E0B"/>
                </a:solidFill>
                <a:latin typeface="Noto Sans JP"/>
                <a:ea typeface="Noto Sans JP"/>
              </a:rPr>
              <a:t>機材管理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713232" y="4041648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713232" y="4041648"/>
            <a:ext cx="3456432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13232" y="4261104"/>
            <a:ext cx="3456432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41248" y="4146804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05840" y="4146804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170432" y="4146804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1426464" y="4105656"/>
            <a:ext cx="2542032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554480" y="4110228"/>
            <a:ext cx="23591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techsheet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13232" y="4352544"/>
            <a:ext cx="708568" cy="16824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>
            <a:off x="1421800" y="4352544"/>
            <a:ext cx="0" cy="1682496"/>
          </a:xfrm>
          <a:prstGeom prst="line">
            <a:avLst/>
          </a:prstGeom>
          <a:ln w="9525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/>
          <p:cNvSpPr/>
          <p:nvPr/>
        </p:nvSpPr>
        <p:spPr>
          <a:xfrm>
            <a:off x="841248" y="4480559"/>
            <a:ext cx="182880" cy="18288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078992" y="4471416"/>
            <a:ext cx="4342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F2A37"/>
                </a:solidFill>
                <a:latin typeface="Arial"/>
                <a:ea typeface="Arial"/>
              </a:rPr>
              <a:t>ONAiR</a:t>
            </a:r>
          </a:p>
        </p:txBody>
      </p:sp>
      <p:sp>
        <p:nvSpPr>
          <p:cNvPr id="208" name="Oval 207"/>
          <p:cNvSpPr/>
          <p:nvPr/>
        </p:nvSpPr>
        <p:spPr>
          <a:xfrm>
            <a:off x="859536" y="4901183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24128" y="4855464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資料一覧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786384" y="5120640"/>
            <a:ext cx="562264" cy="237744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59536" y="51937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24128" y="5148072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編集</a:t>
            </a:r>
          </a:p>
        </p:txBody>
      </p:sp>
      <p:sp>
        <p:nvSpPr>
          <p:cNvPr id="213" name="Oval 212"/>
          <p:cNvSpPr/>
          <p:nvPr/>
        </p:nvSpPr>
        <p:spPr>
          <a:xfrm>
            <a:off x="859536" y="5486400"/>
            <a:ext cx="91440" cy="91440"/>
          </a:xfrm>
          <a:prstGeom prst="ellipse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24128" y="5440680"/>
            <a:ext cx="39767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B6672"/>
                </a:solidFill>
                <a:latin typeface="Noto Sans JP"/>
                <a:ea typeface="Noto Sans JP"/>
              </a:rPr>
              <a:t>印刷プレビュー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586392" y="4480559"/>
            <a:ext cx="243696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Noto Sans JP"/>
                <a:ea typeface="Noto Sans JP"/>
              </a:rPr>
              <a:t>技術仕様書 ｜ GLS-A012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1586392" y="48097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ヘッダー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2482504" y="48097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JP"/>
                <a:ea typeface="Noto Sans JP"/>
              </a:rPr>
              <a:t>カメラ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3378616" y="48097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映像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274728" y="48097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音声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170840" y="48097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7C5CD6"/>
                </a:solidFill>
                <a:latin typeface="Noto Sans JP"/>
                <a:ea typeface="Noto Sans JP"/>
              </a:rPr>
              <a:t>通信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586392" y="5221224"/>
            <a:ext cx="112704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カメラ台数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586392" y="5385816"/>
            <a:ext cx="1127043" cy="-76200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677832" y="5385816"/>
            <a:ext cx="944163" cy="-76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8 台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896316" y="5221224"/>
            <a:ext cx="112704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カメラ機種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2896316" y="5385816"/>
            <a:ext cx="1127043" cy="-76200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987756" y="5385816"/>
            <a:ext cx="944163" cy="-76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HDC-3500 / PXW-FX9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586392" y="5437632"/>
            <a:ext cx="112704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レンズ構成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586392" y="5602223"/>
            <a:ext cx="1127043" cy="-76200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677832" y="5602223"/>
            <a:ext cx="944163" cy="-76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ズーム ×4, 単焦点 ×2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896316" y="5437632"/>
            <a:ext cx="112704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出力フォーマット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2896316" y="5602223"/>
            <a:ext cx="1127043" cy="-76200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987756" y="5602223"/>
            <a:ext cx="944163" cy="-76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1080/59.94p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586392" y="5654040"/>
            <a:ext cx="112704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ケーブル長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586392" y="5818632"/>
            <a:ext cx="1127043" cy="-76200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677832" y="5818632"/>
            <a:ext cx="944163" cy="-76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30m / 50m 光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896316" y="5654040"/>
            <a:ext cx="112704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C5CD6"/>
                </a:solidFill>
                <a:latin typeface="Noto Sans JP"/>
                <a:ea typeface="Noto Sans JP"/>
              </a:rPr>
              <a:t>特記事項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2896316" y="5818632"/>
            <a:ext cx="1127043" cy="-76200"/>
          </a:xfrm>
          <a:prstGeom prst="roundRect">
            <a:avLst>
              <a:gd name="adj" fmla="val 8000"/>
            </a:avLst>
          </a:prstGeom>
          <a:solidFill>
            <a:srgbClr val="FBFAFE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987756" y="5818632"/>
            <a:ext cx="944163" cy="-76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1F2A37"/>
                </a:solidFill>
                <a:latin typeface="Noto Sans JP"/>
                <a:ea typeface="Noto Sans JP"/>
              </a:rPr>
              <a:t>中継車との連携あり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822960" y="6089903"/>
            <a:ext cx="3236976" cy="256032"/>
          </a:xfrm>
          <a:prstGeom prst="roundRect">
            <a:avLst>
              <a:gd name="adj" fmla="val 8000"/>
            </a:avLst>
          </a:prstGeom>
          <a:solidFill>
            <a:srgbClr val="EA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7C5CD6"/>
                </a:solidFill>
                <a:latin typeface="Noto Sans JP"/>
                <a:ea typeface="Noto Sans JP"/>
              </a:rPr>
              <a:t>技術資料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4425696" y="4041648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4425696" y="4041648"/>
            <a:ext cx="3456432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425696" y="4261104"/>
            <a:ext cx="3456432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4553712" y="4146804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718303" y="4146804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882896" y="4146804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5138928" y="4105656"/>
            <a:ext cx="2542032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5266944" y="4110228"/>
            <a:ext cx="23591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live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425696" y="4352544"/>
            <a:ext cx="3456432" cy="1682496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4608576" y="4498848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ED7E2"/>
                </a:solidFill>
                <a:latin typeface="Noto Sans JP"/>
                <a:ea typeface="Noto Sans JP"/>
              </a:rPr>
              <a:t>本番進行 ｜ 年間表彰式 2026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876288" y="4480559"/>
            <a:ext cx="868680" cy="256032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  <a:ea typeface="Noto Sans JP"/>
              </a:rPr>
              <a:t>● LIVE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4608576" y="4855464"/>
            <a:ext cx="2142987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48" b="1">
                <a:solidFill>
                  <a:srgbClr val="FFFFFF"/>
                </a:solidFill>
                <a:latin typeface="Arial"/>
                <a:ea typeface="Arial"/>
              </a:rPr>
              <a:t>01:24:36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654296" y="5532120"/>
            <a:ext cx="20738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9FADBD"/>
                </a:solidFill>
                <a:latin typeface="Noto Sans JP"/>
                <a:ea typeface="Noto Sans JP"/>
              </a:rPr>
              <a:t>経過時間 ・ 次の転換まで 03:12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6569781" y="4809744"/>
            <a:ext cx="496153" cy="475488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652077" y="4864607"/>
            <a:ext cx="40471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視聴者数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652077" y="5010912"/>
            <a:ext cx="40471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1">
                <a:solidFill>
                  <a:srgbClr val="2EA06B"/>
                </a:solidFill>
                <a:latin typeface="Arial"/>
                <a:ea typeface="Arial"/>
              </a:rPr>
              <a:t>12,480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7157374" y="4809744"/>
            <a:ext cx="496153" cy="475488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7239670" y="4864607"/>
            <a:ext cx="40471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Zoom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7239670" y="5010912"/>
            <a:ext cx="40471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1">
                <a:solidFill>
                  <a:srgbClr val="4A9DE0"/>
                </a:solidFill>
                <a:latin typeface="Arial"/>
                <a:ea typeface="Arial"/>
              </a:rPr>
              <a:t>3,210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6569781" y="5468112"/>
            <a:ext cx="496153" cy="475488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652077" y="5522975"/>
            <a:ext cx="40471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YouTube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652077" y="5669279"/>
            <a:ext cx="40471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1">
                <a:solidFill>
                  <a:srgbClr val="D94B4B"/>
                </a:solidFill>
                <a:latin typeface="Arial"/>
                <a:ea typeface="Arial"/>
              </a:rPr>
              <a:t>8,940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7157374" y="5468112"/>
            <a:ext cx="496153" cy="475488"/>
          </a:xfrm>
          <a:prstGeom prst="roundRect">
            <a:avLst>
              <a:gd name="adj" fmla="val 8000"/>
            </a:avLst>
          </a:prstGeom>
          <a:solidFill>
            <a:srgbClr val="1B2432"/>
          </a:solidFill>
          <a:ln w="9525">
            <a:solidFill>
              <a:srgbClr val="2C3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239670" y="5522975"/>
            <a:ext cx="404713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>
                <a:solidFill>
                  <a:srgbClr val="9FADBD"/>
                </a:solidFill>
                <a:latin typeface="Noto Sans JP"/>
                <a:ea typeface="Noto Sans JP"/>
              </a:rPr>
              <a:t>Teams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239670" y="5669279"/>
            <a:ext cx="40471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1">
                <a:solidFill>
                  <a:srgbClr val="7C5CD6"/>
                </a:solidFill>
                <a:latin typeface="Arial"/>
                <a:ea typeface="Arial"/>
              </a:rPr>
              <a:t>330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4535424" y="6089903"/>
            <a:ext cx="3236976" cy="256032"/>
          </a:xfrm>
          <a:prstGeom prst="roundRect">
            <a:avLst>
              <a:gd name="adj" fmla="val 8000"/>
            </a:avLst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A06B"/>
                </a:solidFill>
                <a:latin typeface="Noto Sans JP"/>
                <a:ea typeface="Noto Sans JP"/>
              </a:rPr>
              <a:t>ライブ運用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8138159" y="4041648"/>
            <a:ext cx="34564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8138159" y="4041648"/>
            <a:ext cx="3456432" cy="310896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138159" y="4261104"/>
            <a:ext cx="3456432" cy="1097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8266175" y="4146804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8430767" y="4146804"/>
            <a:ext cx="100584" cy="100584"/>
          </a:xfrm>
          <a:prstGeom prst="ellipse">
            <a:avLst/>
          </a:prstGeom>
          <a:solidFill>
            <a:srgbClr val="F6C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8595359" y="4146804"/>
            <a:ext cx="100584" cy="100584"/>
          </a:xfrm>
          <a:prstGeom prst="ellipse">
            <a:avLst/>
          </a:prstGeom>
          <a:solidFill>
            <a:srgbClr val="66C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8851391" y="4105656"/>
            <a:ext cx="2542032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979407" y="4110228"/>
            <a:ext cx="23591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2"/>
                </a:solidFill>
                <a:latin typeface="Arial"/>
                <a:ea typeface="Arial"/>
              </a:rPr>
              <a:t>🔒  output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138159" y="4352544"/>
            <a:ext cx="3456432" cy="1682496"/>
          </a:xfrm>
          <a:prstGeom prst="rect">
            <a:avLst/>
          </a:prstGeom>
          <a:solidFill>
            <a:srgbClr val="0A0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071396" y="4407407"/>
            <a:ext cx="1589958" cy="1043147"/>
          </a:xfrm>
          <a:prstGeom prst="ellipse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8138159" y="4672583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7C96B"/>
                </a:solidFill>
                <a:latin typeface="Arial"/>
                <a:ea typeface="Arial"/>
              </a:rPr>
              <a:t>— THE WINNER —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8951976" y="4992624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141824"/>
          </a:solidFill>
          <a:ln w="1905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9573767" y="5102352"/>
            <a:ext cx="548640" cy="548640"/>
          </a:xfrm>
          <a:prstGeom prst="ellipse">
            <a:avLst/>
          </a:prstGeom>
          <a:solidFill>
            <a:srgbClr val="2A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043415" y="565099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Noto Sans JP"/>
                <a:ea typeface="Noto Sans JP"/>
              </a:rPr>
              <a:t>グローバルスタジオ賞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8366759" y="5321807"/>
            <a:ext cx="2999232" cy="548640"/>
          </a:xfrm>
          <a:prstGeom prst="rect">
            <a:avLst/>
          </a:prstGeom>
          <a:solidFill>
            <a:srgbClr val="10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366759" y="5321807"/>
            <a:ext cx="64008" cy="5486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8503919" y="5394959"/>
            <a:ext cx="402336" cy="402336"/>
          </a:xfrm>
          <a:prstGeom prst="ellipse">
            <a:avLst/>
          </a:prstGeom>
          <a:solidFill>
            <a:srgbClr val="2A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006839" y="5394959"/>
            <a:ext cx="226771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田中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006839" y="5632703"/>
            <a:ext cx="226771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C9A961"/>
                </a:solidFill>
                <a:latin typeface="Noto Sans JP"/>
                <a:ea typeface="Noto Sans JP"/>
              </a:rPr>
              <a:t>GMOグローバルスタジオ</a:t>
            </a:r>
            <a:r>
              <a:rPr sz="700" b="0">
                <a:solidFill>
                  <a:srgbClr val="ADB7C4"/>
                </a:solidFill>
                <a:latin typeface="Noto Sans JP"/>
                <a:ea typeface="Noto Sans JP"/>
              </a:rPr>
              <a:t>  ｜  制作部 部長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0040111" y="4855464"/>
            <a:ext cx="1152144" cy="118872"/>
          </a:xfrm>
          <a:prstGeom prst="rect">
            <a:avLst/>
          </a:prstGeom>
          <a:solidFill>
            <a:srgbClr val="E7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040111" y="5038344"/>
            <a:ext cx="768096" cy="118872"/>
          </a:xfrm>
          <a:prstGeom prst="rect">
            <a:avLst/>
          </a:prstGeom>
          <a:solidFill>
            <a:srgbClr val="4A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040111" y="5221224"/>
            <a:ext cx="512063" cy="118872"/>
          </a:xfrm>
          <a:prstGeom prst="rect">
            <a:avLst/>
          </a:prstGeom>
          <a:solidFill>
            <a:srgbClr val="C4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8247887" y="6089903"/>
            <a:ext cx="3236976" cy="256032"/>
          </a:xfrm>
          <a:prstGeom prst="roundRect">
            <a:avLst>
              <a:gd name="adj" fmla="val 8000"/>
            </a:avLst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D94B4B"/>
                </a:solidFill>
                <a:latin typeface="Noto Sans JP"/>
                <a:ea typeface="Noto Sans JP"/>
              </a:rPr>
              <a:t>リアルタイムCG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HOW IT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GLS番号 — すべてのデータを束ねる“背番号”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5038344" y="2834640"/>
            <a:ext cx="2103120" cy="2103120"/>
          </a:xfrm>
          <a:prstGeom prst="ellipse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48656" y="3044952"/>
            <a:ext cx="1682496" cy="1682496"/>
          </a:xfrm>
          <a:prstGeom prst="ellipse">
            <a:avLst/>
          </a:prstGeom>
          <a:solidFill>
            <a:srgbClr val="005BAC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GLS-A001
案件の背番号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89904" y="1802282"/>
            <a:ext cx="0" cy="2083918"/>
          </a:xfrm>
          <a:prstGeom prst="line">
            <a:avLst/>
          </a:prstGeom>
          <a:ln w="279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89904" y="2844241"/>
            <a:ext cx="2098518" cy="1041959"/>
          </a:xfrm>
          <a:prstGeom prst="line">
            <a:avLst/>
          </a:prstGeom>
          <a:ln w="279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3886200"/>
            <a:ext cx="2098518" cy="1041958"/>
          </a:xfrm>
          <a:prstGeom prst="line">
            <a:avLst/>
          </a:prstGeom>
          <a:ln w="279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9904" y="3886200"/>
            <a:ext cx="0" cy="2083917"/>
          </a:xfrm>
          <a:prstGeom prst="line">
            <a:avLst/>
          </a:prstGeom>
          <a:ln w="279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991385" y="3886200"/>
            <a:ext cx="2098519" cy="1041958"/>
          </a:xfrm>
          <a:prstGeom prst="line">
            <a:avLst/>
          </a:prstGeom>
          <a:ln w="279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991385" y="2844241"/>
            <a:ext cx="2098519" cy="1041959"/>
          </a:xfrm>
          <a:prstGeom prst="line">
            <a:avLst/>
          </a:prstGeom>
          <a:ln w="279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21224" y="1418234"/>
            <a:ext cx="173736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05BAC"/>
                </a:solidFill>
                <a:latin typeface="Noto Sans JP"/>
                <a:ea typeface="Noto Sans JP"/>
              </a:rPr>
              <a:t>案件管理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9742" y="2460193"/>
            <a:ext cx="173736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69BA0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69BA0"/>
                </a:solidFill>
                <a:latin typeface="Noto Sans JP"/>
                <a:ea typeface="Noto Sans JP"/>
              </a:rPr>
              <a:t>Qシート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9742" y="4544110"/>
            <a:ext cx="173736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59E0B"/>
                </a:solidFill>
                <a:latin typeface="Noto Sans JP"/>
                <a:ea typeface="Noto Sans JP"/>
              </a:rPr>
              <a:t>機材管理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21224" y="5586069"/>
            <a:ext cx="173736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5CD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7C5CD6"/>
                </a:solidFill>
                <a:latin typeface="Noto Sans JP"/>
                <a:ea typeface="Noto Sans JP"/>
              </a:rPr>
              <a:t>技術資料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2705" y="4544110"/>
            <a:ext cx="173736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A06B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EA06B"/>
                </a:solidFill>
                <a:latin typeface="Noto Sans JP"/>
                <a:ea typeface="Noto Sans JP"/>
              </a:rPr>
              <a:t>ライブ運用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2705" y="2460193"/>
            <a:ext cx="173736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94B4B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D94B4B"/>
                </a:solidFill>
                <a:latin typeface="Noto Sans JP"/>
                <a:ea typeface="Noto Sans JP"/>
              </a:rPr>
              <a:t>リアルタイムCG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989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Noto Sans JP"/>
                <a:ea typeface="Noto Sans JP"/>
              </a:rPr>
              <a:t>受注時に1つの </a:t>
            </a:r>
            <a:r>
              <a:rPr sz="1250" b="1">
                <a:solidFill>
                  <a:srgbClr val="005BAC"/>
                </a:solidFill>
                <a:latin typeface="Noto Sans JP"/>
                <a:ea typeface="Noto Sans JP"/>
              </a:rPr>
              <a:t>GLS番号</a:t>
            </a:r>
            <a:r>
              <a:rPr sz="1250" b="0">
                <a:solidFill>
                  <a:srgbClr val="1F2A37"/>
                </a:solidFill>
                <a:latin typeface="Noto Sans JP"/>
                <a:ea typeface="Noto Sans JP"/>
              </a:rPr>
              <a:t> を発番すると、見積・Qシート・機材・技術資料・本番・CGがすべて同じ案件として自動的に紐づきます。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案件のライフサイクルを1本の線でカバー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13</a:t>
            </a:r>
          </a:p>
        </p:txBody>
      </p:sp>
      <p:sp>
        <p:nvSpPr>
          <p:cNvPr id="8" name="Pentagon 7"/>
          <p:cNvSpPr/>
          <p:nvPr/>
        </p:nvSpPr>
        <p:spPr>
          <a:xfrm>
            <a:off x="777240" y="2286000"/>
            <a:ext cx="2221992" cy="1920240"/>
          </a:xfrm>
          <a:prstGeom prst="homePlate">
            <a:avLst>
              <a:gd name="adj" fmla="val 45000"/>
            </a:avLst>
          </a:prstGeom>
          <a:solidFill>
            <a:srgbClr val="005BAC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①提案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27248"/>
            <a:ext cx="194767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ヨミ・見積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70831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Noto Sans JP"/>
                <a:ea typeface="Noto Sans JP"/>
              </a:rPr>
              <a:t>案件管理</a:t>
            </a:r>
          </a:p>
        </p:txBody>
      </p:sp>
      <p:sp>
        <p:nvSpPr>
          <p:cNvPr id="12" name="Pentagon 11"/>
          <p:cNvSpPr/>
          <p:nvPr/>
        </p:nvSpPr>
        <p:spPr>
          <a:xfrm>
            <a:off x="2971800" y="2286000"/>
            <a:ext cx="2221992" cy="1920240"/>
          </a:xfrm>
          <a:prstGeom prst="homePlate">
            <a:avLst>
              <a:gd name="adj" fmla="val 45000"/>
            </a:avLst>
          </a:prstGeom>
          <a:solidFill>
            <a:srgbClr val="4A9DE0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56032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②受注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3127248"/>
            <a:ext cx="194767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GLS発番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370831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A9DE0"/>
                </a:solidFill>
                <a:latin typeface="Noto Sans JP"/>
                <a:ea typeface="Noto Sans JP"/>
              </a:rPr>
              <a:t>案件管理</a:t>
            </a:r>
          </a:p>
        </p:txBody>
      </p:sp>
      <p:sp>
        <p:nvSpPr>
          <p:cNvPr id="16" name="Pentagon 15"/>
          <p:cNvSpPr/>
          <p:nvPr/>
        </p:nvSpPr>
        <p:spPr>
          <a:xfrm>
            <a:off x="5166360" y="2286000"/>
            <a:ext cx="2221992" cy="1920240"/>
          </a:xfrm>
          <a:prstGeom prst="homePlate">
            <a:avLst>
              <a:gd name="adj" fmla="val 45000"/>
            </a:avLst>
          </a:prstGeom>
          <a:solidFill>
            <a:srgbClr val="169BA0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56032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③制作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127248"/>
            <a:ext cx="194767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台本・機材・技術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370831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9BA0"/>
                </a:solidFill>
                <a:latin typeface="Noto Sans JP"/>
                <a:ea typeface="Noto Sans JP"/>
              </a:rPr>
              <a:t>Qシート / 機材 / 技術</a:t>
            </a:r>
          </a:p>
        </p:txBody>
      </p:sp>
      <p:sp>
        <p:nvSpPr>
          <p:cNvPr id="20" name="Pentagon 19"/>
          <p:cNvSpPr/>
          <p:nvPr/>
        </p:nvSpPr>
        <p:spPr>
          <a:xfrm>
            <a:off x="7360920" y="2286000"/>
            <a:ext cx="2221992" cy="1920240"/>
          </a:xfrm>
          <a:prstGeom prst="homePlate">
            <a:avLst>
              <a:gd name="adj" fmla="val 45000"/>
            </a:avLst>
          </a:prstGeom>
          <a:solidFill>
            <a:srgbClr val="2EA06B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56032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④本番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3127248"/>
            <a:ext cx="194767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進行・CG送出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70831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A06B"/>
                </a:solidFill>
                <a:latin typeface="Noto Sans JP"/>
                <a:ea typeface="Noto Sans JP"/>
              </a:rPr>
              <a:t>ライブ / CG</a:t>
            </a:r>
          </a:p>
        </p:txBody>
      </p:sp>
      <p:sp>
        <p:nvSpPr>
          <p:cNvPr id="24" name="Pentagon 23"/>
          <p:cNvSpPr/>
          <p:nvPr/>
        </p:nvSpPr>
        <p:spPr>
          <a:xfrm>
            <a:off x="9555480" y="2286000"/>
            <a:ext cx="2221992" cy="1920240"/>
          </a:xfrm>
          <a:prstGeom prst="homePlate">
            <a:avLst>
              <a:gd name="adj" fmla="val 45000"/>
            </a:avLst>
          </a:prstGeom>
          <a:solidFill>
            <a:srgbClr val="F59E0B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256032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⑤請求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8" y="3127248"/>
            <a:ext cx="194767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売上・損益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370831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59E0B"/>
                </a:solidFill>
                <a:latin typeface="Noto Sans JP"/>
                <a:ea typeface="Noto Sans JP"/>
              </a:rPr>
              <a:t>案件管理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074920"/>
            <a:ext cx="10771632" cy="4572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10771632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Noto Sans JP"/>
                <a:ea typeface="Noto Sans JP"/>
              </a:rPr>
              <a:t>ひとつのGLS番号でデータが流れ続ける — 転記ゼロ・抜け漏れゼロ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技術構成 — モダンで堅牢、運用は軽量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070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146304" cy="1060704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1856232"/>
            <a:ext cx="731520" cy="731520"/>
          </a:xfrm>
          <a:prstGeom prst="ellipse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1161288" y="2337206"/>
            <a:ext cx="512063" cy="140817"/>
          </a:xfrm>
          <a:prstGeom prst="parallelogram">
            <a:avLst>
              <a:gd name="adj" fmla="val 30000"/>
            </a:avLst>
          </a:prstGeom>
          <a:solidFill>
            <a:srgbClr val="005BA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1161288" y="2234793"/>
            <a:ext cx="512063" cy="140817"/>
          </a:xfrm>
          <a:prstGeom prst="parallelogram">
            <a:avLst>
              <a:gd name="adj" fmla="val 30000"/>
            </a:avLst>
          </a:prstGeom>
          <a:solidFill>
            <a:srgbClr val="4A9DE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1161288" y="2132380"/>
            <a:ext cx="512063" cy="140817"/>
          </a:xfrm>
          <a:prstGeom prst="parallelogram">
            <a:avLst>
              <a:gd name="adj" fmla="val 30000"/>
            </a:avLst>
          </a:prstGeom>
          <a:solidFill>
            <a:srgbClr val="E3EFF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18562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Noto Sans JP"/>
                <a:ea typeface="Noto Sans JP"/>
              </a:rPr>
              <a:t>画面（フロント）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22585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Arial"/>
                <a:ea typeface="Arial"/>
              </a:rPr>
              <a:t>React 19 + Vite + TailwindCSS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0" y="1892808"/>
            <a:ext cx="0" cy="658367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66560" y="1856232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B6672"/>
                </a:solidFill>
                <a:latin typeface="Noto Sans JP"/>
                <a:ea typeface="Noto Sans JP"/>
              </a:rPr>
              <a:t>スマホ対応・高速・統一デザイン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62072"/>
            <a:ext cx="106070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862072"/>
            <a:ext cx="146304" cy="1060704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3026664"/>
            <a:ext cx="731520" cy="731520"/>
          </a:xfrm>
          <a:prstGeom prst="ellipse">
            <a:avLst/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25296" y="3315614"/>
            <a:ext cx="192024" cy="153619"/>
          </a:xfrm>
          <a:prstGeom prst="ellipse">
            <a:avLst/>
          </a:prstGeom>
          <a:noFill/>
          <a:ln w="50800">
            <a:solidFill>
              <a:srgbClr val="169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17320" y="3315614"/>
            <a:ext cx="192024" cy="153619"/>
          </a:xfrm>
          <a:prstGeom prst="ellipse">
            <a:avLst/>
          </a:prstGeom>
          <a:noFill/>
          <a:ln w="50800">
            <a:solidFill>
              <a:srgbClr val="169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302666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Noto Sans JP"/>
                <a:ea typeface="Noto Sans JP"/>
              </a:rPr>
              <a:t>サーバー（API）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3429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9BA0"/>
                </a:solidFill>
                <a:latin typeface="Arial"/>
                <a:ea typeface="Arial"/>
              </a:rPr>
              <a:t>Express + Socket.IO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92240" y="3063240"/>
            <a:ext cx="0" cy="658368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66560" y="3026664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B6672"/>
                </a:solidFill>
                <a:latin typeface="Noto Sans JP"/>
                <a:ea typeface="Noto Sans JP"/>
              </a:rPr>
              <a:t>リアルタイム同期・共通API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032504"/>
            <a:ext cx="106070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32504"/>
            <a:ext cx="146304" cy="10607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4197096"/>
            <a:ext cx="731520" cy="731520"/>
          </a:xfrm>
          <a:prstGeom prst="ellipse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ear 9 29"/>
          <p:cNvSpPr/>
          <p:nvPr/>
        </p:nvSpPr>
        <p:spPr>
          <a:xfrm>
            <a:off x="1148486" y="4294022"/>
            <a:ext cx="537667" cy="537667"/>
          </a:xfrm>
          <a:prstGeom prst="gear9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7708" y="4473244"/>
            <a:ext cx="179222" cy="17922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41970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Noto Sans JP"/>
                <a:ea typeface="Noto Sans JP"/>
              </a:rPr>
              <a:t>データベース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45994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59E0B"/>
                </a:solidFill>
                <a:latin typeface="Arial"/>
                <a:ea typeface="Arial"/>
              </a:rPr>
              <a:t>PostgreSQL（単一DB）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92240" y="4233672"/>
            <a:ext cx="0" cy="658368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6560" y="4197096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B6672"/>
                </a:solidFill>
                <a:latin typeface="Noto Sans JP"/>
                <a:ea typeface="Noto Sans JP"/>
              </a:rPr>
              <a:t>本番/検証をDB名で安全に分離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202936"/>
            <a:ext cx="106070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5202936"/>
            <a:ext cx="146304" cy="1060704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" y="5367527"/>
            <a:ext cx="731520" cy="731520"/>
          </a:xfrm>
          <a:prstGeom prst="ellipse">
            <a:avLst/>
          </a:prstGeom>
          <a:solidFill>
            <a:srgbClr val="EA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entagon 38"/>
          <p:cNvSpPr/>
          <p:nvPr/>
        </p:nvSpPr>
        <p:spPr>
          <a:xfrm>
            <a:off x="1199692" y="5477255"/>
            <a:ext cx="435254" cy="512063"/>
          </a:xfrm>
          <a:prstGeom prst="homePlat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entagon 39"/>
          <p:cNvSpPr/>
          <p:nvPr/>
        </p:nvSpPr>
        <p:spPr>
          <a:xfrm>
            <a:off x="1199692" y="5477255"/>
            <a:ext cx="435254" cy="512063"/>
          </a:xfrm>
          <a:prstGeom prst="homePlat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27708" y="5630875"/>
            <a:ext cx="179222" cy="17922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536752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Noto Sans JP"/>
                <a:ea typeface="Noto Sans JP"/>
              </a:rPr>
              <a:t>インフラ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576986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7C5CD6"/>
                </a:solidFill>
                <a:latin typeface="Arial"/>
                <a:ea typeface="Arial"/>
              </a:rPr>
              <a:t>Docker + Nginx（CoNoHa VPS）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92240" y="5404103"/>
            <a:ext cx="0" cy="658369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66560" y="5367527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B6672"/>
                </a:solidFill>
                <a:latin typeface="Noto Sans JP"/>
                <a:ea typeface="Noto Sans JP"/>
              </a:rPr>
              <a:t>自動デプロイ・3時間ごと自動バックアップ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CONCLUSION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もし Claude を使わなかったら？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81328"/>
            <a:ext cx="146304" cy="914400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94B4B"/>
                </a:solidFill>
                <a:latin typeface="Noto Sans JP"/>
                <a:ea typeface="Noto Sans JP"/>
              </a:rPr>
              <a:t>従来型開発なら　</a:t>
            </a: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エンジニア 5〜7名 × 約12か月 ／ 費用 およそ 6,000万〜1億円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05456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05456"/>
            <a:ext cx="146304" cy="91440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96896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A06B"/>
                </a:solidFill>
                <a:latin typeface="Noto Sans JP"/>
                <a:ea typeface="Noto Sans JP"/>
              </a:rPr>
              <a:t>実際（Claude活用）　</a:t>
            </a: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ほぼ 1名 の指揮 × 対話 ／ 外注費 ほぼ0円・数週間で土台→以後も毎日進化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61188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期間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86200"/>
            <a:ext cx="2606040" cy="1097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94B4B"/>
                </a:solidFill>
                <a:latin typeface="Noto Sans JP"/>
                <a:ea typeface="Noto Sans JP"/>
              </a:rPr>
              <a:t>従来 </a:t>
            </a: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約 12 か月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" y="4544568"/>
            <a:ext cx="187452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6968" y="4617720"/>
            <a:ext cx="238658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A06B"/>
                </a:solidFill>
                <a:latin typeface="Noto Sans JP"/>
                <a:ea typeface="Noto Sans JP"/>
              </a:rPr>
              <a:t>Claude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A06B"/>
                </a:solidFill>
                <a:latin typeface="Noto Sans JP"/>
                <a:ea typeface="Noto Sans JP"/>
              </a:rPr>
              <a:t>数週間で土台
以後も毎日改善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6118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11880" y="361188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人数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3886200"/>
            <a:ext cx="2606040" cy="109728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40873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94B4B"/>
                </a:solidFill>
                <a:latin typeface="Noto Sans JP"/>
                <a:ea typeface="Noto Sans JP"/>
              </a:rPr>
              <a:t>従来 </a:t>
            </a: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5〜7 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77640" y="4544568"/>
            <a:ext cx="187452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21608" y="4617720"/>
            <a:ext cx="238658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A06B"/>
                </a:solidFill>
                <a:latin typeface="Noto Sans JP"/>
                <a:ea typeface="Noto Sans JP"/>
              </a:rPr>
              <a:t>Claude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A06B"/>
                </a:solidFill>
                <a:latin typeface="Noto Sans JP"/>
                <a:ea typeface="Noto Sans JP"/>
              </a:rPr>
              <a:t>1 名（社内）
＋ Claude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6118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361188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費用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886200"/>
            <a:ext cx="260604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873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94B4B"/>
                </a:solidFill>
                <a:latin typeface="Noto Sans JP"/>
                <a:ea typeface="Noto Sans JP"/>
              </a:rPr>
              <a:t>従来 </a:t>
            </a: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6,000万〜1億円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12280" y="4544568"/>
            <a:ext cx="187452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56248" y="4617720"/>
            <a:ext cx="238658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A06B"/>
                </a:solidFill>
                <a:latin typeface="Noto Sans JP"/>
                <a:ea typeface="Noto Sans JP"/>
              </a:rPr>
              <a:t>Claude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A06B"/>
                </a:solidFill>
                <a:latin typeface="Noto Sans JP"/>
                <a:ea typeface="Noto Sans JP"/>
              </a:rPr>
              <a:t>ほぼ 0 円
(AI+VPS 月数万円)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36118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81160" y="361188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速さ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886200"/>
            <a:ext cx="2606040" cy="109728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0873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94B4B"/>
                </a:solidFill>
                <a:latin typeface="Noto Sans JP"/>
                <a:ea typeface="Noto Sans JP"/>
              </a:rPr>
              <a:t>従来 </a:t>
            </a:r>
            <a:r>
              <a:rPr sz="1250" b="1">
                <a:solidFill>
                  <a:srgbClr val="1F2A37"/>
                </a:solidFill>
                <a:latin typeface="Noto Sans JP"/>
                <a:ea typeface="Noto Sans JP"/>
              </a:rPr>
              <a:t>仕様確定に数週間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46920" y="4544568"/>
            <a:ext cx="187452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90888" y="4617720"/>
            <a:ext cx="238658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A06B"/>
                </a:solidFill>
                <a:latin typeface="Noto Sans JP"/>
                <a:ea typeface="Noto Sans JP"/>
              </a:rPr>
              <a:t>Claude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A06B"/>
                </a:solidFill>
                <a:latin typeface="Noto Sans JP"/>
                <a:ea typeface="Noto Sans JP"/>
              </a:rPr>
              <a:t>言ったその日に
動くものが出る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A939E"/>
                </a:solidFill>
                <a:latin typeface="Noto Sans JP"/>
                <a:ea typeface="Noto Sans JP"/>
              </a:rPr>
              <a:t>※ 推計の前提：本体規模 約97,000行・6アプリ＋サーバー・DB世代99・リアルタイム/放送CG/財務/PDF/Excel/BOX連携/2FA/自動デプロイを含む。人月単価100万円・受託相場で試算。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開発プロセスの実際 — 積み上げの記録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27632"/>
            <a:ext cx="128016" cy="14813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901952"/>
            <a:ext cx="566928" cy="566928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65376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Noto Sans JP"/>
                <a:ea typeface="Noto Sans JP"/>
              </a:rPr>
              <a:t>基盤づくり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340864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PostgreSQL化・Docker/Nginx・VPSデプロイ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27632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1627632"/>
            <a:ext cx="128016" cy="1481328"/>
          </a:xfrm>
          <a:prstGeom prst="rect">
            <a:avLst/>
          </a:prstGeom>
          <a:solidFill>
            <a:srgbClr val="4A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18304" y="1901952"/>
            <a:ext cx="566928" cy="566928"/>
          </a:xfrm>
          <a:prstGeom prst="ellipse">
            <a:avLst/>
          </a:prstGeom>
          <a:solidFill>
            <a:srgbClr val="4A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1865376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Noto Sans JP"/>
                <a:ea typeface="Noto Sans JP"/>
              </a:rPr>
              <a:t>3アプリ並走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340864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案件管理＋Qシート＋演出を同居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627632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1627632"/>
            <a:ext cx="128016" cy="1481328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30767" y="1901952"/>
            <a:ext cx="566928" cy="566928"/>
          </a:xfrm>
          <a:prstGeom prst="ellipse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1865376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Noto Sans JP"/>
                <a:ea typeface="Noto Sans JP"/>
              </a:rPr>
              <a:t>サブアプリ統合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340864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機材・技術資料・ライブ運用を統合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383280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383280"/>
            <a:ext cx="128016" cy="1481328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3657600"/>
            <a:ext cx="566928" cy="566928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621024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Noto Sans JP"/>
                <a:ea typeface="Noto Sans JP"/>
              </a:rPr>
              <a:t>デザイン全面刷新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4096512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デジタル庁準拠(DADS)で全アプリ統一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3383280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25696" y="3383280"/>
            <a:ext cx="128016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18304" y="365760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9824" y="3621024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Noto Sans JP"/>
                <a:ea typeface="Noto Sans JP"/>
              </a:rPr>
              <a:t>放送CGの作り込み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8112" y="4096512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下位置CG・表彰CG・投票演出を実装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59" y="3383280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59" y="3383280"/>
            <a:ext cx="128016" cy="1481328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30767" y="3657600"/>
            <a:ext cx="566928" cy="566928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3621024"/>
            <a:ext cx="22677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Noto Sans JP"/>
                <a:ea typeface="Noto Sans JP"/>
              </a:rPr>
              <a:t>外部連携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096512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インタラクティブ⇄CGをリアルタイム連携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440680"/>
            <a:ext cx="10771632" cy="86868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532120"/>
            <a:ext cx="3224783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5BAC"/>
                </a:solidFill>
                <a:latin typeface="Arial"/>
                <a:ea typeface="Arial"/>
              </a:rPr>
              <a:t>337</a:t>
            </a:r>
            <a:r>
              <a:rPr sz="1100" b="1">
                <a:solidFill>
                  <a:srgbClr val="1F2A37"/>
                </a:solidFill>
                <a:latin typeface="Noto Sans JP"/>
                <a:ea typeface="Noto Sans JP"/>
              </a:rPr>
              <a:t>  回のバージョンアップ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672"/>
                </a:solidFill>
                <a:latin typeface="Noto Sans JP"/>
                <a:ea typeface="Noto Sans JP"/>
              </a:rPr>
              <a:t>(v0.2 → v2.9.26)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03775" y="5596128"/>
            <a:ext cx="0" cy="603504"/>
          </a:xfrm>
          <a:prstGeom prst="line">
            <a:avLst/>
          </a:prstGeom>
          <a:ln w="12700">
            <a:solidFill>
              <a:srgbClr val="C2D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8095" y="5532120"/>
            <a:ext cx="3224783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5BAC"/>
                </a:solidFill>
                <a:latin typeface="Arial"/>
                <a:ea typeface="Arial"/>
              </a:rPr>
              <a:t>99</a:t>
            </a:r>
            <a:r>
              <a:rPr sz="1100" b="1">
                <a:solidFill>
                  <a:srgbClr val="1F2A37"/>
                </a:solidFill>
                <a:latin typeface="Noto Sans JP"/>
                <a:ea typeface="Noto Sans JP"/>
              </a:rPr>
              <a:t>  世代のDB設計変更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672"/>
                </a:solidFill>
                <a:latin typeface="Noto Sans JP"/>
                <a:ea typeface="Noto Sans JP"/>
              </a:rPr>
              <a:t>(機能追加の積み重ね)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94320" y="5596128"/>
            <a:ext cx="0" cy="603504"/>
          </a:xfrm>
          <a:prstGeom prst="line">
            <a:avLst/>
          </a:prstGeom>
          <a:ln w="12700">
            <a:solidFill>
              <a:srgbClr val="C2D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68640" y="5532120"/>
            <a:ext cx="3224783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5BAC"/>
                </a:solidFill>
                <a:latin typeface="Arial"/>
                <a:ea typeface="Arial"/>
              </a:rPr>
              <a:t>150+</a:t>
            </a:r>
            <a:r>
              <a:rPr sz="1100" b="1">
                <a:solidFill>
                  <a:srgbClr val="1F2A37"/>
                </a:solidFill>
                <a:latin typeface="Noto Sans JP"/>
                <a:ea typeface="Noto Sans JP"/>
              </a:rPr>
              <a:t>  直近1か月の改善デプロイ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672"/>
                </a:solidFill>
                <a:latin typeface="Noto Sans JP"/>
                <a:ea typeface="Noto Sans JP"/>
              </a:rPr>
              <a:t>(1日 約4〜5回)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DIALOGUE-DRIVEN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対話で作る — チャットがそのまま設計図に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Noto Sans JP"/>
                <a:ea typeface="Noto Sans JP"/>
              </a:rPr>
              <a:t>実際のやり取り（イメージ）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4937760" cy="841248"/>
          </a:xfrm>
          <a:prstGeom prst="roundRect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40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Noto Sans JP"/>
                <a:ea typeface="Noto Sans JP"/>
              </a:rPr>
              <a:t>社長 / 現場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A37"/>
                </a:solidFill>
                <a:latin typeface="Noto Sans JP"/>
                <a:ea typeface="Noto Sans JP"/>
              </a:rPr>
              <a:t>表彰式のランキングCGを作りたい。1位を最後にドンと出したい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044952"/>
            <a:ext cx="4937760" cy="841248"/>
          </a:xfrm>
          <a:prstGeom prst="roundRect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136392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Noto Sans JP"/>
                <a:ea typeface="Noto Sans JP"/>
              </a:rPr>
              <a:t>AI（Claude）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A37"/>
                </a:solidFill>
                <a:latin typeface="Noto Sans JP"/>
                <a:ea typeface="Noto Sans JP"/>
              </a:rPr>
              <a:t>演出ステップと送出UIを実装しました。検証環境でご確認ください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32504"/>
            <a:ext cx="4937760" cy="841248"/>
          </a:xfrm>
          <a:prstGeom prst="roundRect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403250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23944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Noto Sans JP"/>
                <a:ea typeface="Noto Sans JP"/>
              </a:rPr>
              <a:t>社長 / 現場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A37"/>
                </a:solidFill>
                <a:latin typeface="Noto Sans JP"/>
                <a:ea typeface="Noto Sans JP"/>
              </a:rPr>
              <a:t>数字が動いてTAKEで確定する“あの演出”にして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020056"/>
            <a:ext cx="4937760" cy="841248"/>
          </a:xfrm>
          <a:prstGeom prst="roundRect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111496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Noto Sans JP"/>
                <a:ea typeface="Noto Sans JP"/>
              </a:rPr>
              <a:t>AI（Claude）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A37"/>
                </a:solidFill>
                <a:latin typeface="Noto Sans JP"/>
                <a:ea typeface="Noto Sans JP"/>
              </a:rPr>
              <a:t>カウントアップ→確定アニメに変更。複数正解の同期も対応しました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9BA0"/>
                </a:solidFill>
                <a:latin typeface="Noto Sans JP"/>
                <a:ea typeface="Noto Sans JP"/>
              </a:rPr>
              <a:t>生まれるもの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057400"/>
            <a:ext cx="47548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057400"/>
            <a:ext cx="128016" cy="107899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203704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F2A37"/>
                </a:solidFill>
                <a:latin typeface="Noto Sans JP"/>
                <a:ea typeface="Noto Sans JP"/>
              </a:rPr>
              <a:t>動くアプリ機能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6060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言葉で頼んだ演出が実際に放送で使える形に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264408"/>
            <a:ext cx="47548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264408"/>
            <a:ext cx="128016" cy="107899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1071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F2A37"/>
                </a:solidFill>
                <a:latin typeface="Noto Sans JP"/>
                <a:ea typeface="Noto Sans JP"/>
              </a:rPr>
              <a:t>バージョン履歴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81304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v2.8 → v2.9 と小刻みに改善が積み上がる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471416"/>
            <a:ext cx="47548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4471416"/>
            <a:ext cx="128016" cy="107899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61772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F2A37"/>
                </a:solidFill>
                <a:latin typeface="Noto Sans JP"/>
                <a:ea typeface="Noto Sans JP"/>
              </a:rPr>
              <a:t>ドキュメント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502005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Noto Sans JP"/>
                <a:ea typeface="Noto Sans JP"/>
              </a:rPr>
              <a:t>やり取りが仕様書・記録として自動で残る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THE HARD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正直、ここは大変だった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91056"/>
            <a:ext cx="528523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91056"/>
            <a:ext cx="128016" cy="1389888"/>
          </a:xfrm>
          <a:prstGeom prst="rect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1024128" y="1865376"/>
            <a:ext cx="457200" cy="411480"/>
          </a:xfrm>
          <a:prstGeom prst="triangle">
            <a:avLst/>
          </a:prstGeom>
          <a:solidFill>
            <a:srgbClr val="D9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75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773936"/>
            <a:ext cx="4233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放送CGの“なめらかさ”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57984"/>
            <a:ext cx="4187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Noto Sans JP"/>
                <a:ea typeface="Noto Sans JP"/>
              </a:rPr>
              <a:t>アニメのカクつきを何度も作り直し。「After Effectsのような滑らかさを」の一言から数十回の調整 → 最終的に GPU で動く方式(FLIP)に到達。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591056"/>
            <a:ext cx="528523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591056"/>
            <a:ext cx="128016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6565392" y="1865376"/>
            <a:ext cx="457200" cy="41148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975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1773936"/>
            <a:ext cx="4233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画面クラッシュとの戦い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2157984"/>
            <a:ext cx="4187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Noto Sans JP"/>
                <a:ea typeface="Noto Sans JP"/>
              </a:rPr>
              <a:t>React の落とし穴や iPhone Safari のメモリ落ちで真っ赤なエラー画面。原因特定→修正のループで一つずつ潰した。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82112"/>
            <a:ext cx="528523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182112"/>
            <a:ext cx="128016" cy="1389888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24128" y="3456432"/>
            <a:ext cx="457200" cy="411480"/>
          </a:xfrm>
          <a:prstGeom prst="triangle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566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3364992"/>
            <a:ext cx="4233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入力のもたつき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749039"/>
            <a:ext cx="4187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Noto Sans JP"/>
                <a:ea typeface="Noto Sans JP"/>
              </a:rPr>
              <a:t>Qシートで1打鍵ごとに数百セルが再描画され“3テンポ遅れ”。描画の最適化で体感ゼロまで改善。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182112"/>
            <a:ext cx="528523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4496" y="3182112"/>
            <a:ext cx="128016" cy="1389888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6565392" y="3456432"/>
            <a:ext cx="457200" cy="411480"/>
          </a:xfrm>
          <a:prstGeom prst="triangl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566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3364992"/>
            <a:ext cx="4233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“前に作ったやつで”問題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3749039"/>
            <a:ext cx="4187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Noto Sans JP"/>
                <a:ea typeface="Noto Sans JP"/>
              </a:rPr>
              <a:t>言葉のニュアンスのズレ。過去バージョンの実装を特定し、当時の演出を完全に復元して解決。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4773168"/>
            <a:ext cx="528523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4773168"/>
            <a:ext cx="128016" cy="138988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1024128" y="5047488"/>
            <a:ext cx="457200" cy="411480"/>
          </a:xfrm>
          <a:prstGeom prst="triangl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51572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7632" y="4956048"/>
            <a:ext cx="4233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放送事故を絶対に出さない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340096"/>
            <a:ext cx="4187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Noto Sans JP"/>
                <a:ea typeface="Noto Sans JP"/>
              </a:rPr>
              <a:t>本番と検証DBを完全分離。「本番に入れて」と明示するまで反映しないルール＋3時間ごと自動バックアップ。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54496" y="4773168"/>
            <a:ext cx="528523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54496" y="4773168"/>
            <a:ext cx="128016" cy="1389888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6565392" y="5047488"/>
            <a:ext cx="457200" cy="411480"/>
          </a:xfrm>
          <a:prstGeom prst="triangl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51572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8896" y="4956048"/>
            <a:ext cx="4233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“現場で本当に使えるか”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7184" y="5340096"/>
            <a:ext cx="4187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Noto Sans JP"/>
                <a:ea typeface="Noto Sans JP"/>
              </a:rPr>
              <a:t>機能が動くだけでは不十分。現場の指摘を即反映する往復で、実運用に耐える形に磨き込んだ。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SAFE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安全な進め方 — 検証してから本番へ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2468880" cy="118872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2331720"/>
            <a:ext cx="914400" cy="914400"/>
          </a:xfrm>
          <a:prstGeom prst="ellipse">
            <a:avLst/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ular Callout 10"/>
          <p:cNvSpPr/>
          <p:nvPr/>
        </p:nvSpPr>
        <p:spPr>
          <a:xfrm>
            <a:off x="1728216" y="2509113"/>
            <a:ext cx="658368" cy="493776"/>
          </a:xfrm>
          <a:prstGeom prst="wedgeRoundRectCallou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92807" y="2723083"/>
            <a:ext cx="65836" cy="658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4481" y="2723083"/>
            <a:ext cx="65836" cy="658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56155" y="2723083"/>
            <a:ext cx="65836" cy="658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F2A37"/>
                </a:solidFill>
                <a:latin typeface="Noto Sans JP"/>
                <a:ea typeface="Noto Sans JP"/>
              </a:rPr>
              <a:t>対話で実装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794760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5B6672"/>
                </a:solidFill>
                <a:latin typeface="Noto Sans JP"/>
                <a:ea typeface="Noto Sans JP"/>
              </a:rPr>
              <a:t>AIがコードを生成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28416" y="2971800"/>
            <a:ext cx="310896" cy="365760"/>
          </a:xfrm>
          <a:prstGeom prst="rightArrow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75888" y="20116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75888" y="2011680"/>
            <a:ext cx="2468880" cy="118872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53128" y="2331720"/>
            <a:ext cx="914400" cy="914400"/>
          </a:xfrm>
          <a:prstGeom prst="ellipse">
            <a:avLst/>
          </a:prstGeom>
          <a:solidFill>
            <a:srgbClr val="D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4581144" y="2937052"/>
            <a:ext cx="658368" cy="181051"/>
          </a:xfrm>
          <a:prstGeom prst="parallelogram">
            <a:avLst>
              <a:gd name="adj" fmla="val 30000"/>
            </a:avLst>
          </a:prstGeom>
          <a:solidFill>
            <a:srgbClr val="169BA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4581144" y="2805379"/>
            <a:ext cx="658368" cy="181051"/>
          </a:xfrm>
          <a:prstGeom prst="parallelogram">
            <a:avLst>
              <a:gd name="adj" fmla="val 30000"/>
            </a:avLst>
          </a:prstGeom>
          <a:solidFill>
            <a:srgbClr val="4A9DE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4581144" y="2673705"/>
            <a:ext cx="658368" cy="181051"/>
          </a:xfrm>
          <a:prstGeom prst="parallelogram">
            <a:avLst>
              <a:gd name="adj" fmla="val 30000"/>
            </a:avLst>
          </a:prstGeom>
          <a:solidFill>
            <a:srgbClr val="E3EFF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33832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F2A37"/>
                </a:solidFill>
                <a:latin typeface="Noto Sans JP"/>
                <a:ea typeface="Noto Sans JP"/>
              </a:rPr>
              <a:t>検証環境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794760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5B6672"/>
                </a:solidFill>
                <a:latin typeface="Noto Sans JP"/>
                <a:ea typeface="Noto Sans JP"/>
              </a:rPr>
              <a:t>dev.gmo-onair.jp で自動デプロイ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181344" y="2971800"/>
            <a:ext cx="310896" cy="365760"/>
          </a:xfrm>
          <a:prstGeom prst="rightArrow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8816" y="20116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28816" y="2011680"/>
            <a:ext cx="2468880" cy="1188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6056" y="2331720"/>
            <a:ext cx="914400" cy="914400"/>
          </a:xfrm>
          <a:prstGeom prst="ellipse">
            <a:avLst/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entagon 29"/>
          <p:cNvSpPr/>
          <p:nvPr/>
        </p:nvSpPr>
        <p:spPr>
          <a:xfrm>
            <a:off x="7483449" y="2459736"/>
            <a:ext cx="559612" cy="658368"/>
          </a:xfrm>
          <a:prstGeom prst="homePlat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entagon 30"/>
          <p:cNvSpPr/>
          <p:nvPr/>
        </p:nvSpPr>
        <p:spPr>
          <a:xfrm>
            <a:off x="7483449" y="2459736"/>
            <a:ext cx="559612" cy="658368"/>
          </a:xfrm>
          <a:prstGeom prst="homePlat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48041" y="2657246"/>
            <a:ext cx="230428" cy="2304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3832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F2A37"/>
                </a:solidFill>
                <a:latin typeface="Noto Sans JP"/>
                <a:ea typeface="Noto Sans JP"/>
              </a:rPr>
              <a:t>動作確認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3794760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5B6672"/>
                </a:solidFill>
                <a:latin typeface="Noto Sans JP"/>
                <a:ea typeface="Noto Sans JP"/>
              </a:rPr>
              <a:t>現場でテスト・修正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034272" y="2971800"/>
            <a:ext cx="310896" cy="365760"/>
          </a:xfrm>
          <a:prstGeom prst="rightArrow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81744" y="20116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81744" y="2011680"/>
            <a:ext cx="2468880" cy="118872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58984" y="2331720"/>
            <a:ext cx="914400" cy="914400"/>
          </a:xfrm>
          <a:prstGeom prst="ellipse">
            <a:avLst/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ardrop 38"/>
          <p:cNvSpPr/>
          <p:nvPr/>
        </p:nvSpPr>
        <p:spPr>
          <a:xfrm rot="8100000">
            <a:off x="10451592" y="2459736"/>
            <a:ext cx="329184" cy="510235"/>
          </a:xfrm>
          <a:prstGeom prst="teardrop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42117" y="2640787"/>
            <a:ext cx="148132" cy="1481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Triangle 40"/>
          <p:cNvSpPr/>
          <p:nvPr/>
        </p:nvSpPr>
        <p:spPr>
          <a:xfrm>
            <a:off x="10369296" y="2838297"/>
            <a:ext cx="131673" cy="148132"/>
          </a:xfrm>
          <a:prstGeom prst="rt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Triangle 41"/>
          <p:cNvSpPr/>
          <p:nvPr/>
        </p:nvSpPr>
        <p:spPr>
          <a:xfrm rot="5400000">
            <a:off x="10731398" y="2838297"/>
            <a:ext cx="131673" cy="148132"/>
          </a:xfrm>
          <a:prstGeom prst="rt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ardrop 42"/>
          <p:cNvSpPr/>
          <p:nvPr/>
        </p:nvSpPr>
        <p:spPr>
          <a:xfrm rot="10800000">
            <a:off x="10558576" y="2969971"/>
            <a:ext cx="115214" cy="181051"/>
          </a:xfrm>
          <a:prstGeom prst="teardrop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81744" y="33832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F2A37"/>
                </a:solidFill>
                <a:latin typeface="Noto Sans JP"/>
                <a:ea typeface="Noto Sans JP"/>
              </a:rPr>
              <a:t>本番公開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46336" y="3794760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5B6672"/>
                </a:solidFill>
                <a:latin typeface="Noto Sans JP"/>
                <a:ea typeface="Noto Sans JP"/>
              </a:rPr>
              <a:t>承認後に gmo-onair.jp 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800600"/>
            <a:ext cx="10561320" cy="1143000"/>
          </a:xfrm>
          <a:prstGeom prst="roundRect">
            <a:avLst>
              <a:gd name="adj" fmla="val 8000"/>
            </a:avLst>
          </a:prstGeom>
          <a:solidFill>
            <a:srgbClr val="D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4956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A06B"/>
                </a:solidFill>
                <a:latin typeface="Noto Sans JP"/>
                <a:ea typeface="Noto Sans JP"/>
              </a:rPr>
              <a:t>ルールで守る本番環境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321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● 本番と検証のデータベースは完全分離   ● 「本番に入れて」の明示指示があるまで本番反映しない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Noto Sans JP"/>
                <a:ea typeface="Noto Sans JP"/>
              </a:rPr>
              <a:t>● 3時間ごとに自動バックアップ   ● いつでも以前のバージョンに戻せる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DEVELOPMENT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改善の密度 — 止まらないアップデート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v0.2 → v2.9.26 まで </a:t>
            </a:r>
            <a:r>
              <a:rPr sz="1400" b="1">
                <a:solidFill>
                  <a:srgbClr val="005BAC"/>
                </a:solidFill>
                <a:latin typeface="Noto Sans JP"/>
                <a:ea typeface="Noto Sans JP"/>
              </a:rPr>
              <a:t>337 回のバージョンアップ</a:t>
            </a: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。直近の1か月だけで </a:t>
            </a:r>
            <a:r>
              <a:rPr sz="1400" b="1">
                <a:solidFill>
                  <a:srgbClr val="F59E0B"/>
                </a:solidFill>
                <a:latin typeface="Noto Sans JP"/>
                <a:ea typeface="Noto Sans JP"/>
              </a:rPr>
              <a:t>150 回以上（1日あたり約4〜5回）</a:t>
            </a: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 を改善デプロイ。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4206240"/>
            <a:ext cx="10241280" cy="0"/>
          </a:xfrm>
          <a:prstGeom prst="line">
            <a:avLst/>
          </a:prstGeom>
          <a:ln w="381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16736" y="4059935"/>
            <a:ext cx="292608" cy="292608"/>
          </a:xfrm>
          <a:prstGeom prst="ellipse">
            <a:avLst/>
          </a:prstGeom>
          <a:solidFill>
            <a:srgbClr val="005BAC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463040" y="3200399"/>
            <a:ext cx="0" cy="859536"/>
          </a:xfrm>
          <a:prstGeom prst="line">
            <a:avLst/>
          </a:prstGeom>
          <a:ln w="20320">
            <a:solidFill>
              <a:srgbClr val="005B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2514599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5BAC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Arial"/>
                <a:ea typeface="Arial"/>
              </a:rPr>
              <a:t>v2.0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2"/>
                </a:solidFill>
                <a:latin typeface="Noto Sans JP"/>
                <a:ea typeface="Noto Sans JP"/>
              </a:rPr>
              <a:t>デザイン刷新</a:t>
            </a:r>
          </a:p>
        </p:txBody>
      </p:sp>
      <p:sp>
        <p:nvSpPr>
          <p:cNvPr id="15" name="Oval 14"/>
          <p:cNvSpPr/>
          <p:nvPr/>
        </p:nvSpPr>
        <p:spPr>
          <a:xfrm>
            <a:off x="3694176" y="4059935"/>
            <a:ext cx="292608" cy="292608"/>
          </a:xfrm>
          <a:prstGeom prst="ellipse">
            <a:avLst/>
          </a:prstGeom>
          <a:solidFill>
            <a:srgbClr val="169BA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840480" y="4352544"/>
            <a:ext cx="0" cy="448055"/>
          </a:xfrm>
          <a:prstGeom prst="line">
            <a:avLst/>
          </a:prstGeom>
          <a:ln w="20320">
            <a:solidFill>
              <a:srgbClr val="169B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4800599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69BA0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8463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9BA0"/>
                </a:solidFill>
                <a:latin typeface="Arial"/>
                <a:ea typeface="Arial"/>
              </a:rPr>
              <a:t>v2.5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18464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2"/>
                </a:solidFill>
                <a:latin typeface="Noto Sans JP"/>
                <a:ea typeface="Noto Sans JP"/>
              </a:rPr>
              <a:t>ブランチ運用整備</a:t>
            </a:r>
          </a:p>
        </p:txBody>
      </p:sp>
      <p:sp>
        <p:nvSpPr>
          <p:cNvPr id="20" name="Oval 19"/>
          <p:cNvSpPr/>
          <p:nvPr/>
        </p:nvSpPr>
        <p:spPr>
          <a:xfrm>
            <a:off x="6071616" y="4059935"/>
            <a:ext cx="292608" cy="292608"/>
          </a:xfrm>
          <a:prstGeom prst="ellipse">
            <a:avLst/>
          </a:prstGeom>
          <a:solidFill>
            <a:srgbClr val="F59E0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217920" y="3200399"/>
            <a:ext cx="0" cy="859536"/>
          </a:xfrm>
          <a:prstGeom prst="line">
            <a:avLst/>
          </a:prstGeom>
          <a:ln w="2032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57800" y="2514599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560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v2.8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89864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2"/>
                </a:solidFill>
                <a:latin typeface="Noto Sans JP"/>
                <a:ea typeface="Noto Sans JP"/>
              </a:rPr>
              <a:t>リアルタイムCG
演出強化</a:t>
            </a:r>
          </a:p>
        </p:txBody>
      </p:sp>
      <p:sp>
        <p:nvSpPr>
          <p:cNvPr id="25" name="Oval 24"/>
          <p:cNvSpPr/>
          <p:nvPr/>
        </p:nvSpPr>
        <p:spPr>
          <a:xfrm>
            <a:off x="8449056" y="4059935"/>
            <a:ext cx="292608" cy="292608"/>
          </a:xfrm>
          <a:prstGeom prst="ellipse">
            <a:avLst/>
          </a:prstGeom>
          <a:solidFill>
            <a:srgbClr val="2EA06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595360" y="4352544"/>
            <a:ext cx="0" cy="448055"/>
          </a:xfrm>
          <a:prstGeom prst="line">
            <a:avLst/>
          </a:prstGeom>
          <a:ln w="20320">
            <a:solidFill>
              <a:srgbClr val="2EA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635240" y="4800599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EA06B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8463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A06B"/>
                </a:solidFill>
                <a:latin typeface="Arial"/>
                <a:ea typeface="Arial"/>
              </a:rPr>
              <a:t>v2.9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18464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2"/>
                </a:solidFill>
                <a:latin typeface="Noto Sans JP"/>
                <a:ea typeface="Noto Sans JP"/>
              </a:rPr>
              <a:t>CG⇄インタラクティブ
連携</a:t>
            </a:r>
          </a:p>
        </p:txBody>
      </p:sp>
      <p:sp>
        <p:nvSpPr>
          <p:cNvPr id="30" name="Oval 29"/>
          <p:cNvSpPr/>
          <p:nvPr/>
        </p:nvSpPr>
        <p:spPr>
          <a:xfrm>
            <a:off x="10826496" y="4059935"/>
            <a:ext cx="292608" cy="292608"/>
          </a:xfrm>
          <a:prstGeom prst="ellipse">
            <a:avLst/>
          </a:prstGeom>
          <a:solidFill>
            <a:srgbClr val="D94B4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0972800" y="3200399"/>
            <a:ext cx="0" cy="859536"/>
          </a:xfrm>
          <a:prstGeom prst="line">
            <a:avLst/>
          </a:prstGeom>
          <a:ln w="20320">
            <a:solidFill>
              <a:srgbClr val="D9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12680" y="2514599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D94B4B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2560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94B4B"/>
                </a:solidFill>
                <a:latin typeface="Arial"/>
                <a:ea typeface="Arial"/>
              </a:rPr>
              <a:t>v2.9.26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89864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2"/>
                </a:solidFill>
                <a:latin typeface="Noto Sans JP"/>
                <a:ea typeface="Noto Sans JP"/>
              </a:rPr>
              <a:t>出題システム
共通化（最新）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A939E"/>
                </a:solidFill>
                <a:latin typeface="Noto Sans JP"/>
                <a:ea typeface="Noto Sans JP"/>
              </a:rPr>
              <a:t>※ バージョンは v1 → v2.9.26 まで小刻みに前進。大きな作り直しではなく、現場の声で日々アップデート。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数字で見る成果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2606040" cy="128016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005BAC"/>
                </a:solidFill>
                <a:latin typeface="Arial"/>
                <a:ea typeface="Arial"/>
              </a:rPr>
              <a:t>6</a:t>
            </a: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  ブロックアプリ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4440" y="3310128"/>
            <a:ext cx="169164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6672"/>
                </a:solidFill>
                <a:latin typeface="Noto Sans JP"/>
                <a:ea typeface="Noto Sans JP"/>
              </a:rPr>
              <a:t>1プラットフォームに統合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828800"/>
            <a:ext cx="2606040" cy="128016"/>
          </a:xfrm>
          <a:prstGeom prst="rect">
            <a:avLst/>
          </a:prstGeom>
          <a:solidFill>
            <a:srgbClr val="169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21284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169BA0"/>
                </a:solidFill>
                <a:latin typeface="Arial"/>
                <a:ea typeface="Arial"/>
              </a:rPr>
              <a:t>1</a:t>
            </a: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  つの背番号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3310128"/>
            <a:ext cx="169164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94760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6672"/>
                </a:solidFill>
                <a:latin typeface="Noto Sans JP"/>
                <a:ea typeface="Noto Sans JP"/>
              </a:rPr>
              <a:t>GLS番号で全データ連携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828800"/>
            <a:ext cx="260604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1284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F59E0B"/>
                </a:solidFill>
                <a:latin typeface="Arial"/>
                <a:ea typeface="Arial"/>
              </a:rPr>
              <a:t>0</a:t>
            </a: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  外注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03720" y="3310128"/>
            <a:ext cx="169164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29400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6672"/>
                </a:solidFill>
                <a:latin typeface="Noto Sans JP"/>
                <a:ea typeface="Noto Sans JP"/>
              </a:rPr>
              <a:t>社内＋AI対話で内製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828800"/>
            <a:ext cx="2606040" cy="128016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212848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2EA06B"/>
                </a:solidFill>
                <a:latin typeface="Arial"/>
                <a:ea typeface="Arial"/>
              </a:rPr>
              <a:t>3h</a:t>
            </a: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  ごと自動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38360" y="3310128"/>
            <a:ext cx="1691640" cy="0"/>
          </a:xfrm>
          <a:prstGeom prst="line">
            <a:avLst/>
          </a:prstGeom>
          <a:ln w="1270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64040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6672"/>
                </a:solidFill>
                <a:latin typeface="Noto Sans JP"/>
                <a:ea typeface="Noto Sans JP"/>
              </a:rPr>
              <a:t>DBバックアップで安心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2628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091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Noto Sans JP"/>
                <a:ea typeface="Noto Sans JP"/>
              </a:rPr>
              <a:t>見積から本番・請求まで、</a:t>
            </a:r>
            <a:r>
              <a:rPr sz="1700" b="1">
                <a:solidFill>
                  <a:srgbClr val="005BAC"/>
                </a:solidFill>
                <a:latin typeface="Noto Sans JP"/>
                <a:ea typeface="Noto Sans JP"/>
              </a:rPr>
              <a:t>バラバラだった制作業務を“1つのOS”に。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Noto Sans JP"/>
                <a:ea typeface="Noto Sans JP"/>
              </a:rPr>
              <a:t>しかも、その進化は社長や現場との対話そのものから生まれ続けています。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46304" cy="566928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Noto Sans JP"/>
                <a:ea typeface="Noto Sans JP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A37"/>
                </a:solidFill>
                <a:latin typeface="Noto Sans JP"/>
                <a:ea typeface="Noto Sans JP"/>
              </a:rPr>
              <a:t>これから — さらに“つながる”へ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371600"/>
            <a:ext cx="11057839" cy="0"/>
          </a:xfrm>
          <a:prstGeom prst="line">
            <a:avLst/>
          </a:prstGeom>
          <a:ln w="15240">
            <a:solidFill>
              <a:srgbClr val="D7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94415" y="475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939E"/>
                </a:solidFill>
                <a:latin typeface="Arial"/>
                <a:ea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070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691640" cy="1024128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47672"/>
            <a:ext cx="65836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6アプリ統合・DADSデザイン・自動デプロイ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947672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A06B"/>
                </a:solidFill>
                <a:latin typeface="Noto Sans JP"/>
                <a:ea typeface="Noto Sans JP"/>
              </a:rPr>
              <a:t>✓ 完了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35224"/>
            <a:ext cx="106070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35224"/>
            <a:ext cx="1691640" cy="1024128"/>
          </a:xfrm>
          <a:prstGeom prst="roundRect">
            <a:avLst>
              <a:gd name="adj" fmla="val 8000"/>
            </a:avLst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99816"/>
            <a:ext cx="65836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リアルタイムCG ⇄ インタラクティブ連携の高度化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099816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5BAC"/>
                </a:solidFill>
                <a:latin typeface="Noto Sans JP"/>
                <a:ea typeface="Noto Sans JP"/>
              </a:rPr>
              <a:t>● 進行中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87368"/>
            <a:ext cx="106070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87368"/>
            <a:ext cx="1691640" cy="102412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51960"/>
            <a:ext cx="65836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BOX連携（フォルダ自動生成・PDF自動保存・電子署名）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251960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59E0B"/>
                </a:solidFill>
                <a:latin typeface="Noto Sans JP"/>
                <a:ea typeface="Noto Sans JP"/>
              </a:rPr>
              <a:t>→ 次の一手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39512"/>
            <a:ext cx="106070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239512"/>
            <a:ext cx="1691640" cy="1024128"/>
          </a:xfrm>
          <a:prstGeom prst="roundRect">
            <a:avLst>
              <a:gd name="adj" fmla="val 8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404104"/>
            <a:ext cx="65836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Noto Sans JP"/>
                <a:ea typeface="Noto Sans JP"/>
              </a:rPr>
              <a:t>認証統一・制作支援アプリ・マルチテナント化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5404104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5CD6"/>
                </a:solidFill>
                <a:latin typeface="Noto Sans JP"/>
                <a:ea typeface="Noto Sans JP"/>
              </a:rPr>
              <a:t>… 構想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Noto Sans JP"/>
                <a:ea typeface="Noto Sans JP"/>
              </a:rPr>
              <a:t>GMO ONAiR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A939E"/>
                </a:solidFill>
                <a:latin typeface="Arial"/>
                <a:ea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3474720"/>
            <a:ext cx="5029200" cy="5029200"/>
          </a:xfrm>
          <a:prstGeom prst="ellipse">
            <a:avLst/>
          </a:prstGeom>
          <a:solidFill>
            <a:srgbClr val="4A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</a:rPr>
              <a:t>制作の“あたりまえ”を、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DECC8"/>
                </a:solidFill>
                <a:latin typeface="Noto Sans JP"/>
                <a:ea typeface="Noto Sans JP"/>
              </a:rPr>
              <a:t>私たちの手でアップデートする。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611880"/>
            <a:ext cx="5074920" cy="0"/>
          </a:xfrm>
          <a:prstGeom prst="line">
            <a:avLst/>
          </a:prstGeom>
          <a:ln w="25400">
            <a:solidFill>
              <a:srgbClr val="4A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37947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</a:rPr>
              <a:t>GMO ONAiR は、現場との対話から生まれ、対話で育ち続ける“会社OS”です。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3EFFA"/>
                </a:solidFill>
                <a:latin typeface="Noto Sans JP"/>
                <a:ea typeface="Noto Sans JP"/>
              </a:rPr>
              <a:t>外注に頼らず、私たちのペースで、必要な機能を必要なだけ。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2120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F2A37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05BAC"/>
                </a:solidFill>
                <a:latin typeface="Noto Sans JP"/>
                <a:ea typeface="Noto Sans JP"/>
              </a:rPr>
              <a:t>ご清聴ありがとうございました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3EFFA"/>
                </a:solidFill>
                <a:latin typeface="Noto Sans JP"/>
                <a:ea typeface="Noto Sans JP"/>
              </a:rPr>
              <a:t>GMO GLOBAL STUDIO  |  GMO ONAiR  v2.9.26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